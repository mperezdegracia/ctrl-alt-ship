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e1c25e422f46e2" /><Relationship Type="http://schemas.openxmlformats.org/officeDocument/2006/relationships/extended-properties" Target="/docProps/app.xml" Id="Rc2de40f2e0894578" /><Relationship Type="http://schemas.openxmlformats.org/officeDocument/2006/relationships/officeDocument" Target="/ppt/presentation.xml" Id="Raceb62f60220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f0d8127aad41e0"/>
  </p:sldMasterIdLst>
  <p:notesMasterIdLst>
    <p:notesMasterId xmlns:r="http://schemas.openxmlformats.org/officeDocument/2006/relationships" r:id="Rf481345a72764ce6"/>
  </p:notesMasterIdLst>
  <p:sldIdLst>
    <p:sldId xmlns:r="http://schemas.openxmlformats.org/officeDocument/2006/relationships" id="256" r:id="Re1169c14eaaf49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53477457c4691" /><Relationship Type="http://schemas.openxmlformats.org/officeDocument/2006/relationships/slideMaster" Target="/ppt/slideMasters/slideMaster1.xml" Id="R34f0d8127aad41e0" /><Relationship Type="http://schemas.openxmlformats.org/officeDocument/2006/relationships/notesMaster" Target="/ppt/notesMasters/notesMaster1.xml" Id="Rf481345a72764ce6" /><Relationship Type="http://schemas.openxmlformats.org/officeDocument/2006/relationships/presProps" Target="/ppt/presProps.xml" Id="Rdca71e4fee5646bd" /><Relationship Type="http://schemas.openxmlformats.org/officeDocument/2006/relationships/tableStyles" Target="/ppt/tableStyles.xml" Id="R60999816ea424ba4" /><Relationship Type="http://schemas.openxmlformats.org/officeDocument/2006/relationships/slide" Target="/ppt/slides/slide1.xml" Id="Re1169c14eaaf49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e904ae1c946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c21060e156456f" /><Relationship Type="http://schemas.openxmlformats.org/officeDocument/2006/relationships/notesMaster" Target="/ppt/notesMasters/notesMaster1.xml" Id="R52d87ebe77eb44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2:45–3:55</a:t>
            </a:r>
          </a:p>
          <a:p xmlns:a="http://schemas.openxmlformats.org/drawingml/2006/main">
            <a:r>
              <a:t>Say only two things: ‘Voice is real-time and disposable; the operation is durable.’ Then point to the server-side domain: ‘OpenAI Realtime handles the live conversation, but tools go through a server boundary before Supabase records a state transition.’ Finally point to the red path: escalation context is persisted before the live SIP transfer.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NAUTA Challenge 4 brief; internal project documentation and implementation.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bba39690140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d7d82bd801411b" /><Relationship Type="http://schemas.openxmlformats.org/officeDocument/2006/relationships/slideLayout" Target="/ppt/slideLayouts/slideLayout1.xml" Id="Re773c63c618c4b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73c63c618c4b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97f0607c248e5" /><Relationship Type="http://schemas.openxmlformats.org/officeDocument/2006/relationships/notesSlide" Target="/ppt/notesSlides/notesSlide1.xml" Id="R2b80c5c6a9ae44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">
            <a:extLst xmlns:a="http://schemas.openxmlformats.org/drawingml/2006/main">
              <a:ext uri="{FF2B5EF4-FFF2-40B4-BE49-F238E27FC236}">
                <a16:creationId xmlns:a16="http://schemas.microsoft.com/office/drawing/2014/main" id="{D240CB95-EC21-4B28-9676-FA748FD3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E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6E31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F91B84-095F-465A-8D00-FD78268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B3E0A56-05D6-44E7-9651-95D6B715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14375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9BF"/>
            </a:solidFill>
            <a:prstDash val="solid"/>
          </a:ln>
        </p:spPr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15126AE5-B9E3-4FC0-A392-2324486A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3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The voice path is real-time. The operation is durable.</a:t>
            </a:r>
          </a:p>
        </p:txBody>
      </p:sp>
      <p:sp>
        <p:nvSpPr>
          <p:cNvPr id="5" name="group-people">
            <a:extLst xmlns:a="http://schemas.openxmlformats.org/drawingml/2006/main">
              <a:ext uri="{FF2B5EF4-FFF2-40B4-BE49-F238E27FC236}">
                <a16:creationId xmlns:a16="http://schemas.microsoft.com/office/drawing/2014/main" id="{F75A5B12-54E5-4BFA-8929-8D499DA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6" name="group-voice">
            <a:extLst xmlns:a="http://schemas.openxmlformats.org/drawingml/2006/main">
              <a:ext uri="{FF2B5EF4-FFF2-40B4-BE49-F238E27FC236}">
                <a16:creationId xmlns:a16="http://schemas.microsoft.com/office/drawing/2014/main" id="{CA265B70-AC53-4EFE-8D20-51376E7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38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rPr>
              <a:t>VOICE</a:t>
            </a:r>
          </a:p>
        </p:txBody>
      </p:sp>
      <p:sp>
        <p:nvSpPr>
          <p:cNvPr id="7" name="group-runtime">
            <a:extLst xmlns:a="http://schemas.openxmlformats.org/drawingml/2006/main">
              <a:ext uri="{FF2B5EF4-FFF2-40B4-BE49-F238E27FC236}">
                <a16:creationId xmlns:a16="http://schemas.microsoft.com/office/drawing/2014/main" id="{3508EEA5-9A85-4E42-B79C-473D9207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383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rPr>
              <a:t>TANGO RUNTIME · RENDER</a:t>
            </a:r>
          </a:p>
        </p:txBody>
      </p:sp>
      <p:sp>
        <p:nvSpPr>
          <p:cNvPr id="8" name="group-data">
            <a:extLst xmlns:a="http://schemas.openxmlformats.org/drawingml/2006/main">
              <a:ext uri="{FF2B5EF4-FFF2-40B4-BE49-F238E27FC236}">
                <a16:creationId xmlns:a16="http://schemas.microsoft.com/office/drawing/2014/main" id="{FC50489A-8B40-41C3-BD33-3C2F546B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rPr>
              <a:t>DURABLE OPERATION · SUPABASE</a:t>
            </a:r>
          </a:p>
        </p:txBody>
      </p:sp>
      <p:sp>
        <p:nvSpPr>
          <p:cNvPr id="9" name="client">
            <a:extLst xmlns:a="http://schemas.openxmlformats.org/drawingml/2006/main">
              <a:ext uri="{FF2B5EF4-FFF2-40B4-BE49-F238E27FC236}">
                <a16:creationId xmlns:a16="http://schemas.microsoft.com/office/drawing/2014/main" id="{72F41645-C797-4B50-9EA1-EDAD8084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11906">
            <a:solidFill>
              <a:srgbClr val="B76E3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Client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sets mandate</a:t>
            </a:r>
          </a:p>
        </p:txBody>
      </p:sp>
      <p:sp>
        <p:nvSpPr>
          <p:cNvPr id="10" name="carrier">
            <a:extLst xmlns:a="http://schemas.openxmlformats.org/drawingml/2006/main">
              <a:ext uri="{FF2B5EF4-FFF2-40B4-BE49-F238E27FC236}">
                <a16:creationId xmlns:a16="http://schemas.microsoft.com/office/drawing/2014/main" id="{EA9FE1DF-C246-44BB-BFCD-6386B474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5675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11906">
            <a:solidFill>
              <a:srgbClr val="B76E3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Carrier / driver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quotes or reports change</a:t>
            </a:r>
          </a:p>
        </p:txBody>
      </p:sp>
      <p:sp>
        <p:nvSpPr>
          <p:cNvPr id="11" name="supervisor">
            <a:extLst xmlns:a="http://schemas.openxmlformats.org/drawingml/2006/main">
              <a:ext uri="{FF2B5EF4-FFF2-40B4-BE49-F238E27FC236}">
                <a16:creationId xmlns:a16="http://schemas.microsoft.com/office/drawing/2014/main" id="{8CCA3CE7-E087-49E1-8799-C8D4B787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50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A"/>
          </a:solidFill>
          <a:ln xmlns:a="http://schemas.openxmlformats.org/drawingml/2006/main" w="11906">
            <a:solidFill>
              <a:srgbClr val="A63E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Supervisor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live takeover</a:t>
            </a:r>
          </a:p>
        </p:txBody>
      </p:sp>
      <p:sp>
        <p:nvSpPr>
          <p:cNvPr id="12" name="twilio">
            <a:extLst xmlns:a="http://schemas.openxmlformats.org/drawingml/2006/main">
              <a:ext uri="{FF2B5EF4-FFF2-40B4-BE49-F238E27FC236}">
                <a16:creationId xmlns:a16="http://schemas.microsoft.com/office/drawing/2014/main" id="{12800E35-71BD-4BBA-98D8-98EC5AE7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76525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Twilio Voice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inbound + outbound</a:t>
            </a:r>
          </a:p>
        </p:txBody>
      </p:sp>
      <p:sp>
        <p:nvSpPr>
          <p:cNvPr id="13" name="realtime">
            <a:extLst xmlns:a="http://schemas.openxmlformats.org/drawingml/2006/main">
              <a:ext uri="{FF2B5EF4-FFF2-40B4-BE49-F238E27FC236}">
                <a16:creationId xmlns:a16="http://schemas.microsoft.com/office/drawing/2014/main" id="{CF57C69B-91A8-4CB8-B393-17BE1562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81450"/>
            <a:ext cx="1752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OpenAI Realtime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SIP audio + speech</a:t>
            </a:r>
          </a:p>
        </p:txBody>
      </p:sp>
      <p:sp>
        <p:nvSpPr>
          <p:cNvPr id="14" name="voice-api">
            <a:extLst xmlns:a="http://schemas.openxmlformats.org/drawingml/2006/main">
              <a:ext uri="{FF2B5EF4-FFF2-40B4-BE49-F238E27FC236}">
                <a16:creationId xmlns:a16="http://schemas.microsoft.com/office/drawing/2014/main" id="{B0B34597-2FC4-46DF-9BC7-DE540BEB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1935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Voice/API runtime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signed webhooks + sideband</a:t>
            </a:r>
          </a:p>
        </p:txBody>
      </p:sp>
      <p:sp>
        <p:nvSpPr>
          <p:cNvPr id="15" name="domain">
            <a:extLst xmlns:a="http://schemas.openxmlformats.org/drawingml/2006/main">
              <a:ext uri="{FF2B5EF4-FFF2-40B4-BE49-F238E27FC236}">
                <a16:creationId xmlns:a16="http://schemas.microsoft.com/office/drawing/2014/main" id="{66DC3069-2494-4E7F-90A4-8B52DEC0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14725"/>
            <a:ext cx="2266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C9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Server-side domain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mandate · auth · state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idempotent tools</a:t>
            </a:r>
          </a:p>
        </p:txBody>
      </p:sp>
      <p:sp>
        <p:nvSpPr>
          <p:cNvPr id="16" name="worker">
            <a:extLst xmlns:a="http://schemas.openxmlformats.org/drawingml/2006/main">
              <a:ext uri="{FF2B5EF4-FFF2-40B4-BE49-F238E27FC236}">
                <a16:creationId xmlns:a16="http://schemas.microsoft.com/office/drawing/2014/main" id="{0F02D018-6FF1-4D38-8106-B40A28C6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38700"/>
            <a:ext cx="2266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C9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Outbound worker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parallel carrier calls</a:t>
            </a:r>
          </a:p>
        </p:txBody>
      </p:sp>
      <p:sp>
        <p:nvSpPr>
          <p:cNvPr id="17" name="ledger">
            <a:extLst xmlns:a="http://schemas.openxmlformats.org/drawingml/2006/main">
              <a:ext uri="{FF2B5EF4-FFF2-40B4-BE49-F238E27FC236}">
                <a16:creationId xmlns:a16="http://schemas.microsoft.com/office/drawing/2014/main" id="{713A1A17-4AB7-4CD9-B26A-AD951627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C9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Operation ledger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mandate versions · quotes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bookings · evidence · events</a:t>
            </a:r>
          </a:p>
        </p:txBody>
      </p:sp>
      <p:sp>
        <p:nvSpPr>
          <p:cNvPr id="18" name="outbox">
            <a:extLst xmlns:a="http://schemas.openxmlformats.org/drawingml/2006/main">
              <a:ext uri="{FF2B5EF4-FFF2-40B4-BE49-F238E27FC236}">
                <a16:creationId xmlns:a16="http://schemas.microsoft.com/office/drawing/2014/main" id="{96E48717-3D1D-435A-968C-36F789E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C9B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Outbox + command receipts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retry-safe dispatch</a:t>
            </a:r>
          </a:p>
        </p:txBody>
      </p:sp>
      <p:sp>
        <p:nvSpPr>
          <p:cNvPr id="19" name="escalation">
            <a:extLst xmlns:a="http://schemas.openxmlformats.org/drawingml/2006/main">
              <a:ext uri="{FF2B5EF4-FFF2-40B4-BE49-F238E27FC236}">
                <a16:creationId xmlns:a16="http://schemas.microsoft.com/office/drawing/2014/main" id="{0B4068FF-EF6F-4A63-B700-B4FC206B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387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A"/>
          </a:solidFill>
          <a:ln xmlns:a="http://schemas.openxmlformats.org/drawingml/2006/main" w="11906">
            <a:solidFill>
              <a:srgbClr val="A63E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Escalations + editable recipients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context persists before transfer</a:t>
            </a:r>
          </a:p>
        </p:txBody>
      </p:sp>
      <p:sp>
        <p:nvSpPr>
          <p:cNvPr id="20" name="dashboard">
            <a:extLst xmlns:a="http://schemas.openxmlformats.org/drawingml/2006/main">
              <a:ext uri="{FF2B5EF4-FFF2-40B4-BE49-F238E27FC236}">
                <a16:creationId xmlns:a16="http://schemas.microsoft.com/office/drawing/2014/main" id="{C5193A29-65D1-4613-81DD-2965F53E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724525"/>
            <a:ext cx="1590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8C9BF"/>
            </a:solidFill>
            <a:prstDash val="solid"/>
          </a:ln>
        </p:spPr>
        <p:txBody>
          <a:bodyPr xmlns:a="http://schemas.openxmlformats.org/drawingml/2006/main" anchor="ctr">
            <a:normAutofit fontScale="8784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Supervisor dashboard</a:t>
            </a:r>
          </a:p>
          <a:p xmlns:a="http://schemas.openxmlformats.org/drawingml/2006/main">
            <a:pPr algn="ctr">
              <a:def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5222A"/>
                </a:solidFill>
                <a:latin typeface="Helvetica Neue"/>
                <a:ea typeface="Helvetica Neue"/>
                <a:cs typeface="Helvetica Neue"/>
              </a:rPr>
              <a:t>audit trail</a:t>
            </a:r>
          </a:p>
        </p:txBody>
      </p:sp>
      <p:cxnSp>
        <p:nvCxnSpPr>
          <p:cNvPr id="6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00250" y="2724150"/>
            <a:ext cx="5143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86A76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000250" y="3057525"/>
            <a:ext cx="514350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86A76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390900" y="343852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4267200" y="2762250"/>
            <a:ext cx="923925" cy="1600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324600" y="31051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458075" y="2886075"/>
            <a:ext cx="847725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86A76"/>
            </a:solidFill>
            <a:prstDash val="soli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58075" y="3933825"/>
            <a:ext cx="847725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86A76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8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458075" y="4095750"/>
            <a:ext cx="847725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86A76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6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3390900" y="3438525"/>
            <a:ext cx="1800225" cy="173355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458075" y="3933825"/>
            <a:ext cx="847725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63E3A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9" idx="1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3390900" y="4724400"/>
            <a:ext cx="4914900" cy="4476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A63E3A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000250" y="4362450"/>
            <a:ext cx="514350" cy="1114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A63E3A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20" idx="0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 flipV="1">
            <a:off x="7458075" y="2762250"/>
            <a:ext cx="3443288" cy="29622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486A76"/>
            </a:solidFill>
            <a:prstDash val="dash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591675" y="5505450"/>
            <a:ext cx="1309688" cy="219075"/>
          </a:xfrm>
          <a:prstGeom xmlns:a="http://schemas.openxmlformats.org/drawingml/2006/main" prst="bentConnector4">
            <a:avLst>
              <a:gd name="adj1" fmla="val 0"/>
              <a:gd name="adj2" fmla="val 47826"/>
            </a:avLst>
          </a:prstGeom>
          <a:ln xmlns:a="http://schemas.openxmlformats.org/drawingml/2006/main" w="14288">
            <a:solidFill>
              <a:srgbClr val="A63E3A"/>
            </a:solidFill>
            <a:prstDash val="dash"/>
            <a:tailEnd type="arrow" w="sm" len="sm"/>
          </a:ln>
        </p:spPr>
      </p:cxnSp>
      <p:sp>
        <p:nvSpPr>
          <p:cNvPr id="35" name="label-sip">
            <a:extLst xmlns:a="http://schemas.openxmlformats.org/drawingml/2006/main">
              <a:ext uri="{FF2B5EF4-FFF2-40B4-BE49-F238E27FC236}">
                <a16:creationId xmlns:a16="http://schemas.microsoft.com/office/drawing/2014/main" id="{4D8B42C1-1A1D-4C29-BB73-A58371DC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480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SIP AUDIO</a:t>
            </a:r>
          </a:p>
        </p:txBody>
      </p:sp>
      <p:sp>
        <p:nvSpPr>
          <p:cNvPr id="36" name="label-tools">
            <a:extLst xmlns:a="http://schemas.openxmlformats.org/drawingml/2006/main">
              <a:ext uri="{FF2B5EF4-FFF2-40B4-BE49-F238E27FC236}">
                <a16:creationId xmlns:a16="http://schemas.microsoft.com/office/drawing/2014/main" id="{06F41594-CBB6-48A3-8E0B-D9E5E4F7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37" name="label-transaction">
            <a:extLst xmlns:a="http://schemas.openxmlformats.org/drawingml/2006/main">
              <a:ext uri="{FF2B5EF4-FFF2-40B4-BE49-F238E27FC236}">
                <a16:creationId xmlns:a16="http://schemas.microsoft.com/office/drawing/2014/main" id="{B66D606A-B134-43FC-81BB-64DA0674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486A76"/>
                </a:solidFill>
                <a:latin typeface="Helvetica Neue"/>
                <a:ea typeface="Helvetica Neue"/>
                <a:cs typeface="Helvetica Neue"/>
              </a:rPr>
              <a:t>TRANSACTION</a:t>
            </a:r>
          </a:p>
        </p:txBody>
      </p:sp>
      <p:sp>
        <p:nvSpPr>
          <p:cNvPr id="38" name="label-refer">
            <a:extLst xmlns:a="http://schemas.openxmlformats.org/drawingml/2006/main">
              <a:ext uri="{FF2B5EF4-FFF2-40B4-BE49-F238E27FC236}">
                <a16:creationId xmlns:a16="http://schemas.microsoft.com/office/drawing/2014/main" id="{113FCB07-6CFF-41F7-B153-AC5231B6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101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63E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63E3A"/>
                </a:solidFill>
                <a:latin typeface="Helvetica Neue"/>
                <a:ea typeface="Helvetica Neue"/>
                <a:cs typeface="Helvetica Neue"/>
              </a:rPr>
              <a:t>SIP REFER</a:t>
            </a:r>
          </a:p>
        </p:txBody>
      </p:sp>
      <p:sp>
        <p:nvSpPr>
          <p:cNvPr id="39" name="architecture-rule">
            <a:extLst xmlns:a="http://schemas.openxmlformats.org/drawingml/2006/main">
              <a:ext uri="{FF2B5EF4-FFF2-40B4-BE49-F238E27FC236}">
                <a16:creationId xmlns:a16="http://schemas.microsoft.com/office/drawing/2014/main" id="{5C4E5452-1045-451B-A7C1-E0547F78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1120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6E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6E31"/>
                </a:solidFill>
                <a:latin typeface="Helvetica Neue"/>
                <a:ea typeface="Helvetica Neue"/>
                <a:cs typeface="Helvetica Neue"/>
              </a:rPr>
              <a:t>AUTHORITY RULE  The model never writes the database. Every commitment is validated by the server.</a:t>
            </a:r>
          </a:p>
        </p:txBody>
      </p:sp>
    </p:spTree>
    <p:extLst>
      <p:ext uri="{BB962C8B-B14F-4D97-AF65-F5344CB8AC3E}">
        <p14:creationId xmlns:p14="http://schemas.microsoft.com/office/powerpoint/2010/main" val="2064576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2026-08-30T08:49:19.6280000Z</dcterms:created>
  <dcterms:modified xsi:type="dcterms:W3CDTF">2026-08-30T08:49:19.6280000Z</dcterms:modified>
</coreProperties>
</file>