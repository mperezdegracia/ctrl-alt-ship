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640d2edb214506" /><Relationship Type="http://schemas.openxmlformats.org/officeDocument/2006/relationships/extended-properties" Target="/docProps/app.xml" Id="R94b548096689482f" /><Relationship Type="http://schemas.openxmlformats.org/officeDocument/2006/relationships/officeDocument" Target="/ppt/presentation.xml" Id="R69ae2d92053e4d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362087c9404af7"/>
  </p:sldMasterIdLst>
  <p:notesMasterIdLst>
    <p:notesMasterId xmlns:r="http://schemas.openxmlformats.org/officeDocument/2006/relationships" r:id="Re460ceb79a344dbf"/>
  </p:notesMasterIdLst>
  <p:sldIdLst>
    <p:sldId xmlns:r="http://schemas.openxmlformats.org/officeDocument/2006/relationships" id="256" r:id="Ra8e1e24fe8784715"/>
    <p:sldId xmlns:r="http://schemas.openxmlformats.org/officeDocument/2006/relationships" id="257" r:id="R17f17d213c6641a1"/>
    <p:sldId xmlns:r="http://schemas.openxmlformats.org/officeDocument/2006/relationships" id="258" r:id="R0fb14319e4664a48"/>
    <p:sldId xmlns:r="http://schemas.openxmlformats.org/officeDocument/2006/relationships" id="259" r:id="Re34f0183f8dd4f6e"/>
    <p:sldId xmlns:r="http://schemas.openxmlformats.org/officeDocument/2006/relationships" id="260" r:id="Rfc5910fda3b24d96"/>
    <p:sldId xmlns:r="http://schemas.openxmlformats.org/officeDocument/2006/relationships" id="261" r:id="R439ebb4894e743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b4e112002941a4" /><Relationship Type="http://schemas.openxmlformats.org/officeDocument/2006/relationships/slideMaster" Target="/ppt/slideMasters/slideMaster1.xml" Id="Rc6362087c9404af7" /><Relationship Type="http://schemas.openxmlformats.org/officeDocument/2006/relationships/notesMaster" Target="/ppt/notesMasters/notesMaster1.xml" Id="Re460ceb79a344dbf" /><Relationship Type="http://schemas.openxmlformats.org/officeDocument/2006/relationships/presProps" Target="/ppt/presProps.xml" Id="Rb363d02fa2274261" /><Relationship Type="http://schemas.openxmlformats.org/officeDocument/2006/relationships/tableStyles" Target="/ppt/tableStyles.xml" Id="R938c27c2baae4e72" /><Relationship Type="http://schemas.openxmlformats.org/officeDocument/2006/relationships/slide" Target="/ppt/slides/slide1.xml" Id="Ra8e1e24fe8784715" /><Relationship Type="http://schemas.openxmlformats.org/officeDocument/2006/relationships/slide" Target="/ppt/slides/slide2.xml" Id="R17f17d213c6641a1" /><Relationship Type="http://schemas.openxmlformats.org/officeDocument/2006/relationships/slide" Target="/ppt/slides/slide3.xml" Id="R0fb14319e4664a48" /><Relationship Type="http://schemas.openxmlformats.org/officeDocument/2006/relationships/slide" Target="/ppt/slides/slide4.xml" Id="Re34f0183f8dd4f6e" /><Relationship Type="http://schemas.openxmlformats.org/officeDocument/2006/relationships/slide" Target="/ppt/slides/slide5.xml" Id="Rfc5910fda3b24d96" /><Relationship Type="http://schemas.openxmlformats.org/officeDocument/2006/relationships/slide" Target="/ppt/slides/slide6.xml" Id="R439ebb4894e7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c41e09d7f647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394aeafc424e1a" /><Relationship Type="http://schemas.openxmlformats.org/officeDocument/2006/relationships/notesMaster" Target="/ppt/notesMasters/notesMaster1.xml" Id="R8402cd5735b242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460a38dd434964" /><Relationship Type="http://schemas.openxmlformats.org/officeDocument/2006/relationships/notesMaster" Target="/ppt/notesMasters/notesMaster1.xml" Id="R26e9a0d3460c41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599fb6c00a4578" /><Relationship Type="http://schemas.openxmlformats.org/officeDocument/2006/relationships/notesMaster" Target="/ppt/notesMasters/notesMaster1.xml" Id="R979ab9bd992c47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1b0f9faa6c4dd9" /><Relationship Type="http://schemas.openxmlformats.org/officeDocument/2006/relationships/notesMaster" Target="/ppt/notesMasters/notesMaster1.xml" Id="Rec854d3d959a4e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cb0e8cbccd4af7" /><Relationship Type="http://schemas.openxmlformats.org/officeDocument/2006/relationships/notesMaster" Target="/ppt/notesMasters/notesMaster1.xml" Id="R4a8ebf9c9bb149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268b12e16c4314" /><Relationship Type="http://schemas.openxmlformats.org/officeDocument/2006/relationships/notesMaster" Target="/ppt/notesMasters/notesMaster1.xml" Id="R8f848d07f31843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backend/render.yaml, frontend/render.yaml, docs/architecture.md, docs/outbound-call-flows.md, backend/src/tango/telephony/escalation-handoff-coordinator.ts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docs/outbound-call-flows.md and docs/provider-sourcing-merge-decisions.md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docs/provider-booking-changes.md and backend/src/domain/provider-booking-service.ts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docs/outbound-call-flows.md and docs/realtime-confirmation-review.md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docs/client-cancellation.md and docs/provider-booking-changes.md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backend/src/domain/escalation-service.ts, backend/src/tango/telephony/escalation-handoff-coordinator.ts, contracts/schema.sql and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2711bf03a45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8bdb60c2d640a7" /><Relationship Type="http://schemas.openxmlformats.org/officeDocument/2006/relationships/slideLayout" Target="/ppt/slideLayouts/slideLayout1.xml" Id="R8a4d80228cca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4d80228cca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6ea73e0204461" /><Relationship Type="http://schemas.openxmlformats.org/officeDocument/2006/relationships/notesSlide" Target="/ppt/notesSlides/notesSlide1.xml" Id="R76e33808b2794b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bf737e4c4491e" /><Relationship Type="http://schemas.openxmlformats.org/officeDocument/2006/relationships/notesSlide" Target="/ppt/notesSlides/notesSlide2.xml" Id="R4dd64058b11a4f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842a32fc14ff7" /><Relationship Type="http://schemas.openxmlformats.org/officeDocument/2006/relationships/notesSlide" Target="/ppt/notesSlides/notesSlide3.xml" Id="R1112889c10a748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10ed3eaa04796" /><Relationship Type="http://schemas.openxmlformats.org/officeDocument/2006/relationships/notesSlide" Target="/ppt/notesSlides/notesSlide4.xml" Id="R0b4f861ad9c942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06d249aed4d0d" /><Relationship Type="http://schemas.openxmlformats.org/officeDocument/2006/relationships/notesSlide" Target="/ppt/notesSlides/notesSlide5.xml" Id="Rd50ab890165241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4a72f7284d28" /><Relationship Type="http://schemas.openxmlformats.org/officeDocument/2006/relationships/notesSlide" Target="/ppt/notesSlides/notesSlide6.xml" Id="R3c238ae52c2741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ection">
            <a:extLst xmlns:a="http://schemas.openxmlformats.org/drawingml/2006/main">
              <a:ext uri="{FF2B5EF4-FFF2-40B4-BE49-F238E27FC236}">
                <a16:creationId xmlns:a16="http://schemas.microsoft.com/office/drawing/2014/main" id="{C5F0B593-7E6E-439F-99CB-3104A75A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TECHNOLOGY ARCHITECTURE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253ED2F-4B84-45E4-A1C5-E4DEFD91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9EFCE931-BC76-469B-B019-B8CE0C36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CFB1DD6A-2CA6-4627-B1E2-FA46DFFF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8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One live call. Four technology boundaries. One source of truth.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CC0D4E3-412E-48C8-B827-D301662E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Blue carries audio. Purple runs the agent. Green preserves the operation. Orange is the human control point.</a:t>
            </a:r>
          </a:p>
        </p:txBody>
      </p:sp>
      <p:sp>
        <p:nvSpPr>
          <p:cNvPr id="6" name="legend-dot-0">
            <a:extLst xmlns:a="http://schemas.openxmlformats.org/drawingml/2006/main">
              <a:ext uri="{FF2B5EF4-FFF2-40B4-BE49-F238E27FC236}">
                <a16:creationId xmlns:a16="http://schemas.microsoft.com/office/drawing/2014/main" id="{784C196E-3E57-454A-8E28-B66ED5DF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legend-label-0">
            <a:extLst xmlns:a="http://schemas.openxmlformats.org/drawingml/2006/main">
              <a:ext uri="{FF2B5EF4-FFF2-40B4-BE49-F238E27FC236}">
                <a16:creationId xmlns:a16="http://schemas.microsoft.com/office/drawing/2014/main" id="{C6E12356-B5BF-483B-95D5-C54E223C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</p:txBody>
      </p:sp>
      <p:sp>
        <p:nvSpPr>
          <p:cNvPr id="8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D10595C1-6B7F-49D2-8832-9F895EDF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egend-label-1">
            <a:extLst xmlns:a="http://schemas.openxmlformats.org/drawingml/2006/main">
              <a:ext uri="{FF2B5EF4-FFF2-40B4-BE49-F238E27FC236}">
                <a16:creationId xmlns:a16="http://schemas.microsoft.com/office/drawing/2014/main" id="{80DE7009-146E-471F-BB32-D7DE79C6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10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7FAB6D80-C4B9-4855-973B-73B95345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70"/>
          </a:solidFill>
          <a:ln xmlns:a="http://schemas.openxmlformats.org/drawingml/2006/main" w="9525">
            <a:solidFill>
              <a:srgbClr val="2F8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legend-label-2">
            <a:extLst xmlns:a="http://schemas.openxmlformats.org/drawingml/2006/main">
              <a:ext uri="{FF2B5EF4-FFF2-40B4-BE49-F238E27FC236}">
                <a16:creationId xmlns:a16="http://schemas.microsoft.com/office/drawing/2014/main" id="{D985CB02-AD4A-40F5-BE60-718862B3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2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F0D3BC70-BD1D-4179-B17E-3BB98ADC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A22"/>
          </a:solidFill>
          <a:ln xmlns:a="http://schemas.openxmlformats.org/drawingml/2006/main" w="9525">
            <a:solidFill>
              <a:srgbClr val="C56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legend-label-3">
            <a:extLst xmlns:a="http://schemas.openxmlformats.org/drawingml/2006/main">
              <a:ext uri="{FF2B5EF4-FFF2-40B4-BE49-F238E27FC236}">
                <a16:creationId xmlns:a16="http://schemas.microsoft.com/office/drawing/2014/main" id="{A82F040F-78C7-491A-B207-A17681EC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14" name="legend-dot-4">
            <a:extLst xmlns:a="http://schemas.openxmlformats.org/drawingml/2006/main">
              <a:ext uri="{FF2B5EF4-FFF2-40B4-BE49-F238E27FC236}">
                <a16:creationId xmlns:a16="http://schemas.microsoft.com/office/drawing/2014/main" id="{56B7B092-73C6-4790-897E-B2CBE34B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4C4C"/>
          </a:solidFill>
          <a:ln xmlns:a="http://schemas.openxmlformats.org/drawingml/2006/main" w="9525">
            <a:solidFill>
              <a:srgbClr val="D24C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legend-label-4">
            <a:extLst xmlns:a="http://schemas.openxmlformats.org/drawingml/2006/main">
              <a:ext uri="{FF2B5EF4-FFF2-40B4-BE49-F238E27FC236}">
                <a16:creationId xmlns:a16="http://schemas.microsoft.com/office/drawing/2014/main" id="{F259B1C3-2440-415E-927C-DF5EC34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Exception</a:t>
            </a:r>
          </a:p>
        </p:txBody>
      </p:sp>
      <p:sp>
        <p:nvSpPr>
          <p:cNvPr id="16" name="caller">
            <a:extLst xmlns:a="http://schemas.openxmlformats.org/drawingml/2006/main">
              <a:ext uri="{FF2B5EF4-FFF2-40B4-BE49-F238E27FC236}">
                <a16:creationId xmlns:a16="http://schemas.microsoft.com/office/drawing/2014/main" id="{CE6EFEE0-A75D-479F-851A-D8157966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24125"/>
            <a:ext cx="1562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1430">
            <a:solidFill>
              <a:srgbClr val="C56A22"/>
            </a:solidFill>
            <a:prstDash val="solid"/>
          </a:ln>
        </p:spPr>
      </p:sp>
      <p:sp>
        <p:nvSpPr>
          <p:cNvPr id="17" name="caller-accent">
            <a:extLst xmlns:a="http://schemas.openxmlformats.org/drawingml/2006/main">
              <a:ext uri="{FF2B5EF4-FFF2-40B4-BE49-F238E27FC236}">
                <a16:creationId xmlns:a16="http://schemas.microsoft.com/office/drawing/2014/main" id="{B27225D2-A8C2-404D-98BC-FB754D94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24125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56A22"/>
            </a:solidFill>
            <a:prstDash val="solid"/>
          </a:ln>
        </p:spPr>
      </p:sp>
      <p:sp>
        <p:nvSpPr>
          <p:cNvPr id="18" name="caller-tag">
            <a:extLst xmlns:a="http://schemas.openxmlformats.org/drawingml/2006/main">
              <a:ext uri="{FF2B5EF4-FFF2-40B4-BE49-F238E27FC236}">
                <a16:creationId xmlns:a16="http://schemas.microsoft.com/office/drawing/2014/main" id="{21B93356-487A-45F0-B1B9-1CC97B01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PHONE NETWORK</a:t>
            </a:r>
          </a:p>
        </p:txBody>
      </p:sp>
      <p:sp>
        <p:nvSpPr>
          <p:cNvPr id="19" name="caller-label">
            <a:extLst xmlns:a="http://schemas.openxmlformats.org/drawingml/2006/main">
              <a:ext uri="{FF2B5EF4-FFF2-40B4-BE49-F238E27FC236}">
                <a16:creationId xmlns:a16="http://schemas.microsoft.com/office/drawing/2014/main" id="{1338D19A-9C97-4A3F-B730-188DCE26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Clients &amp; carriers</a:t>
            </a:r>
          </a:p>
        </p:txBody>
      </p:sp>
      <p:sp>
        <p:nvSpPr>
          <p:cNvPr id="20" name="twilio">
            <a:extLst xmlns:a="http://schemas.openxmlformats.org/drawingml/2006/main">
              <a:ext uri="{FF2B5EF4-FFF2-40B4-BE49-F238E27FC236}">
                <a16:creationId xmlns:a16="http://schemas.microsoft.com/office/drawing/2014/main" id="{B7CECABD-F34C-4656-8EBD-D565246F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571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</p:sp>
      <p:sp>
        <p:nvSpPr>
          <p:cNvPr id="21" name="twilio-accent">
            <a:extLst xmlns:a="http://schemas.openxmlformats.org/drawingml/2006/main">
              <a:ext uri="{FF2B5EF4-FFF2-40B4-BE49-F238E27FC236}">
                <a16:creationId xmlns:a16="http://schemas.microsoft.com/office/drawing/2014/main" id="{97F05A07-4C84-4C96-A59D-204649A1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22" name="twilio-tag">
            <a:extLst xmlns:a="http://schemas.openxmlformats.org/drawingml/2006/main">
              <a:ext uri="{FF2B5EF4-FFF2-40B4-BE49-F238E27FC236}">
                <a16:creationId xmlns:a16="http://schemas.microsoft.com/office/drawing/2014/main" id="{8A98B7C8-A360-4DD9-9158-DD6FB6CC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76525"/>
            <a:ext cx="1266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TELEPHONY</a:t>
            </a:r>
          </a:p>
        </p:txBody>
      </p:sp>
      <p:sp>
        <p:nvSpPr>
          <p:cNvPr id="23" name="twilio-label">
            <a:extLst xmlns:a="http://schemas.openxmlformats.org/drawingml/2006/main">
              <a:ext uri="{FF2B5EF4-FFF2-40B4-BE49-F238E27FC236}">
                <a16:creationId xmlns:a16="http://schemas.microsoft.com/office/drawing/2014/main" id="{73032810-C423-4684-A0AB-0E2C1E21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33700"/>
            <a:ext cx="1266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Twilio Voice</a:t>
            </a:r>
          </a:p>
        </p:txBody>
      </p:sp>
      <p:sp>
        <p:nvSpPr>
          <p:cNvPr id="24" name="realtime">
            <a:extLst xmlns:a="http://schemas.openxmlformats.org/drawingml/2006/main">
              <a:ext uri="{FF2B5EF4-FFF2-40B4-BE49-F238E27FC236}">
                <a16:creationId xmlns:a16="http://schemas.microsoft.com/office/drawing/2014/main" id="{F665B332-F643-424E-91B9-FA79ACE8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24125"/>
            <a:ext cx="1571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</p:sp>
      <p:sp>
        <p:nvSpPr>
          <p:cNvPr id="25" name="realtime-accent">
            <a:extLst xmlns:a="http://schemas.openxmlformats.org/drawingml/2006/main">
              <a:ext uri="{FF2B5EF4-FFF2-40B4-BE49-F238E27FC236}">
                <a16:creationId xmlns:a16="http://schemas.microsoft.com/office/drawing/2014/main" id="{AA5BC1FE-E49D-4115-A1DC-C9D5EC29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24125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26" name="realtime-tag">
            <a:extLst xmlns:a="http://schemas.openxmlformats.org/drawingml/2006/main">
              <a:ext uri="{FF2B5EF4-FFF2-40B4-BE49-F238E27FC236}">
                <a16:creationId xmlns:a16="http://schemas.microsoft.com/office/drawing/2014/main" id="{A8FA012E-BEAA-4B5D-9DC9-88D3F5D9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76525"/>
            <a:ext cx="1266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REALTIME</a:t>
            </a:r>
          </a:p>
        </p:txBody>
      </p:sp>
      <p:sp>
        <p:nvSpPr>
          <p:cNvPr id="27" name="realtime-label">
            <a:extLst xmlns:a="http://schemas.openxmlformats.org/drawingml/2006/main">
              <a:ext uri="{FF2B5EF4-FFF2-40B4-BE49-F238E27FC236}">
                <a16:creationId xmlns:a16="http://schemas.microsoft.com/office/drawing/2014/main" id="{9516CA8D-3EAB-4D1A-A397-27927F19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33700"/>
            <a:ext cx="1266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OpenAI Realtime</a:t>
            </a:r>
          </a:p>
        </p:txBody>
      </p:sp>
      <p:sp>
        <p:nvSpPr>
          <p:cNvPr id="28" name="api">
            <a:extLst xmlns:a="http://schemas.openxmlformats.org/drawingml/2006/main">
              <a:ext uri="{FF2B5EF4-FFF2-40B4-BE49-F238E27FC236}">
                <a16:creationId xmlns:a16="http://schemas.microsoft.com/office/drawing/2014/main" id="{8D8C9711-BEF9-49DE-B28B-5DB211F8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29" name="api-accent">
            <a:extLst xmlns:a="http://schemas.openxmlformats.org/drawingml/2006/main">
              <a:ext uri="{FF2B5EF4-FFF2-40B4-BE49-F238E27FC236}">
                <a16:creationId xmlns:a16="http://schemas.microsoft.com/office/drawing/2014/main" id="{FB009C61-4409-42BE-AD65-A1D90CDB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63FF"/>
            </a:solidFill>
            <a:prstDash val="solid"/>
          </a:ln>
        </p:spPr>
      </p:sp>
      <p:sp>
        <p:nvSpPr>
          <p:cNvPr id="30" name="api-tag">
            <a:extLst xmlns:a="http://schemas.openxmlformats.org/drawingml/2006/main">
              <a:ext uri="{FF2B5EF4-FFF2-40B4-BE49-F238E27FC236}">
                <a16:creationId xmlns:a16="http://schemas.microsoft.com/office/drawing/2014/main" id="{A257921F-70B3-4DCB-846A-9253506A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146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RENDER · BACKEND</a:t>
            </a:r>
          </a:p>
        </p:txBody>
      </p:sp>
      <p:sp>
        <p:nvSpPr>
          <p:cNvPr id="31" name="api-label">
            <a:extLst xmlns:a="http://schemas.openxmlformats.org/drawingml/2006/main">
              <a:ext uri="{FF2B5EF4-FFF2-40B4-BE49-F238E27FC236}">
                <a16:creationId xmlns:a16="http://schemas.microsoft.com/office/drawing/2014/main" id="{9511971A-B486-4933-8406-A5FD1C69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71775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274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Tango API + live session</a:t>
            </a:r>
          </a:p>
        </p:txBody>
      </p:sp>
      <p:sp>
        <p:nvSpPr>
          <p:cNvPr id="32" name="api-body">
            <a:extLst xmlns:a="http://schemas.openxmlformats.org/drawingml/2006/main">
              <a:ext uri="{FF2B5EF4-FFF2-40B4-BE49-F238E27FC236}">
                <a16:creationId xmlns:a16="http://schemas.microsoft.com/office/drawing/2014/main" id="{CFD03F2F-CF5E-4B85-9649-33FA3FFF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Signed webhook acceptance · sideband · scoped tools</a:t>
            </a:r>
          </a:p>
        </p:txBody>
      </p:sp>
      <p:sp>
        <p:nvSpPr>
          <p:cNvPr id="33" name="db">
            <a:extLst xmlns:a="http://schemas.openxmlformats.org/drawingml/2006/main">
              <a:ext uri="{FF2B5EF4-FFF2-40B4-BE49-F238E27FC236}">
                <a16:creationId xmlns:a16="http://schemas.microsoft.com/office/drawing/2014/main" id="{E352F71E-FA11-4056-88C8-0A2FAD5A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2438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34" name="db-accent">
            <a:extLst xmlns:a="http://schemas.openxmlformats.org/drawingml/2006/main">
              <a:ext uri="{FF2B5EF4-FFF2-40B4-BE49-F238E27FC236}">
                <a16:creationId xmlns:a16="http://schemas.microsoft.com/office/drawing/2014/main" id="{2A9DDDF4-5D49-4734-B1C6-D5AE233C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35" name="db-tag">
            <a:extLst xmlns:a="http://schemas.openxmlformats.org/drawingml/2006/main">
              <a:ext uri="{FF2B5EF4-FFF2-40B4-BE49-F238E27FC236}">
                <a16:creationId xmlns:a16="http://schemas.microsoft.com/office/drawing/2014/main" id="{1134D485-3543-4AD9-BB4F-B55BAA36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431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SUPABASE</a:t>
            </a:r>
          </a:p>
        </p:txBody>
      </p:sp>
      <p:sp>
        <p:nvSpPr>
          <p:cNvPr id="36" name="db-label">
            <a:extLst xmlns:a="http://schemas.openxmlformats.org/drawingml/2006/main">
              <a:ext uri="{FF2B5EF4-FFF2-40B4-BE49-F238E27FC236}">
                <a16:creationId xmlns:a16="http://schemas.microsoft.com/office/drawing/2014/main" id="{EC4B6969-4C72-4148-8169-1D9738BC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032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97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Postgres operation ledger</a:t>
            </a:r>
          </a:p>
        </p:txBody>
      </p:sp>
      <p:sp>
        <p:nvSpPr>
          <p:cNvPr id="37" name="db-body">
            <a:extLst xmlns:a="http://schemas.openxmlformats.org/drawingml/2006/main">
              <a:ext uri="{FF2B5EF4-FFF2-40B4-BE49-F238E27FC236}">
                <a16:creationId xmlns:a16="http://schemas.microsoft.com/office/drawing/2014/main" id="{56E15842-C23A-4CA0-92E5-9CD7D4AC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Operations · mandate versions · quotes · bookings · events · durable handoffs</a:t>
            </a:r>
          </a:p>
        </p:txBody>
      </p:sp>
      <p:sp>
        <p:nvSpPr>
          <p:cNvPr id="38" name="outbox">
            <a:extLst xmlns:a="http://schemas.openxmlformats.org/drawingml/2006/main">
              <a:ext uri="{FF2B5EF4-FFF2-40B4-BE49-F238E27FC236}">
                <a16:creationId xmlns:a16="http://schemas.microsoft.com/office/drawing/2014/main" id="{7C499C52-9AE9-4D64-8534-6C04CE19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39" name="outbox-accent">
            <a:extLst xmlns:a="http://schemas.openxmlformats.org/drawingml/2006/main">
              <a:ext uri="{FF2B5EF4-FFF2-40B4-BE49-F238E27FC236}">
                <a16:creationId xmlns:a16="http://schemas.microsoft.com/office/drawing/2014/main" id="{7341BA48-762D-4D05-8CEB-B03F5161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40" name="outbox-tag">
            <a:extLst xmlns:a="http://schemas.openxmlformats.org/drawingml/2006/main">
              <a:ext uri="{FF2B5EF4-FFF2-40B4-BE49-F238E27FC236}">
                <a16:creationId xmlns:a16="http://schemas.microsoft.com/office/drawing/2014/main" id="{5C48D9C8-86C0-4948-A144-3E78FF2C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672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SUPABASE</a:t>
            </a:r>
          </a:p>
        </p:txBody>
      </p:sp>
      <p:sp>
        <p:nvSpPr>
          <p:cNvPr id="41" name="outbox-label">
            <a:extLst xmlns:a="http://schemas.openxmlformats.org/drawingml/2006/main">
              <a:ext uri="{FF2B5EF4-FFF2-40B4-BE49-F238E27FC236}">
                <a16:creationId xmlns:a16="http://schemas.microsoft.com/office/drawing/2014/main" id="{813F2675-129F-4796-806A-300F29A9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24375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Outbox + idempotent receipts</a:t>
            </a:r>
          </a:p>
        </p:txBody>
      </p:sp>
      <p:sp>
        <p:nvSpPr>
          <p:cNvPr id="42" name="worker">
            <a:extLst xmlns:a="http://schemas.openxmlformats.org/drawingml/2006/main">
              <a:ext uri="{FF2B5EF4-FFF2-40B4-BE49-F238E27FC236}">
                <a16:creationId xmlns:a16="http://schemas.microsoft.com/office/drawing/2014/main" id="{85E3B036-DAC1-4AE5-9342-1AFF7D6F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43" name="worker-accent">
            <a:extLst xmlns:a="http://schemas.openxmlformats.org/drawingml/2006/main">
              <a:ext uri="{FF2B5EF4-FFF2-40B4-BE49-F238E27FC236}">
                <a16:creationId xmlns:a16="http://schemas.microsoft.com/office/drawing/2014/main" id="{BDB68797-2ABD-499A-A782-126542F4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63FF"/>
            </a:solidFill>
            <a:prstDash val="solid"/>
          </a:ln>
        </p:spPr>
      </p:sp>
      <p:sp>
        <p:nvSpPr>
          <p:cNvPr id="44" name="worker-tag">
            <a:extLst xmlns:a="http://schemas.openxmlformats.org/drawingml/2006/main">
              <a:ext uri="{FF2B5EF4-FFF2-40B4-BE49-F238E27FC236}">
                <a16:creationId xmlns:a16="http://schemas.microsoft.com/office/drawing/2014/main" id="{90055FC9-7890-4D06-A95A-2E4A77BC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RENDER · WORKER</a:t>
            </a:r>
          </a:p>
        </p:txBody>
      </p:sp>
      <p:sp>
        <p:nvSpPr>
          <p:cNvPr id="45" name="worker-label">
            <a:extLst xmlns:a="http://schemas.openxmlformats.org/drawingml/2006/main">
              <a:ext uri="{FF2B5EF4-FFF2-40B4-BE49-F238E27FC236}">
                <a16:creationId xmlns:a16="http://schemas.microsoft.com/office/drawing/2014/main" id="{258E2C0D-2D29-4E0E-AAF4-B71DC081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2437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Outbound sourcing</a:t>
            </a:r>
          </a:p>
        </p:txBody>
      </p:sp>
      <p:sp>
        <p:nvSpPr>
          <p:cNvPr id="46" name="dashboard">
            <a:extLst xmlns:a="http://schemas.openxmlformats.org/drawingml/2006/main">
              <a:ext uri="{FF2B5EF4-FFF2-40B4-BE49-F238E27FC236}">
                <a16:creationId xmlns:a16="http://schemas.microsoft.com/office/drawing/2014/main" id="{A049EF66-08CF-4B55-95C1-6E174960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91125"/>
            <a:ext cx="243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1430">
            <a:solidFill>
              <a:srgbClr val="C56A22"/>
            </a:solidFill>
            <a:prstDash val="solid"/>
          </a:ln>
        </p:spPr>
      </p:sp>
      <p:sp>
        <p:nvSpPr>
          <p:cNvPr id="47" name="dashboard-accent">
            <a:extLst xmlns:a="http://schemas.openxmlformats.org/drawingml/2006/main">
              <a:ext uri="{FF2B5EF4-FFF2-40B4-BE49-F238E27FC236}">
                <a16:creationId xmlns:a16="http://schemas.microsoft.com/office/drawing/2014/main" id="{230A291A-6983-4514-BD23-5214FD36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91125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56A22"/>
            </a:solidFill>
            <a:prstDash val="solid"/>
          </a:ln>
        </p:spPr>
      </p:sp>
      <p:sp>
        <p:nvSpPr>
          <p:cNvPr id="48" name="dashboard-tag">
            <a:extLst xmlns:a="http://schemas.openxmlformats.org/drawingml/2006/main">
              <a:ext uri="{FF2B5EF4-FFF2-40B4-BE49-F238E27FC236}">
                <a16:creationId xmlns:a16="http://schemas.microsoft.com/office/drawing/2014/main" id="{DD2CF1EA-4555-479C-B0B7-2345A727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43525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RENDER · NEXT.JS</a:t>
            </a:r>
          </a:p>
        </p:txBody>
      </p:sp>
      <p:sp>
        <p:nvSpPr>
          <p:cNvPr id="49" name="dashboard-label">
            <a:extLst xmlns:a="http://schemas.openxmlformats.org/drawingml/2006/main">
              <a:ext uri="{FF2B5EF4-FFF2-40B4-BE49-F238E27FC236}">
                <a16:creationId xmlns:a16="http://schemas.microsoft.com/office/drawing/2014/main" id="{D8E0677C-32F4-4211-8C85-B8095C17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0070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Supervisor dashboard</a:t>
            </a:r>
          </a:p>
        </p:txBody>
      </p:sp>
      <p:sp>
        <p:nvSpPr>
          <p:cNvPr id="50" name="supervisor">
            <a:extLst xmlns:a="http://schemas.openxmlformats.org/drawingml/2006/main">
              <a:ext uri="{FF2B5EF4-FFF2-40B4-BE49-F238E27FC236}">
                <a16:creationId xmlns:a16="http://schemas.microsoft.com/office/drawing/2014/main" id="{2CDE0FC6-5875-4C52-B05E-61B09E99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33925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EE"/>
          </a:solidFill>
          <a:ln xmlns:a="http://schemas.openxmlformats.org/drawingml/2006/main" w="11430">
            <a:solidFill>
              <a:srgbClr val="D24C4C"/>
            </a:solidFill>
            <a:prstDash val="solid"/>
          </a:ln>
        </p:spPr>
      </p:sp>
      <p:sp>
        <p:nvSpPr>
          <p:cNvPr id="51" name="supervisor-accent">
            <a:extLst xmlns:a="http://schemas.openxmlformats.org/drawingml/2006/main">
              <a:ext uri="{FF2B5EF4-FFF2-40B4-BE49-F238E27FC236}">
                <a16:creationId xmlns:a16="http://schemas.microsoft.com/office/drawing/2014/main" id="{8DF5B491-348F-48D4-AA0F-338D80C9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33925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24C4C"/>
            </a:solidFill>
            <a:prstDash val="solid"/>
          </a:ln>
        </p:spPr>
      </p:sp>
      <p:sp>
        <p:nvSpPr>
          <p:cNvPr id="52" name="supervisor-tag">
            <a:extLst xmlns:a="http://schemas.openxmlformats.org/drawingml/2006/main">
              <a:ext uri="{FF2B5EF4-FFF2-40B4-BE49-F238E27FC236}">
                <a16:creationId xmlns:a16="http://schemas.microsoft.com/office/drawing/2014/main" id="{2479E906-7936-4C39-AC39-5DFCF6C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86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53" name="supervisor-label">
            <a:extLst xmlns:a="http://schemas.openxmlformats.org/drawingml/2006/main">
              <a:ext uri="{FF2B5EF4-FFF2-40B4-BE49-F238E27FC236}">
                <a16:creationId xmlns:a16="http://schemas.microsoft.com/office/drawing/2014/main" id="{036F9483-31F0-4343-83B2-734254C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43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92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Supervisor phone</a:t>
            </a:r>
          </a:p>
        </p:txBody>
      </p:sp>
      <p:cxnSp>
        <p:nvCxnSpPr>
          <p:cNvPr id="123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057400" y="29051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2F80ED"/>
            </a:solidFill>
            <a:prstDash val="solid"/>
            <a:tailEnd type="arrow" w="sm" len="sm"/>
          </a:ln>
        </p:spPr>
      </p:cxnSp>
      <p:cxnSp>
        <p:nvCxnSpPr>
          <p:cNvPr id="124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143375" y="29051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2F80ED"/>
            </a:solidFill>
            <a:prstDash val="solid"/>
            <a:tailEnd type="arrow" w="sm" len="sm"/>
          </a:ln>
        </p:spPr>
      </p:cxnSp>
      <p:cxnSp>
        <p:nvCxnSpPr>
          <p:cNvPr id="125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6229350" y="2895600"/>
            <a:ext cx="5143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669">
            <a:solidFill>
              <a:srgbClr val="2F80ED"/>
            </a:solidFill>
            <a:prstDash val="solid"/>
            <a:tailEnd type="arrow" w="sm" len="sm"/>
          </a:ln>
        </p:spPr>
      </p:cxnSp>
      <p:cxnSp>
        <p:nvCxnSpPr>
          <p:cNvPr id="126" name=""/>
          <p:cNvCxnSpPr>
            <a:stCxn xmlns:a="http://schemas.openxmlformats.org/drawingml/2006/main" id="28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743950" y="28956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cxnSp>
        <p:nvCxnSpPr>
          <p:cNvPr id="127" name=""/>
          <p:cNvCxnSpPr>
            <a:stCxn xmlns:a="http://schemas.openxmlformats.org/drawingml/2006/main" id="33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10477500" y="360045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2F8F70"/>
            </a:solidFill>
            <a:prstDash val="solid"/>
            <a:tailEnd type="arrow" w="sm" len="sm"/>
          </a:ln>
        </p:spPr>
      </p:cxnSp>
      <p:cxnSp>
        <p:nvCxnSpPr>
          <p:cNvPr id="128" name=""/>
          <p:cNvCxnSpPr>
            <a:stCxn xmlns:a="http://schemas.openxmlformats.org/drawingml/2006/main" id="38" idx="1"/>
            <a:endCxn xmlns:a="http://schemas.openxmlformats.org/drawingml/2006/main" id="42" idx="3"/>
          </p:cNvCxnSpPr>
          <p:nvPr/>
        </p:nvCxnSpPr>
        <p:spPr>
          <a:xfrm xmlns:a="http://schemas.openxmlformats.org/drawingml/2006/main" flipH="1">
            <a:off x="8743950" y="4457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2F8F70"/>
            </a:solidFill>
            <a:prstDash val="solid"/>
            <a:tailEnd type="arrow" w="sm" len="sm"/>
          </a:ln>
        </p:spPr>
      </p:cxnSp>
      <p:cxnSp>
        <p:nvCxnSpPr>
          <p:cNvPr id="129" name=""/>
          <p:cNvCxnSpPr>
            <a:stCxn xmlns:a="http://schemas.openxmlformats.org/drawingml/2006/main" id="42" idx="1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H="1" flipV="1">
            <a:off x="3357563" y="3286125"/>
            <a:ext cx="3386138" cy="1171575"/>
          </a:xfrm>
          <a:prstGeom xmlns:a="http://schemas.openxmlformats.org/drawingml/2006/main" prst="bentConnector2">
            <a:avLst/>
          </a:prstGeom>
          <a:ln xmlns:a="http://schemas.openxmlformats.org/drawingml/2006/main" w="16669">
            <a:solidFill>
              <a:srgbClr val="2F80ED"/>
            </a:solidFill>
            <a:prstDash val="solid"/>
            <a:tailEnd type="arrow" w="sm" len="sm"/>
          </a:ln>
        </p:spPr>
      </p:cxnSp>
      <p:cxnSp>
        <p:nvCxnSpPr>
          <p:cNvPr id="130" name=""/>
          <p:cNvCxnSpPr>
            <a:stCxn xmlns:a="http://schemas.openxmlformats.org/drawingml/2006/main" id="46" idx="1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H="1" flipV="1">
            <a:off x="7743825" y="3429000"/>
            <a:ext cx="1514475" cy="2095500"/>
          </a:xfrm>
          <a:prstGeom xmlns:a="http://schemas.openxmlformats.org/drawingml/2006/main" prst="bentConnector4">
            <a:avLst>
              <a:gd name="adj1" fmla="val 15094"/>
              <a:gd name="adj2" fmla="val 89091"/>
            </a:avLst>
          </a:prstGeom>
          <a:ln xmlns:a="http://schemas.openxmlformats.org/drawingml/2006/main" w="16669">
            <a:solidFill>
              <a:srgbClr val="C56A22"/>
            </a:solidFill>
            <a:prstDash val="dash"/>
            <a:tailEnd type="arrow" w="sm" len="sm"/>
          </a:ln>
        </p:spPr>
      </p:cxnSp>
      <p:cxnSp>
        <p:nvCxnSpPr>
          <p:cNvPr id="131" name=""/>
          <p:cNvCxnSpPr>
            <a:stCxn xmlns:a="http://schemas.openxmlformats.org/drawingml/2006/main" id="24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4124325" y="3286125"/>
            <a:ext cx="1319213" cy="1447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669">
            <a:solidFill>
              <a:srgbClr val="D24C4C"/>
            </a:solidFill>
            <a:prstDash val="solid"/>
            <a:tailEnd type="arrow" w="sm" len="sm"/>
          </a:ln>
        </p:spPr>
      </p:cxnSp>
      <p:sp>
        <p:nvSpPr>
          <p:cNvPr id="63" name="tech-sip">
            <a:extLst xmlns:a="http://schemas.openxmlformats.org/drawingml/2006/main">
              <a:ext uri="{FF2B5EF4-FFF2-40B4-BE49-F238E27FC236}">
                <a16:creationId xmlns:a16="http://schemas.microsoft.com/office/drawing/2014/main" id="{BC0B918B-B032-48E9-926D-D28CDD53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860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SIP AUDIO</a:t>
            </a:r>
          </a:p>
        </p:txBody>
      </p:sp>
      <p:sp>
        <p:nvSpPr>
          <p:cNvPr id="64" name="tech-tools">
            <a:extLst xmlns:a="http://schemas.openxmlformats.org/drawingml/2006/main">
              <a:ext uri="{FF2B5EF4-FFF2-40B4-BE49-F238E27FC236}">
                <a16:creationId xmlns:a16="http://schemas.microsoft.com/office/drawing/2014/main" id="{76340101-BC93-4303-9941-F3EA4245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860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SIDEBAND TOOLS</a:t>
            </a:r>
          </a:p>
        </p:txBody>
      </p:sp>
      <p:sp>
        <p:nvSpPr>
          <p:cNvPr id="65" name="tech-write">
            <a:extLst xmlns:a="http://schemas.openxmlformats.org/drawingml/2006/main">
              <a:ext uri="{FF2B5EF4-FFF2-40B4-BE49-F238E27FC236}">
                <a16:creationId xmlns:a16="http://schemas.microsoft.com/office/drawing/2014/main" id="{B9D82546-5F36-487D-B2D3-68315B00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860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VALIDATED WRITES</a:t>
            </a:r>
          </a:p>
        </p:txBody>
      </p:sp>
      <p:sp>
        <p:nvSpPr>
          <p:cNvPr id="66" name="tech-outbound">
            <a:extLst xmlns:a="http://schemas.openxmlformats.org/drawingml/2006/main">
              <a:ext uri="{FF2B5EF4-FFF2-40B4-BE49-F238E27FC236}">
                <a16:creationId xmlns:a16="http://schemas.microsoft.com/office/drawing/2014/main" id="{67D07FB3-4EB2-4B7F-9E5A-222D8C7A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OUTBOUND CALL</a:t>
            </a:r>
          </a:p>
        </p:txBody>
      </p:sp>
      <p:sp>
        <p:nvSpPr>
          <p:cNvPr id="67" name="tech-transfer">
            <a:extLst xmlns:a="http://schemas.openxmlformats.org/drawingml/2006/main">
              <a:ext uri="{FF2B5EF4-FFF2-40B4-BE49-F238E27FC236}">
                <a16:creationId xmlns:a16="http://schemas.microsoft.com/office/drawing/2014/main" id="{493CF1F4-E87A-4D0C-B494-880BE39F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rPr>
              <a:t>SIP REFER</a:t>
            </a:r>
          </a:p>
        </p:txBody>
      </p:sp>
      <p:sp>
        <p:nvSpPr>
          <p:cNvPr id="6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BEDF80-9ADA-4F1C-9330-87A67502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67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69" name="footer">
            <a:extLst xmlns:a="http://schemas.openxmlformats.org/drawingml/2006/main">
              <a:ext uri="{FF2B5EF4-FFF2-40B4-BE49-F238E27FC236}">
                <a16:creationId xmlns:a16="http://schemas.microsoft.com/office/drawing/2014/main" id="{A1C4ADBE-20D3-4242-ABE7-2F999F0A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03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No model response talks directly to Postgres: every write crosses the server-side domain boundary first.</a:t>
            </a:r>
          </a:p>
        </p:txBody>
      </p:sp>
    </p:spTree>
    <p:extLst>
      <p:ext uri="{BB962C8B-B14F-4D97-AF65-F5344CB8AC3E}">
        <p14:creationId xmlns:p14="http://schemas.microsoft.com/office/powerpoint/2010/main" val="991576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ection">
            <a:extLst xmlns:a="http://schemas.openxmlformats.org/drawingml/2006/main">
              <a:ext uri="{FF2B5EF4-FFF2-40B4-BE49-F238E27FC236}">
                <a16:creationId xmlns:a16="http://schemas.microsoft.com/office/drawing/2014/main" id="{EC4E9361-3A45-4643-8A32-B76A7BD4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FLOW 01 · OUTBOUND SOURCING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C38D6A4-67EA-4E22-A6DF-9D58A29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0AB2C105-6A75-455F-AC26-EC5F0541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56984632-2CCF-42F2-B69B-1C8F292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8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A human mandate becomes a selected booking — without exposing the price cap.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46B30B1-E082-4F27-A499-92CBE335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The comparison happens server-side after two parallel carrier conversations.</a:t>
            </a:r>
          </a:p>
        </p:txBody>
      </p:sp>
      <p:sp>
        <p:nvSpPr>
          <p:cNvPr id="6" name="legend-dot-0">
            <a:extLst xmlns:a="http://schemas.openxmlformats.org/drawingml/2006/main">
              <a:ext uri="{FF2B5EF4-FFF2-40B4-BE49-F238E27FC236}">
                <a16:creationId xmlns:a16="http://schemas.microsoft.com/office/drawing/2014/main" id="{B0D35152-C1B0-4F32-9961-C0E1D395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legend-label-0">
            <a:extLst xmlns:a="http://schemas.openxmlformats.org/drawingml/2006/main">
              <a:ext uri="{FF2B5EF4-FFF2-40B4-BE49-F238E27FC236}">
                <a16:creationId xmlns:a16="http://schemas.microsoft.com/office/drawing/2014/main" id="{F6D3D130-97B2-4842-8331-946591A2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</p:txBody>
      </p:sp>
      <p:sp>
        <p:nvSpPr>
          <p:cNvPr id="8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4340787E-C33A-4244-AB81-B1123117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egend-label-1">
            <a:extLst xmlns:a="http://schemas.openxmlformats.org/drawingml/2006/main">
              <a:ext uri="{FF2B5EF4-FFF2-40B4-BE49-F238E27FC236}">
                <a16:creationId xmlns:a16="http://schemas.microsoft.com/office/drawing/2014/main" id="{615224E8-6F31-4859-ADF9-1AD36D5F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10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7D6F995B-F776-415F-A7E7-414A97F6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70"/>
          </a:solidFill>
          <a:ln xmlns:a="http://schemas.openxmlformats.org/drawingml/2006/main" w="9525">
            <a:solidFill>
              <a:srgbClr val="2F8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legend-label-2">
            <a:extLst xmlns:a="http://schemas.openxmlformats.org/drawingml/2006/main">
              <a:ext uri="{FF2B5EF4-FFF2-40B4-BE49-F238E27FC236}">
                <a16:creationId xmlns:a16="http://schemas.microsoft.com/office/drawing/2014/main" id="{C6327370-9269-43DB-A1DF-779769A6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2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CD838AA8-60BD-4A85-9ED9-0EA7EB18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A22"/>
          </a:solidFill>
          <a:ln xmlns:a="http://schemas.openxmlformats.org/drawingml/2006/main" w="9525">
            <a:solidFill>
              <a:srgbClr val="C56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legend-label-3">
            <a:extLst xmlns:a="http://schemas.openxmlformats.org/drawingml/2006/main">
              <a:ext uri="{FF2B5EF4-FFF2-40B4-BE49-F238E27FC236}">
                <a16:creationId xmlns:a16="http://schemas.microsoft.com/office/drawing/2014/main" id="{BF496130-F343-48FC-9BB6-92D997F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14" name="legend-dot-4">
            <a:extLst xmlns:a="http://schemas.openxmlformats.org/drawingml/2006/main">
              <a:ext uri="{FF2B5EF4-FFF2-40B4-BE49-F238E27FC236}">
                <a16:creationId xmlns:a16="http://schemas.microsoft.com/office/drawing/2014/main" id="{77B3B435-FD8B-4FD4-8669-98DE82AB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4C4C"/>
          </a:solidFill>
          <a:ln xmlns:a="http://schemas.openxmlformats.org/drawingml/2006/main" w="9525">
            <a:solidFill>
              <a:srgbClr val="D24C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legend-label-4">
            <a:extLst xmlns:a="http://schemas.openxmlformats.org/drawingml/2006/main">
              <a:ext uri="{FF2B5EF4-FFF2-40B4-BE49-F238E27FC236}">
                <a16:creationId xmlns:a16="http://schemas.microsoft.com/office/drawing/2014/main" id="{F2AAE8E0-C508-452A-8D38-43C6E9DD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Exception</a:t>
            </a:r>
          </a:p>
        </p:txBody>
      </p:sp>
      <p:sp>
        <p:nvSpPr>
          <p:cNvPr id="16" name="f1-client">
            <a:extLst xmlns:a="http://schemas.openxmlformats.org/drawingml/2006/main">
              <a:ext uri="{FF2B5EF4-FFF2-40B4-BE49-F238E27FC236}">
                <a16:creationId xmlns:a16="http://schemas.microsoft.com/office/drawing/2014/main" id="{61A365DA-1B1F-4786-BD0B-8B6A82E6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1430">
            <a:solidFill>
              <a:srgbClr val="C56A22"/>
            </a:solidFill>
            <a:prstDash val="solid"/>
          </a:ln>
        </p:spPr>
      </p:sp>
      <p:sp>
        <p:nvSpPr>
          <p:cNvPr id="17" name="f1-client-accent">
            <a:extLst xmlns:a="http://schemas.openxmlformats.org/drawingml/2006/main">
              <a:ext uri="{FF2B5EF4-FFF2-40B4-BE49-F238E27FC236}">
                <a16:creationId xmlns:a16="http://schemas.microsoft.com/office/drawing/2014/main" id="{C698675A-FA41-4B2B-8B83-F7F56A81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56A22"/>
            </a:solidFill>
            <a:prstDash val="solid"/>
          </a:ln>
        </p:spPr>
      </p:sp>
      <p:sp>
        <p:nvSpPr>
          <p:cNvPr id="18" name="f1-client-tag">
            <a:extLst xmlns:a="http://schemas.openxmlformats.org/drawingml/2006/main">
              <a:ext uri="{FF2B5EF4-FFF2-40B4-BE49-F238E27FC236}">
                <a16:creationId xmlns:a16="http://schemas.microsoft.com/office/drawing/2014/main" id="{2BB0CC04-6E20-4D3E-B599-E19FDAF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1 · CLIENT</a:t>
            </a:r>
          </a:p>
        </p:txBody>
      </p:sp>
      <p:sp>
        <p:nvSpPr>
          <p:cNvPr id="19" name="f1-client-label">
            <a:extLst xmlns:a="http://schemas.openxmlformats.org/drawingml/2006/main">
              <a:ext uri="{FF2B5EF4-FFF2-40B4-BE49-F238E27FC236}">
                <a16:creationId xmlns:a16="http://schemas.microsoft.com/office/drawing/2014/main" id="{AF325E77-4474-4131-8E75-DC700D52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480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Confirms operation + mandate</a:t>
            </a:r>
          </a:p>
        </p:txBody>
      </p:sp>
      <p:sp>
        <p:nvSpPr>
          <p:cNvPr id="20" name="f1-client-body">
            <a:extLst xmlns:a="http://schemas.openxmlformats.org/drawingml/2006/main">
              <a:ext uri="{FF2B5EF4-FFF2-40B4-BE49-F238E27FC236}">
                <a16:creationId xmlns:a16="http://schemas.microsoft.com/office/drawing/2014/main" id="{A2EF3867-5DC4-4667-9F5F-344A7DCB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257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Route, pickup window, ceiling and terms</a:t>
            </a:r>
          </a:p>
        </p:txBody>
      </p:sp>
      <p:sp>
        <p:nvSpPr>
          <p:cNvPr id="21" name="f1-requests">
            <a:extLst xmlns:a="http://schemas.openxmlformats.org/drawingml/2006/main">
              <a:ext uri="{FF2B5EF4-FFF2-40B4-BE49-F238E27FC236}">
                <a16:creationId xmlns:a16="http://schemas.microsoft.com/office/drawing/2014/main" id="{E639D2C8-FB37-41F0-B8B9-598D1428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384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22" name="f1-requests-accent">
            <a:extLst xmlns:a="http://schemas.openxmlformats.org/drawingml/2006/main">
              <a:ext uri="{FF2B5EF4-FFF2-40B4-BE49-F238E27FC236}">
                <a16:creationId xmlns:a16="http://schemas.microsoft.com/office/drawing/2014/main" id="{2AA72384-0EDB-4BDA-983A-35950731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384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23" name="f1-requests-tag">
            <a:extLst xmlns:a="http://schemas.openxmlformats.org/drawingml/2006/main">
              <a:ext uri="{FF2B5EF4-FFF2-40B4-BE49-F238E27FC236}">
                <a16:creationId xmlns:a16="http://schemas.microsoft.com/office/drawing/2014/main" id="{0861A5EA-1D4F-43BB-94CC-F71C2F4D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2 · SUPABASE</a:t>
            </a:r>
          </a:p>
        </p:txBody>
      </p:sp>
      <p:sp>
        <p:nvSpPr>
          <p:cNvPr id="24" name="f1-requests-label">
            <a:extLst xmlns:a="http://schemas.openxmlformats.org/drawingml/2006/main">
              <a:ext uri="{FF2B5EF4-FFF2-40B4-BE49-F238E27FC236}">
                <a16:creationId xmlns:a16="http://schemas.microsoft.com/office/drawing/2014/main" id="{AF1CB4A3-5D6D-4425-80F3-7ED74BF3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480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Creates quote requests</a:t>
            </a:r>
          </a:p>
        </p:txBody>
      </p:sp>
      <p:sp>
        <p:nvSpPr>
          <p:cNvPr id="25" name="f1-requests-body">
            <a:extLst xmlns:a="http://schemas.openxmlformats.org/drawingml/2006/main">
              <a:ext uri="{FF2B5EF4-FFF2-40B4-BE49-F238E27FC236}">
                <a16:creationId xmlns:a16="http://schemas.microsoft.com/office/drawing/2014/main" id="{45365281-62DA-4B47-A54F-049160C4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1257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Idempotent requests for up to two carriers</a:t>
            </a:r>
          </a:p>
        </p:txBody>
      </p:sp>
      <p:sp>
        <p:nvSpPr>
          <p:cNvPr id="26" name="f1-calls">
            <a:extLst xmlns:a="http://schemas.openxmlformats.org/drawingml/2006/main">
              <a:ext uri="{FF2B5EF4-FFF2-40B4-BE49-F238E27FC236}">
                <a16:creationId xmlns:a16="http://schemas.microsoft.com/office/drawing/2014/main" id="{99774021-B05B-4702-992C-64C8B982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27" name="f1-calls-accent">
            <a:extLst xmlns:a="http://schemas.openxmlformats.org/drawingml/2006/main">
              <a:ext uri="{FF2B5EF4-FFF2-40B4-BE49-F238E27FC236}">
                <a16:creationId xmlns:a16="http://schemas.microsoft.com/office/drawing/2014/main" id="{62220E02-7255-4B16-A299-3D87DADA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63FF"/>
            </a:solidFill>
            <a:prstDash val="solid"/>
          </a:ln>
        </p:spPr>
      </p:sp>
      <p:sp>
        <p:nvSpPr>
          <p:cNvPr id="28" name="f1-calls-tag">
            <a:extLst xmlns:a="http://schemas.openxmlformats.org/drawingml/2006/main">
              <a:ext uri="{FF2B5EF4-FFF2-40B4-BE49-F238E27FC236}">
                <a16:creationId xmlns:a16="http://schemas.microsoft.com/office/drawing/2014/main" id="{7D3E8A23-9EF7-4844-8476-5A49F8B2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3 · RENDER</a:t>
            </a:r>
          </a:p>
        </p:txBody>
      </p:sp>
      <p:sp>
        <p:nvSpPr>
          <p:cNvPr id="29" name="f1-calls-label">
            <a:extLst xmlns:a="http://schemas.openxmlformats.org/drawingml/2006/main">
              <a:ext uri="{FF2B5EF4-FFF2-40B4-BE49-F238E27FC236}">
                <a16:creationId xmlns:a16="http://schemas.microsoft.com/office/drawing/2014/main" id="{BBC38395-7637-4E3F-A493-6A4E294C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480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78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Worker places calls</a:t>
            </a:r>
          </a:p>
        </p:txBody>
      </p:sp>
      <p:sp>
        <p:nvSpPr>
          <p:cNvPr id="30" name="f1-calls-body">
            <a:extLst xmlns:a="http://schemas.openxmlformats.org/drawingml/2006/main">
              <a:ext uri="{FF2B5EF4-FFF2-40B4-BE49-F238E27FC236}">
                <a16:creationId xmlns:a16="http://schemas.microsoft.com/office/drawing/2014/main" id="{0423530A-9D72-4B04-90AA-BD856CDD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1257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Twilio outbound → Realtime SIP</a:t>
            </a:r>
          </a:p>
        </p:txBody>
      </p:sp>
      <p:sp>
        <p:nvSpPr>
          <p:cNvPr id="31" name="f1-quotes">
            <a:extLst xmlns:a="http://schemas.openxmlformats.org/drawingml/2006/main">
              <a:ext uri="{FF2B5EF4-FFF2-40B4-BE49-F238E27FC236}">
                <a16:creationId xmlns:a16="http://schemas.microsoft.com/office/drawing/2014/main" id="{C47A3153-025E-407B-96A7-3BFE1B6E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384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</p:sp>
      <p:sp>
        <p:nvSpPr>
          <p:cNvPr id="32" name="f1-quotes-accent">
            <a:extLst xmlns:a="http://schemas.openxmlformats.org/drawingml/2006/main">
              <a:ext uri="{FF2B5EF4-FFF2-40B4-BE49-F238E27FC236}">
                <a16:creationId xmlns:a16="http://schemas.microsoft.com/office/drawing/2014/main" id="{3B74C936-A0C9-45DA-87FF-81632C24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384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33" name="f1-quotes-tag">
            <a:extLst xmlns:a="http://schemas.openxmlformats.org/drawingml/2006/main">
              <a:ext uri="{FF2B5EF4-FFF2-40B4-BE49-F238E27FC236}">
                <a16:creationId xmlns:a16="http://schemas.microsoft.com/office/drawing/2014/main" id="{9B35F541-A128-4C76-9A6C-9693DD47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4 · VOICE + DATA</a:t>
            </a:r>
          </a:p>
        </p:txBody>
      </p:sp>
      <p:sp>
        <p:nvSpPr>
          <p:cNvPr id="34" name="f1-quotes-label">
            <a:extLst xmlns:a="http://schemas.openxmlformats.org/drawingml/2006/main">
              <a:ext uri="{FF2B5EF4-FFF2-40B4-BE49-F238E27FC236}">
                <a16:creationId xmlns:a16="http://schemas.microsoft.com/office/drawing/2014/main" id="{C97B64DD-4ED0-4D9F-A819-02D6DA3B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Records confirmed quotes</a:t>
            </a:r>
          </a:p>
        </p:txBody>
      </p:sp>
      <p:sp>
        <p:nvSpPr>
          <p:cNvPr id="35" name="f1-quotes-body">
            <a:extLst xmlns:a="http://schemas.openxmlformats.org/drawingml/2006/main">
              <a:ext uri="{FF2B5EF4-FFF2-40B4-BE49-F238E27FC236}">
                <a16:creationId xmlns:a16="http://schemas.microsoft.com/office/drawing/2014/main" id="{68749ED0-B87D-46D0-BB5D-C4373AA8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38550"/>
            <a:ext cx="1257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Carrier never sees the hidden ceiling</a:t>
            </a:r>
          </a:p>
        </p:txBody>
      </p:sp>
      <p:sp>
        <p:nvSpPr>
          <p:cNvPr id="36" name="f1-selection">
            <a:extLst xmlns:a="http://schemas.openxmlformats.org/drawingml/2006/main">
              <a:ext uri="{FF2B5EF4-FFF2-40B4-BE49-F238E27FC236}">
                <a16:creationId xmlns:a16="http://schemas.microsoft.com/office/drawing/2014/main" id="{4AE01BFD-12C5-4427-B41C-0A94107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37" name="f1-selection-accent">
            <a:extLst xmlns:a="http://schemas.openxmlformats.org/drawingml/2006/main">
              <a:ext uri="{FF2B5EF4-FFF2-40B4-BE49-F238E27FC236}">
                <a16:creationId xmlns:a16="http://schemas.microsoft.com/office/drawing/2014/main" id="{9752C6B8-7081-4895-95C6-2FC2585F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63FF"/>
            </a:solidFill>
            <a:prstDash val="solid"/>
          </a:ln>
        </p:spPr>
      </p:sp>
      <p:sp>
        <p:nvSpPr>
          <p:cNvPr id="38" name="f1-selection-tag">
            <a:extLst xmlns:a="http://schemas.openxmlformats.org/drawingml/2006/main">
              <a:ext uri="{FF2B5EF4-FFF2-40B4-BE49-F238E27FC236}">
                <a16:creationId xmlns:a16="http://schemas.microsoft.com/office/drawing/2014/main" id="{0E9843F9-6443-43BE-AEE9-5F4EF590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08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5 · SERVER</a:t>
            </a:r>
          </a:p>
        </p:txBody>
      </p:sp>
      <p:sp>
        <p:nvSpPr>
          <p:cNvPr id="39" name="f1-selection-label">
            <a:extLst xmlns:a="http://schemas.openxmlformats.org/drawingml/2006/main">
              <a:ext uri="{FF2B5EF4-FFF2-40B4-BE49-F238E27FC236}">
                <a16:creationId xmlns:a16="http://schemas.microsoft.com/office/drawing/2014/main" id="{FFFECDA2-EDCA-4733-BA63-F202233D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480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Selects valid lowest offer</a:t>
            </a:r>
          </a:p>
        </p:txBody>
      </p:sp>
      <p:sp>
        <p:nvSpPr>
          <p:cNvPr id="40" name="f1-selection-body">
            <a:extLst xmlns:a="http://schemas.openxmlformats.org/drawingml/2006/main">
              <a:ext uri="{FF2B5EF4-FFF2-40B4-BE49-F238E27FC236}">
                <a16:creationId xmlns:a16="http://schemas.microsoft.com/office/drawing/2014/main" id="{FB49A24F-5041-48E3-9A57-14C501A2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38550"/>
            <a:ext cx="1257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Mandate, currency, equipment and window checked</a:t>
            </a:r>
          </a:p>
        </p:txBody>
      </p:sp>
      <p:sp>
        <p:nvSpPr>
          <p:cNvPr id="41" name="f1-booking">
            <a:extLst xmlns:a="http://schemas.openxmlformats.org/drawingml/2006/main">
              <a:ext uri="{FF2B5EF4-FFF2-40B4-BE49-F238E27FC236}">
                <a16:creationId xmlns:a16="http://schemas.microsoft.com/office/drawing/2014/main" id="{D238594F-6EFE-4EB0-87A4-2C6A5905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38450"/>
            <a:ext cx="1200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42" name="f1-booking-accent">
            <a:extLst xmlns:a="http://schemas.openxmlformats.org/drawingml/2006/main">
              <a:ext uri="{FF2B5EF4-FFF2-40B4-BE49-F238E27FC236}">
                <a16:creationId xmlns:a16="http://schemas.microsoft.com/office/drawing/2014/main" id="{7514977E-F2BE-4C2C-9BBA-EAAA60DC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384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43" name="f1-booking-tag">
            <a:extLst xmlns:a="http://schemas.openxmlformats.org/drawingml/2006/main">
              <a:ext uri="{FF2B5EF4-FFF2-40B4-BE49-F238E27FC236}">
                <a16:creationId xmlns:a16="http://schemas.microsoft.com/office/drawing/2014/main" id="{3F5E3CB6-1392-410A-8C82-4D57367B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908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6 · LEDGER</a:t>
            </a:r>
          </a:p>
        </p:txBody>
      </p:sp>
      <p:sp>
        <p:nvSpPr>
          <p:cNvPr id="44" name="f1-booking-label">
            <a:extLst xmlns:a="http://schemas.openxmlformats.org/drawingml/2006/main">
              <a:ext uri="{FF2B5EF4-FFF2-40B4-BE49-F238E27FC236}">
                <a16:creationId xmlns:a16="http://schemas.microsoft.com/office/drawing/2014/main" id="{90450CDE-1B8B-4FAA-9BEF-4EFAC44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4802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Booking + outbox</a:t>
            </a:r>
          </a:p>
        </p:txBody>
      </p:sp>
      <p:sp>
        <p:nvSpPr>
          <p:cNvPr id="45" name="f1-booking-body">
            <a:extLst xmlns:a="http://schemas.openxmlformats.org/drawingml/2006/main">
              <a:ext uri="{FF2B5EF4-FFF2-40B4-BE49-F238E27FC236}">
                <a16:creationId xmlns:a16="http://schemas.microsoft.com/office/drawing/2014/main" id="{19AFFF7F-A40B-400D-B24A-0E48597D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38550"/>
            <a:ext cx="895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4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Durable event and confirmations</a:t>
            </a:r>
          </a:p>
        </p:txBody>
      </p:sp>
      <p:cxnSp>
        <p:nvCxnSpPr>
          <p:cNvPr id="101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057400" y="33528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cxnSp>
        <p:nvCxnSpPr>
          <p:cNvPr id="102" name=""/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057650" y="33528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cxnSp>
        <p:nvCxnSpPr>
          <p:cNvPr id="103" name=""/>
          <p:cNvCxnSpPr>
            <a:stCxn xmlns:a="http://schemas.openxmlformats.org/drawingml/2006/main" id="26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057900" y="33528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cxnSp>
        <p:nvCxnSpPr>
          <p:cNvPr id="104" name=""/>
          <p:cNvCxnSpPr>
            <a:stCxn xmlns:a="http://schemas.openxmlformats.org/drawingml/2006/main" id="3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058150" y="33528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cxnSp>
        <p:nvCxnSpPr>
          <p:cNvPr id="105" name=""/>
          <p:cNvCxnSpPr>
            <a:stCxn xmlns:a="http://schemas.openxmlformats.org/drawingml/2006/main" id="36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0058400" y="33528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sp>
        <p:nvSpPr>
          <p:cNvPr id="51" name="f1-ledger-band">
            <a:extLst xmlns:a="http://schemas.openxmlformats.org/drawingml/2006/main">
              <a:ext uri="{FF2B5EF4-FFF2-40B4-BE49-F238E27FC236}">
                <a16:creationId xmlns:a16="http://schemas.microsoft.com/office/drawing/2014/main" id="{E7F1C210-C35D-4ABF-A8CA-2D5EE097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91075"/>
            <a:ext cx="11201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2F8F70"/>
            </a:solidFill>
            <a:prstDash val="solid"/>
          </a:ln>
        </p:spPr>
      </p:sp>
      <p:sp>
        <p:nvSpPr>
          <p:cNvPr id="52" name="f1-ledger-label">
            <a:extLst xmlns:a="http://schemas.openxmlformats.org/drawingml/2006/main">
              <a:ext uri="{FF2B5EF4-FFF2-40B4-BE49-F238E27FC236}">
                <a16:creationId xmlns:a16="http://schemas.microsoft.com/office/drawing/2014/main" id="{C79DD7DF-AAAA-4669-9940-125B386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WHAT REMAINS AUDITABLE</a:t>
            </a:r>
          </a:p>
        </p:txBody>
      </p:sp>
      <p:sp>
        <p:nvSpPr>
          <p:cNvPr id="53" name="f1-ledger-text">
            <a:extLst xmlns:a="http://schemas.openxmlformats.org/drawingml/2006/main">
              <a:ext uri="{FF2B5EF4-FFF2-40B4-BE49-F238E27FC236}">
                <a16:creationId xmlns:a16="http://schemas.microsoft.com/office/drawing/2014/main" id="{52023C85-4671-492A-8534-123E0393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43475"/>
            <a:ext cx="878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12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Call IDs · mandate version · each quote · selection rule · booking · notification outbox</a:t>
            </a:r>
          </a:p>
        </p:txBody>
      </p:sp>
      <p:sp>
        <p:nvSpPr>
          <p:cNvPr id="5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22DD701-3066-45C4-BECC-EFAD2230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67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5" name="footer">
            <a:extLst xmlns:a="http://schemas.openxmlformats.org/drawingml/2006/main">
              <a:ext uri="{FF2B5EF4-FFF2-40B4-BE49-F238E27FC236}">
                <a16:creationId xmlns:a16="http://schemas.microsoft.com/office/drawing/2014/main" id="{FD5D705B-D8F6-40D5-8F3E-DF6EDAC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03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If no valid offer arrives, the request remains recoverable; Tango does not manufacture a quote or a booking.</a:t>
            </a:r>
          </a:p>
        </p:txBody>
      </p:sp>
    </p:spTree>
    <p:extLst>
      <p:ext uri="{BB962C8B-B14F-4D97-AF65-F5344CB8AC3E}">
        <p14:creationId xmlns:p14="http://schemas.microsoft.com/office/powerpoint/2010/main" val="1024963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ection">
            <a:extLst xmlns:a="http://schemas.openxmlformats.org/drawingml/2006/main">
              <a:ext uri="{FF2B5EF4-FFF2-40B4-BE49-F238E27FC236}">
                <a16:creationId xmlns:a16="http://schemas.microsoft.com/office/drawing/2014/main" id="{840DE70C-49D1-465A-B316-15BD705E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FLOW 02 · INBOUND CARRIER CHANGE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444BDC3-A400-4426-A538-1D2A489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8E3DA5A6-A4C2-4EBF-A713-0D174FFC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11B575BC-DEFA-4A37-8B18-9AB994A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1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A pickup change is a guarded fork — not a freeform update.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F21D583-5B1A-47B3-BE7F-A7B4F865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The same registered carrier can reschedule only a window that remains inside the active mandate.</a:t>
            </a:r>
          </a:p>
        </p:txBody>
      </p:sp>
      <p:sp>
        <p:nvSpPr>
          <p:cNvPr id="6" name="legend-dot-0">
            <a:extLst xmlns:a="http://schemas.openxmlformats.org/drawingml/2006/main">
              <a:ext uri="{FF2B5EF4-FFF2-40B4-BE49-F238E27FC236}">
                <a16:creationId xmlns:a16="http://schemas.microsoft.com/office/drawing/2014/main" id="{B77F350F-9E5D-408D-9754-35CEC923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legend-label-0">
            <a:extLst xmlns:a="http://schemas.openxmlformats.org/drawingml/2006/main">
              <a:ext uri="{FF2B5EF4-FFF2-40B4-BE49-F238E27FC236}">
                <a16:creationId xmlns:a16="http://schemas.microsoft.com/office/drawing/2014/main" id="{B1848BAC-3E54-4C7E-B00B-42727734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</p:txBody>
      </p:sp>
      <p:sp>
        <p:nvSpPr>
          <p:cNvPr id="8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5F8A1162-2B43-41B2-B3CD-2BBD0283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egend-label-1">
            <a:extLst xmlns:a="http://schemas.openxmlformats.org/drawingml/2006/main">
              <a:ext uri="{FF2B5EF4-FFF2-40B4-BE49-F238E27FC236}">
                <a16:creationId xmlns:a16="http://schemas.microsoft.com/office/drawing/2014/main" id="{8D799651-99F0-4128-949D-9D085CD9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10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66692371-4387-472F-B313-3E27AB0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70"/>
          </a:solidFill>
          <a:ln xmlns:a="http://schemas.openxmlformats.org/drawingml/2006/main" w="9525">
            <a:solidFill>
              <a:srgbClr val="2F8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legend-label-2">
            <a:extLst xmlns:a="http://schemas.openxmlformats.org/drawingml/2006/main">
              <a:ext uri="{FF2B5EF4-FFF2-40B4-BE49-F238E27FC236}">
                <a16:creationId xmlns:a16="http://schemas.microsoft.com/office/drawing/2014/main" id="{79FC2B57-CB5C-4212-80FF-D703E1F1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2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BDF243E2-F4AB-4F8F-93DB-65D9DE10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A22"/>
          </a:solidFill>
          <a:ln xmlns:a="http://schemas.openxmlformats.org/drawingml/2006/main" w="9525">
            <a:solidFill>
              <a:srgbClr val="C56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legend-label-3">
            <a:extLst xmlns:a="http://schemas.openxmlformats.org/drawingml/2006/main">
              <a:ext uri="{FF2B5EF4-FFF2-40B4-BE49-F238E27FC236}">
                <a16:creationId xmlns:a16="http://schemas.microsoft.com/office/drawing/2014/main" id="{5E531E4E-7F2A-4C9D-8A91-68178898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14" name="legend-dot-4">
            <a:extLst xmlns:a="http://schemas.openxmlformats.org/drawingml/2006/main">
              <a:ext uri="{FF2B5EF4-FFF2-40B4-BE49-F238E27FC236}">
                <a16:creationId xmlns:a16="http://schemas.microsoft.com/office/drawing/2014/main" id="{C122DE9D-EE07-4B67-ABE7-BE69C8BB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4C4C"/>
          </a:solidFill>
          <a:ln xmlns:a="http://schemas.openxmlformats.org/drawingml/2006/main" w="9525">
            <a:solidFill>
              <a:srgbClr val="D24C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legend-label-4">
            <a:extLst xmlns:a="http://schemas.openxmlformats.org/drawingml/2006/main">
              <a:ext uri="{FF2B5EF4-FFF2-40B4-BE49-F238E27FC236}">
                <a16:creationId xmlns:a16="http://schemas.microsoft.com/office/drawing/2014/main" id="{51961755-6607-4C4B-BC9F-97879251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Exception</a:t>
            </a:r>
          </a:p>
        </p:txBody>
      </p:sp>
      <p:sp>
        <p:nvSpPr>
          <p:cNvPr id="16" name="f2-carrier">
            <a:extLst xmlns:a="http://schemas.openxmlformats.org/drawingml/2006/main">
              <a:ext uri="{FF2B5EF4-FFF2-40B4-BE49-F238E27FC236}">
                <a16:creationId xmlns:a16="http://schemas.microsoft.com/office/drawing/2014/main" id="{711CCC35-DDC0-4A40-B4AA-B9D40BD3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1430">
            <a:solidFill>
              <a:srgbClr val="C56A22"/>
            </a:solidFill>
            <a:prstDash val="solid"/>
          </a:ln>
        </p:spPr>
      </p:sp>
      <p:sp>
        <p:nvSpPr>
          <p:cNvPr id="17" name="f2-carrier-accent">
            <a:extLst xmlns:a="http://schemas.openxmlformats.org/drawingml/2006/main">
              <a:ext uri="{FF2B5EF4-FFF2-40B4-BE49-F238E27FC236}">
                <a16:creationId xmlns:a16="http://schemas.microsoft.com/office/drawing/2014/main" id="{9E0E0E99-8F85-4AA0-A6ED-747745A9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56A22"/>
            </a:solidFill>
            <a:prstDash val="solid"/>
          </a:ln>
        </p:spPr>
      </p:sp>
      <p:sp>
        <p:nvSpPr>
          <p:cNvPr id="18" name="f2-carrier-tag">
            <a:extLst xmlns:a="http://schemas.openxmlformats.org/drawingml/2006/main">
              <a:ext uri="{FF2B5EF4-FFF2-40B4-BE49-F238E27FC236}">
                <a16:creationId xmlns:a16="http://schemas.microsoft.com/office/drawing/2014/main" id="{7E55EBAA-A0FF-4407-B106-EB20B846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1 · CARRIER CALL</a:t>
            </a:r>
          </a:p>
        </p:txBody>
      </p:sp>
      <p:sp>
        <p:nvSpPr>
          <p:cNvPr id="19" name="f2-carrier-label">
            <a:extLst xmlns:a="http://schemas.openxmlformats.org/drawingml/2006/main">
              <a:ext uri="{FF2B5EF4-FFF2-40B4-BE49-F238E27FC236}">
                <a16:creationId xmlns:a16="http://schemas.microsoft.com/office/drawing/2014/main" id="{ED02069B-1E5B-41F6-8C55-96AD8E23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Reports a delay</a:t>
            </a:r>
          </a:p>
        </p:txBody>
      </p:sp>
      <p:sp>
        <p:nvSpPr>
          <p:cNvPr id="20" name="f2-route">
            <a:extLst xmlns:a="http://schemas.openxmlformats.org/drawingml/2006/main">
              <a:ext uri="{FF2B5EF4-FFF2-40B4-BE49-F238E27FC236}">
                <a16:creationId xmlns:a16="http://schemas.microsoft.com/office/drawing/2014/main" id="{6F3BF292-E878-4570-9565-9171604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21" name="f2-route-accent">
            <a:extLst xmlns:a="http://schemas.openxmlformats.org/drawingml/2006/main">
              <a:ext uri="{FF2B5EF4-FFF2-40B4-BE49-F238E27FC236}">
                <a16:creationId xmlns:a16="http://schemas.microsoft.com/office/drawing/2014/main" id="{45A93E88-E145-463C-8D72-B10BACBE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63FF"/>
            </a:solidFill>
            <a:prstDash val="solid"/>
          </a:ln>
        </p:spPr>
      </p:sp>
      <p:sp>
        <p:nvSpPr>
          <p:cNvPr id="22" name="f2-route-tag">
            <a:extLst xmlns:a="http://schemas.openxmlformats.org/drawingml/2006/main">
              <a:ext uri="{FF2B5EF4-FFF2-40B4-BE49-F238E27FC236}">
                <a16:creationId xmlns:a16="http://schemas.microsoft.com/office/drawing/2014/main" id="{DD90C562-EDF0-457E-A392-5A4480CA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242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2 · RUNTIME</a:t>
            </a:r>
          </a:p>
        </p:txBody>
      </p:sp>
      <p:sp>
        <p:nvSpPr>
          <p:cNvPr id="23" name="f2-route-label">
            <a:extLst xmlns:a="http://schemas.openxmlformats.org/drawingml/2006/main">
              <a:ext uri="{FF2B5EF4-FFF2-40B4-BE49-F238E27FC236}">
                <a16:creationId xmlns:a16="http://schemas.microsoft.com/office/drawing/2014/main" id="{695B030C-3DBB-4235-8A44-DAB4D393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8137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Routes the operation</a:t>
            </a:r>
          </a:p>
        </p:txBody>
      </p:sp>
      <p:sp>
        <p:nvSpPr>
          <p:cNvPr id="24" name="f2-request">
            <a:extLst xmlns:a="http://schemas.openxmlformats.org/drawingml/2006/main">
              <a:ext uri="{FF2B5EF4-FFF2-40B4-BE49-F238E27FC236}">
                <a16:creationId xmlns:a16="http://schemas.microsoft.com/office/drawing/2014/main" id="{CB988571-013D-4ECF-8AD2-FBC58774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</p:sp>
      <p:sp>
        <p:nvSpPr>
          <p:cNvPr id="25" name="f2-request-accent">
            <a:extLst xmlns:a="http://schemas.openxmlformats.org/drawingml/2006/main">
              <a:ext uri="{FF2B5EF4-FFF2-40B4-BE49-F238E27FC236}">
                <a16:creationId xmlns:a16="http://schemas.microsoft.com/office/drawing/2014/main" id="{4FBDEE27-4E57-4888-B672-16B5C2A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26" name="f2-request-tag">
            <a:extLst xmlns:a="http://schemas.openxmlformats.org/drawingml/2006/main">
              <a:ext uri="{FF2B5EF4-FFF2-40B4-BE49-F238E27FC236}">
                <a16:creationId xmlns:a16="http://schemas.microsoft.com/office/drawing/2014/main" id="{D1AB98D3-FAE6-4BC4-9383-33F8B4AE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3 · TOOL</a:t>
            </a:r>
          </a:p>
        </p:txBody>
      </p:sp>
      <p:sp>
        <p:nvSpPr>
          <p:cNvPr id="27" name="f2-request-label">
            <a:extLst xmlns:a="http://schemas.openxmlformats.org/drawingml/2006/main">
              <a:ext uri="{FF2B5EF4-FFF2-40B4-BE49-F238E27FC236}">
                <a16:creationId xmlns:a16="http://schemas.microsoft.com/office/drawing/2014/main" id="{A8A5A96B-5512-4CCA-9CEA-82B48CE3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Captures the new window</a:t>
            </a:r>
          </a:p>
        </p:txBody>
      </p:sp>
      <p:sp>
        <p:nvSpPr>
          <p:cNvPr id="28" name="f2-check">
            <a:extLst xmlns:a="http://schemas.openxmlformats.org/drawingml/2006/main">
              <a:ext uri="{FF2B5EF4-FFF2-40B4-BE49-F238E27FC236}">
                <a16:creationId xmlns:a16="http://schemas.microsoft.com/office/drawing/2014/main" id="{E65DC8F0-C803-40D5-A54D-55762CCF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14650"/>
            <a:ext cx="125730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DE"/>
          </a:solidFill>
          <a:ln xmlns:a="http://schemas.openxmlformats.org/drawingml/2006/main" w="13335">
            <a:solidFill>
              <a:srgbClr val="C68A18"/>
            </a:solidFill>
            <a:prstDash val="solid"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Inside</a:t>
            </a:r>
          </a:p>
          <a:p xmlns:a="http://schemas.openxmlformats.org/drawingml/2006/main">
            <a:pPr algn="ctr">
              <a:defRPr sz="10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mandate?</a:t>
            </a:r>
          </a:p>
        </p:txBody>
      </p:sp>
      <p:sp>
        <p:nvSpPr>
          <p:cNvPr id="29" name="f2-apply">
            <a:extLst xmlns:a="http://schemas.openxmlformats.org/drawingml/2006/main">
              <a:ext uri="{FF2B5EF4-FFF2-40B4-BE49-F238E27FC236}">
                <a16:creationId xmlns:a16="http://schemas.microsoft.com/office/drawing/2014/main" id="{9FDF5435-6EB4-4AAD-B486-523AD7FB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30" name="f2-apply-accent">
            <a:extLst xmlns:a="http://schemas.openxmlformats.org/drawingml/2006/main">
              <a:ext uri="{FF2B5EF4-FFF2-40B4-BE49-F238E27FC236}">
                <a16:creationId xmlns:a16="http://schemas.microsoft.com/office/drawing/2014/main" id="{EE684897-E506-4620-8DC5-90526153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31" name="f2-apply-tag">
            <a:extLst xmlns:a="http://schemas.openxmlformats.org/drawingml/2006/main">
              <a:ext uri="{FF2B5EF4-FFF2-40B4-BE49-F238E27FC236}">
                <a16:creationId xmlns:a16="http://schemas.microsoft.com/office/drawing/2014/main" id="{D62B11D2-59BF-4C8E-8CC0-CA28445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8602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YES · SUPABASE</a:t>
            </a:r>
          </a:p>
        </p:txBody>
      </p:sp>
      <p:sp>
        <p:nvSpPr>
          <p:cNvPr id="32" name="f2-apply-label">
            <a:extLst xmlns:a="http://schemas.openxmlformats.org/drawingml/2006/main">
              <a:ext uri="{FF2B5EF4-FFF2-40B4-BE49-F238E27FC236}">
                <a16:creationId xmlns:a16="http://schemas.microsoft.com/office/drawing/2014/main" id="{96C719B0-4D76-4F14-BD1E-A544D234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Apply reschedule</a:t>
            </a:r>
          </a:p>
        </p:txBody>
      </p:sp>
      <p:sp>
        <p:nvSpPr>
          <p:cNvPr id="33" name="f2-escalate">
            <a:extLst xmlns:a="http://schemas.openxmlformats.org/drawingml/2006/main">
              <a:ext uri="{FF2B5EF4-FFF2-40B4-BE49-F238E27FC236}">
                <a16:creationId xmlns:a16="http://schemas.microsoft.com/office/drawing/2014/main" id="{949F342C-CCCF-4C06-AC2F-18D619DA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719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EE"/>
          </a:solidFill>
          <a:ln xmlns:a="http://schemas.openxmlformats.org/drawingml/2006/main" w="11430">
            <a:solidFill>
              <a:srgbClr val="D24C4C"/>
            </a:solidFill>
            <a:prstDash val="solid"/>
          </a:ln>
        </p:spPr>
      </p:sp>
      <p:sp>
        <p:nvSpPr>
          <p:cNvPr id="34" name="f2-escalate-accent">
            <a:extLst xmlns:a="http://schemas.openxmlformats.org/drawingml/2006/main">
              <a:ext uri="{FF2B5EF4-FFF2-40B4-BE49-F238E27FC236}">
                <a16:creationId xmlns:a16="http://schemas.microsoft.com/office/drawing/2014/main" id="{1BFF7265-FC27-48FA-9BC0-6911C8AF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719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24C4C"/>
            </a:solidFill>
            <a:prstDash val="solid"/>
          </a:ln>
        </p:spPr>
      </p:sp>
      <p:sp>
        <p:nvSpPr>
          <p:cNvPr id="35" name="f2-escalate-tag">
            <a:extLst xmlns:a="http://schemas.openxmlformats.org/drawingml/2006/main">
              <a:ext uri="{FF2B5EF4-FFF2-40B4-BE49-F238E27FC236}">
                <a16:creationId xmlns:a16="http://schemas.microsoft.com/office/drawing/2014/main" id="{34E2FAF9-9D99-446C-B58D-9350CECA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3243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rPr>
              <a:t>NO · ESCALATION</a:t>
            </a:r>
          </a:p>
        </p:txBody>
      </p:sp>
      <p:sp>
        <p:nvSpPr>
          <p:cNvPr id="36" name="f2-escalate-label">
            <a:extLst xmlns:a="http://schemas.openxmlformats.org/drawingml/2006/main">
              <a:ext uri="{FF2B5EF4-FFF2-40B4-BE49-F238E27FC236}">
                <a16:creationId xmlns:a16="http://schemas.microsoft.com/office/drawing/2014/main" id="{EEB3A71D-DFCE-4146-A3E4-BD4155ED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581525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34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Keep booking unchanged</a:t>
            </a:r>
          </a:p>
        </p:txBody>
      </p:sp>
      <p:cxnSp>
        <p:nvCxnSpPr>
          <p:cNvPr id="82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190750" y="34385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2F80ED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343400" y="34385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496050" y="3438525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C68A18"/>
            </a:solidFill>
            <a:prstDash val="soli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505825" y="2781300"/>
            <a:ext cx="68580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669">
            <a:solidFill>
              <a:srgbClr val="2F8F70"/>
            </a:solidFill>
            <a:prstDash val="soli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28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505825" y="3438525"/>
            <a:ext cx="68580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669">
            <a:solidFill>
              <a:srgbClr val="D24C4C"/>
            </a:solidFill>
            <a:prstDash val="solid"/>
            <a:tailEnd type="arrow" w="sm" len="sm"/>
          </a:ln>
        </p:spPr>
      </p:cxnSp>
      <p:sp>
        <p:nvSpPr>
          <p:cNvPr id="42" name="f2-yes">
            <a:extLst xmlns:a="http://schemas.openxmlformats.org/drawingml/2006/main">
              <a:ext uri="{FF2B5EF4-FFF2-40B4-BE49-F238E27FC236}">
                <a16:creationId xmlns:a16="http://schemas.microsoft.com/office/drawing/2014/main" id="{4B047D3A-00C1-4469-81DF-6D6552B5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43" name="f2-no">
            <a:extLst xmlns:a="http://schemas.openxmlformats.org/drawingml/2006/main">
              <a:ext uri="{FF2B5EF4-FFF2-40B4-BE49-F238E27FC236}">
                <a16:creationId xmlns:a16="http://schemas.microsoft.com/office/drawing/2014/main" id="{BAB8882E-FACC-4BC1-BBFE-F9506AA9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29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4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56EAD9-2E94-4921-9E97-41E1940A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67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3489775E-3CEA-4794-8576-E8350BF0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03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Price, route, equipment or payment changes are outside this reschedule path and require review rather than a disguised update.</a:t>
            </a:r>
          </a:p>
        </p:txBody>
      </p:sp>
    </p:spTree>
    <p:extLst>
      <p:ext uri="{BB962C8B-B14F-4D97-AF65-F5344CB8AC3E}">
        <p14:creationId xmlns:p14="http://schemas.microsoft.com/office/powerpoint/2010/main" val="479980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ection">
            <a:extLst xmlns:a="http://schemas.openxmlformats.org/drawingml/2006/main">
              <a:ext uri="{FF2B5EF4-FFF2-40B4-BE49-F238E27FC236}">
                <a16:creationId xmlns:a16="http://schemas.microsoft.com/office/drawing/2014/main" id="{8F1B32CD-834B-4192-AE63-AF7ED2DC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FLOW 03 · CLIENT MANDATE CHANGE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140A659-440C-45C5-9623-FA3EDF00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E3713B2D-3ADE-4060-AE7A-F8A64CDD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796C03B9-EF92-4B60-A727-42C55CA2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8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A new mandate reopens sourcing only when it invalidates the current booking.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A17DC0D-5604-4593-BA47-1F15655E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The old booking stays visible until a valid replacement exists.</a:t>
            </a:r>
          </a:p>
        </p:txBody>
      </p:sp>
      <p:sp>
        <p:nvSpPr>
          <p:cNvPr id="6" name="legend-dot-0">
            <a:extLst xmlns:a="http://schemas.openxmlformats.org/drawingml/2006/main">
              <a:ext uri="{FF2B5EF4-FFF2-40B4-BE49-F238E27FC236}">
                <a16:creationId xmlns:a16="http://schemas.microsoft.com/office/drawing/2014/main" id="{38313F84-DB81-463F-9799-D976DD4B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legend-label-0">
            <a:extLst xmlns:a="http://schemas.openxmlformats.org/drawingml/2006/main">
              <a:ext uri="{FF2B5EF4-FFF2-40B4-BE49-F238E27FC236}">
                <a16:creationId xmlns:a16="http://schemas.microsoft.com/office/drawing/2014/main" id="{4B747EC5-7872-4AD4-8CCD-3322CFD7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</p:txBody>
      </p:sp>
      <p:sp>
        <p:nvSpPr>
          <p:cNvPr id="8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1A95836C-786A-4744-9D8A-8E52E3D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egend-label-1">
            <a:extLst xmlns:a="http://schemas.openxmlformats.org/drawingml/2006/main">
              <a:ext uri="{FF2B5EF4-FFF2-40B4-BE49-F238E27FC236}">
                <a16:creationId xmlns:a16="http://schemas.microsoft.com/office/drawing/2014/main" id="{CEC67E60-DF86-41D3-8B50-CEEAF432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10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DDD1912C-D86E-4EB3-9CC5-A4333CA1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70"/>
          </a:solidFill>
          <a:ln xmlns:a="http://schemas.openxmlformats.org/drawingml/2006/main" w="9525">
            <a:solidFill>
              <a:srgbClr val="2F8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legend-label-2">
            <a:extLst xmlns:a="http://schemas.openxmlformats.org/drawingml/2006/main">
              <a:ext uri="{FF2B5EF4-FFF2-40B4-BE49-F238E27FC236}">
                <a16:creationId xmlns:a16="http://schemas.microsoft.com/office/drawing/2014/main" id="{B1556816-050D-4B3F-979F-2EA1B1CA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2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B454515A-FF0B-4DC8-A299-1EDD53AD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A22"/>
          </a:solidFill>
          <a:ln xmlns:a="http://schemas.openxmlformats.org/drawingml/2006/main" w="9525">
            <a:solidFill>
              <a:srgbClr val="C56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legend-label-3">
            <a:extLst xmlns:a="http://schemas.openxmlformats.org/drawingml/2006/main">
              <a:ext uri="{FF2B5EF4-FFF2-40B4-BE49-F238E27FC236}">
                <a16:creationId xmlns:a16="http://schemas.microsoft.com/office/drawing/2014/main" id="{C68D1AC7-3AF0-4E34-8739-03080984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14" name="legend-dot-4">
            <a:extLst xmlns:a="http://schemas.openxmlformats.org/drawingml/2006/main">
              <a:ext uri="{FF2B5EF4-FFF2-40B4-BE49-F238E27FC236}">
                <a16:creationId xmlns:a16="http://schemas.microsoft.com/office/drawing/2014/main" id="{3BCC64ED-8465-4A08-95BD-70FB9E9D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4C4C"/>
          </a:solidFill>
          <a:ln xmlns:a="http://schemas.openxmlformats.org/drawingml/2006/main" w="9525">
            <a:solidFill>
              <a:srgbClr val="D24C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legend-label-4">
            <a:extLst xmlns:a="http://schemas.openxmlformats.org/drawingml/2006/main">
              <a:ext uri="{FF2B5EF4-FFF2-40B4-BE49-F238E27FC236}">
                <a16:creationId xmlns:a16="http://schemas.microsoft.com/office/drawing/2014/main" id="{85C170E7-2F80-4295-8EE8-2207FCF9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Exception</a:t>
            </a:r>
          </a:p>
        </p:txBody>
      </p:sp>
      <p:sp>
        <p:nvSpPr>
          <p:cNvPr id="16" name="f3-client">
            <a:extLst xmlns:a="http://schemas.openxmlformats.org/drawingml/2006/main">
              <a:ext uri="{FF2B5EF4-FFF2-40B4-BE49-F238E27FC236}">
                <a16:creationId xmlns:a16="http://schemas.microsoft.com/office/drawing/2014/main" id="{F13D3D9A-6F07-4F53-BCB6-2977999E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1430">
            <a:solidFill>
              <a:srgbClr val="C56A22"/>
            </a:solidFill>
            <a:prstDash val="solid"/>
          </a:ln>
        </p:spPr>
      </p:sp>
      <p:sp>
        <p:nvSpPr>
          <p:cNvPr id="17" name="f3-client-accent">
            <a:extLst xmlns:a="http://schemas.openxmlformats.org/drawingml/2006/main">
              <a:ext uri="{FF2B5EF4-FFF2-40B4-BE49-F238E27FC236}">
                <a16:creationId xmlns:a16="http://schemas.microsoft.com/office/drawing/2014/main" id="{2F563354-FCBB-445A-A1E8-DEDE895E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56A22"/>
            </a:solidFill>
            <a:prstDash val="solid"/>
          </a:ln>
        </p:spPr>
      </p:sp>
      <p:sp>
        <p:nvSpPr>
          <p:cNvPr id="18" name="f3-client-tag">
            <a:extLst xmlns:a="http://schemas.openxmlformats.org/drawingml/2006/main">
              <a:ext uri="{FF2B5EF4-FFF2-40B4-BE49-F238E27FC236}">
                <a16:creationId xmlns:a16="http://schemas.microsoft.com/office/drawing/2014/main" id="{5C4FE3D9-7A88-4D68-A162-FC7B79AF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1 · CLIENT CALL</a:t>
            </a:r>
          </a:p>
        </p:txBody>
      </p:sp>
      <p:sp>
        <p:nvSpPr>
          <p:cNvPr id="19" name="f3-client-label">
            <a:extLst xmlns:a="http://schemas.openxmlformats.org/drawingml/2006/main">
              <a:ext uri="{FF2B5EF4-FFF2-40B4-BE49-F238E27FC236}">
                <a16:creationId xmlns:a16="http://schemas.microsoft.com/office/drawing/2014/main" id="{FDF21CCA-B693-4DD4-AF7A-700E73A2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Changes constraints</a:t>
            </a:r>
          </a:p>
        </p:txBody>
      </p:sp>
      <p:sp>
        <p:nvSpPr>
          <p:cNvPr id="20" name="f3-mandate">
            <a:extLst xmlns:a="http://schemas.openxmlformats.org/drawingml/2006/main">
              <a:ext uri="{FF2B5EF4-FFF2-40B4-BE49-F238E27FC236}">
                <a16:creationId xmlns:a16="http://schemas.microsoft.com/office/drawing/2014/main" id="{FAA40307-2CA4-4E92-88FA-716358C3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71800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21" name="f3-mandate-accent">
            <a:extLst xmlns:a="http://schemas.openxmlformats.org/drawingml/2006/main">
              <a:ext uri="{FF2B5EF4-FFF2-40B4-BE49-F238E27FC236}">
                <a16:creationId xmlns:a16="http://schemas.microsoft.com/office/drawing/2014/main" id="{B93A2E11-C83A-4760-A72C-D8E4B446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7180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63FF"/>
            </a:solidFill>
            <a:prstDash val="solid"/>
          </a:ln>
        </p:spPr>
      </p:sp>
      <p:sp>
        <p:nvSpPr>
          <p:cNvPr id="22" name="f3-mandate-tag">
            <a:extLst xmlns:a="http://schemas.openxmlformats.org/drawingml/2006/main">
              <a:ext uri="{FF2B5EF4-FFF2-40B4-BE49-F238E27FC236}">
                <a16:creationId xmlns:a16="http://schemas.microsoft.com/office/drawing/2014/main" id="{A6751490-DD5B-4452-852C-162BE7AF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24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2 · SERVER</a:t>
            </a:r>
          </a:p>
        </p:txBody>
      </p:sp>
      <p:sp>
        <p:nvSpPr>
          <p:cNvPr id="23" name="f3-mandate-label">
            <a:extLst xmlns:a="http://schemas.openxmlformats.org/drawingml/2006/main">
              <a:ext uri="{FF2B5EF4-FFF2-40B4-BE49-F238E27FC236}">
                <a16:creationId xmlns:a16="http://schemas.microsoft.com/office/drawing/2014/main" id="{4037DAE0-6D45-406A-9B8B-29113A1A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3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Versions the mandate</a:t>
            </a:r>
          </a:p>
        </p:txBody>
      </p:sp>
      <p:sp>
        <p:nvSpPr>
          <p:cNvPr id="24" name="f3-compare">
            <a:extLst xmlns:a="http://schemas.openxmlformats.org/drawingml/2006/main">
              <a:ext uri="{FF2B5EF4-FFF2-40B4-BE49-F238E27FC236}">
                <a16:creationId xmlns:a16="http://schemas.microsoft.com/office/drawing/2014/main" id="{C570B936-0051-4367-AFC0-20378C84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1638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25" name="f3-compare-accent">
            <a:extLst xmlns:a="http://schemas.openxmlformats.org/drawingml/2006/main">
              <a:ext uri="{FF2B5EF4-FFF2-40B4-BE49-F238E27FC236}">
                <a16:creationId xmlns:a16="http://schemas.microsoft.com/office/drawing/2014/main" id="{150FDC4E-7E75-48FF-9D76-83FC87A7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63FF"/>
            </a:solidFill>
            <a:prstDash val="solid"/>
          </a:ln>
        </p:spPr>
      </p:sp>
      <p:sp>
        <p:nvSpPr>
          <p:cNvPr id="26" name="f3-compare-tag">
            <a:extLst xmlns:a="http://schemas.openxmlformats.org/drawingml/2006/main">
              <a:ext uri="{FF2B5EF4-FFF2-40B4-BE49-F238E27FC236}">
                <a16:creationId xmlns:a16="http://schemas.microsoft.com/office/drawing/2014/main" id="{0F80023B-0738-49D2-B5E4-08B9821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24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3 · SERVER</a:t>
            </a:r>
          </a:p>
        </p:txBody>
      </p:sp>
      <p:sp>
        <p:nvSpPr>
          <p:cNvPr id="27" name="f3-compare-label">
            <a:extLst xmlns:a="http://schemas.openxmlformats.org/drawingml/2006/main">
              <a:ext uri="{FF2B5EF4-FFF2-40B4-BE49-F238E27FC236}">
                <a16:creationId xmlns:a16="http://schemas.microsoft.com/office/drawing/2014/main" id="{DB879AE1-6602-4D97-A774-57D7DF71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813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Checks current booking</a:t>
            </a:r>
          </a:p>
        </p:txBody>
      </p:sp>
      <p:sp>
        <p:nvSpPr>
          <p:cNvPr id="28" name="f3-valid">
            <a:extLst xmlns:a="http://schemas.openxmlformats.org/drawingml/2006/main">
              <a:ext uri="{FF2B5EF4-FFF2-40B4-BE49-F238E27FC236}">
                <a16:creationId xmlns:a16="http://schemas.microsoft.com/office/drawing/2014/main" id="{3F7C7A39-C7FD-4FD1-90C4-822B86D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14650"/>
            <a:ext cx="125730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DE"/>
          </a:solidFill>
          <a:ln xmlns:a="http://schemas.openxmlformats.org/drawingml/2006/main" w="13335">
            <a:solidFill>
              <a:srgbClr val="C68A18"/>
            </a:solidFill>
            <a:prstDash val="solid"/>
          </a:ln>
        </p:spPr>
        <p:txBody>
          <a:bodyPr xmlns:a="http://schemas.openxmlformats.org/drawingml/2006/main" anchor="ctr">
            <a:normAutofit fontScale="846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Booking</a:t>
            </a:r>
          </a:p>
          <a:p xmlns:a="http://schemas.openxmlformats.org/drawingml/2006/main">
            <a:pPr algn="ctr">
              <a:defRPr sz="10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still valid?</a:t>
            </a:r>
          </a:p>
        </p:txBody>
      </p:sp>
      <p:sp>
        <p:nvSpPr>
          <p:cNvPr id="29" name="f3-retain">
            <a:extLst xmlns:a="http://schemas.openxmlformats.org/drawingml/2006/main">
              <a:ext uri="{FF2B5EF4-FFF2-40B4-BE49-F238E27FC236}">
                <a16:creationId xmlns:a16="http://schemas.microsoft.com/office/drawing/2014/main" id="{1A353B61-9D3F-406A-B4EF-DE82B189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457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30" name="f3-retain-accent">
            <a:extLst xmlns:a="http://schemas.openxmlformats.org/drawingml/2006/main">
              <a:ext uri="{FF2B5EF4-FFF2-40B4-BE49-F238E27FC236}">
                <a16:creationId xmlns:a16="http://schemas.microsoft.com/office/drawing/2014/main" id="{736EBBA7-D859-4098-A373-F431E920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31" name="f3-retain-tag">
            <a:extLst xmlns:a="http://schemas.openxmlformats.org/drawingml/2006/main">
              <a:ext uri="{FF2B5EF4-FFF2-40B4-BE49-F238E27FC236}">
                <a16:creationId xmlns:a16="http://schemas.microsoft.com/office/drawing/2014/main" id="{D9C3E577-CDCA-4B3E-86A2-F5C2CE65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8602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YES · LEDGER</a:t>
            </a:r>
          </a:p>
        </p:txBody>
      </p:sp>
      <p:sp>
        <p:nvSpPr>
          <p:cNvPr id="32" name="f3-retain-label">
            <a:extLst xmlns:a="http://schemas.openxmlformats.org/drawingml/2006/main">
              <a:ext uri="{FF2B5EF4-FFF2-40B4-BE49-F238E27FC236}">
                <a16:creationId xmlns:a16="http://schemas.microsoft.com/office/drawing/2014/main" id="{86C48FDD-E648-4668-8898-50C44AD8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432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Keep current booking</a:t>
            </a:r>
          </a:p>
        </p:txBody>
      </p:sp>
      <p:sp>
        <p:nvSpPr>
          <p:cNvPr id="33" name="f3-source">
            <a:extLst xmlns:a="http://schemas.openxmlformats.org/drawingml/2006/main">
              <a:ext uri="{FF2B5EF4-FFF2-40B4-BE49-F238E27FC236}">
                <a16:creationId xmlns:a16="http://schemas.microsoft.com/office/drawing/2014/main" id="{4BFC20C7-EEFE-442C-8AB8-2592129B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71950"/>
            <a:ext cx="2457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34" name="f3-source-accent">
            <a:extLst xmlns:a="http://schemas.openxmlformats.org/drawingml/2006/main">
              <a:ext uri="{FF2B5EF4-FFF2-40B4-BE49-F238E27FC236}">
                <a16:creationId xmlns:a16="http://schemas.microsoft.com/office/drawing/2014/main" id="{CE01B16F-741B-49CF-84F6-C07D9C1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719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63FF"/>
            </a:solidFill>
            <a:prstDash val="solid"/>
          </a:ln>
        </p:spPr>
      </p:sp>
      <p:sp>
        <p:nvSpPr>
          <p:cNvPr id="35" name="f3-source-tag">
            <a:extLst xmlns:a="http://schemas.openxmlformats.org/drawingml/2006/main">
              <a:ext uri="{FF2B5EF4-FFF2-40B4-BE49-F238E27FC236}">
                <a16:creationId xmlns:a16="http://schemas.microsoft.com/office/drawing/2014/main" id="{4C23B934-A843-4E07-9DD2-5B005E31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2435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NO · OUTBOX</a:t>
            </a:r>
          </a:p>
        </p:txBody>
      </p:sp>
      <p:sp>
        <p:nvSpPr>
          <p:cNvPr id="36" name="f3-source-label">
            <a:extLst xmlns:a="http://schemas.openxmlformats.org/drawingml/2006/main">
              <a:ext uri="{FF2B5EF4-FFF2-40B4-BE49-F238E27FC236}">
                <a16:creationId xmlns:a16="http://schemas.microsoft.com/office/drawing/2014/main" id="{239CEB32-0B8A-48EF-8CC7-6ADF115A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815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Run sourcing again</a:t>
            </a:r>
          </a:p>
        </p:txBody>
      </p:sp>
      <p:cxnSp>
        <p:nvCxnSpPr>
          <p:cNvPr id="82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133600" y="3429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C56A22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210050" y="3429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286500" y="3429000"/>
            <a:ext cx="71437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669">
            <a:solidFill>
              <a:srgbClr val="C68A18"/>
            </a:solidFill>
            <a:prstDash val="soli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258175" y="2781300"/>
            <a:ext cx="74295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669">
            <a:solidFill>
              <a:srgbClr val="2F8F70"/>
            </a:solidFill>
            <a:prstDash val="soli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28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258175" y="3438525"/>
            <a:ext cx="74295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sp>
        <p:nvSpPr>
          <p:cNvPr id="42" name="f3-yes">
            <a:extLst xmlns:a="http://schemas.openxmlformats.org/drawingml/2006/main">
              <a:ext uri="{FF2B5EF4-FFF2-40B4-BE49-F238E27FC236}">
                <a16:creationId xmlns:a16="http://schemas.microsoft.com/office/drawing/2014/main" id="{D173EDE5-6000-4AED-8021-C0B1DC57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43" name="f3-no">
            <a:extLst xmlns:a="http://schemas.openxmlformats.org/drawingml/2006/main">
              <a:ext uri="{FF2B5EF4-FFF2-40B4-BE49-F238E27FC236}">
                <a16:creationId xmlns:a16="http://schemas.microsoft.com/office/drawing/2014/main" id="{F5299971-9FCD-4117-BDCA-AE32DA64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29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4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6F97F0-516D-4DCC-916D-6458D6D7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67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741B7BB5-E5E2-45B6-8F36-6319CEC3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03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If no replacement quote is valid, the existing booking remains and the exception is escalated with the mandate and context.</a:t>
            </a:r>
          </a:p>
        </p:txBody>
      </p:sp>
    </p:spTree>
    <p:extLst>
      <p:ext uri="{BB962C8B-B14F-4D97-AF65-F5344CB8AC3E}">
        <p14:creationId xmlns:p14="http://schemas.microsoft.com/office/powerpoint/2010/main" val="27039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ection">
            <a:extLst xmlns:a="http://schemas.openxmlformats.org/drawingml/2006/main">
              <a:ext uri="{FF2B5EF4-FFF2-40B4-BE49-F238E27FC236}">
                <a16:creationId xmlns:a16="http://schemas.microsoft.com/office/drawing/2014/main" id="{C16EFB2E-FA4E-400F-A0A4-34DFED4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FLOW 04 · CANCELLATION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60F6C33-0842-4BEB-A84A-FE7C0380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BCB2B151-0446-4B98-A3AB-E93903D9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34098935-BDBB-4C85-840F-97D0AEAB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8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Cancellation preserves history and stops future work; it never fabricates an external notification.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9358B2A-1D96-4218-B3D4-94EF57AF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Client and carrier cancellation are distinct state transitions, shown as separate lanes.</a:t>
            </a:r>
          </a:p>
        </p:txBody>
      </p:sp>
      <p:sp>
        <p:nvSpPr>
          <p:cNvPr id="6" name="legend-dot-0">
            <a:extLst xmlns:a="http://schemas.openxmlformats.org/drawingml/2006/main">
              <a:ext uri="{FF2B5EF4-FFF2-40B4-BE49-F238E27FC236}">
                <a16:creationId xmlns:a16="http://schemas.microsoft.com/office/drawing/2014/main" id="{6A3AB32B-93DE-4BBD-BD61-1CD6DDBC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legend-label-0">
            <a:extLst xmlns:a="http://schemas.openxmlformats.org/drawingml/2006/main">
              <a:ext uri="{FF2B5EF4-FFF2-40B4-BE49-F238E27FC236}">
                <a16:creationId xmlns:a16="http://schemas.microsoft.com/office/drawing/2014/main" id="{8909AC40-830A-4F0D-84EA-262ED8DD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</p:txBody>
      </p:sp>
      <p:sp>
        <p:nvSpPr>
          <p:cNvPr id="8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0BFA7D73-7C7A-4C2A-AA1F-3DBF8D24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egend-label-1">
            <a:extLst xmlns:a="http://schemas.openxmlformats.org/drawingml/2006/main">
              <a:ext uri="{FF2B5EF4-FFF2-40B4-BE49-F238E27FC236}">
                <a16:creationId xmlns:a16="http://schemas.microsoft.com/office/drawing/2014/main" id="{31DD4E2A-004D-446C-9F6B-7C0874FE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10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9296DBD2-FB5A-4E0B-AA59-3F4C5484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70"/>
          </a:solidFill>
          <a:ln xmlns:a="http://schemas.openxmlformats.org/drawingml/2006/main" w="9525">
            <a:solidFill>
              <a:srgbClr val="2F8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legend-label-2">
            <a:extLst xmlns:a="http://schemas.openxmlformats.org/drawingml/2006/main">
              <a:ext uri="{FF2B5EF4-FFF2-40B4-BE49-F238E27FC236}">
                <a16:creationId xmlns:a16="http://schemas.microsoft.com/office/drawing/2014/main" id="{698CB904-4F63-4072-840F-A5CFDFDB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2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85517586-6064-4734-B200-C3C00FA1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A22"/>
          </a:solidFill>
          <a:ln xmlns:a="http://schemas.openxmlformats.org/drawingml/2006/main" w="9525">
            <a:solidFill>
              <a:srgbClr val="C56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legend-label-3">
            <a:extLst xmlns:a="http://schemas.openxmlformats.org/drawingml/2006/main">
              <a:ext uri="{FF2B5EF4-FFF2-40B4-BE49-F238E27FC236}">
                <a16:creationId xmlns:a16="http://schemas.microsoft.com/office/drawing/2014/main" id="{931846C9-19EA-413F-AF44-8254248C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14" name="legend-dot-4">
            <a:extLst xmlns:a="http://schemas.openxmlformats.org/drawingml/2006/main">
              <a:ext uri="{FF2B5EF4-FFF2-40B4-BE49-F238E27FC236}">
                <a16:creationId xmlns:a16="http://schemas.microsoft.com/office/drawing/2014/main" id="{F2B72FFF-CC27-4293-A8B9-3042C119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4C4C"/>
          </a:solidFill>
          <a:ln xmlns:a="http://schemas.openxmlformats.org/drawingml/2006/main" w="9525">
            <a:solidFill>
              <a:srgbClr val="D24C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legend-label-4">
            <a:extLst xmlns:a="http://schemas.openxmlformats.org/drawingml/2006/main">
              <a:ext uri="{FF2B5EF4-FFF2-40B4-BE49-F238E27FC236}">
                <a16:creationId xmlns:a16="http://schemas.microsoft.com/office/drawing/2014/main" id="{D9826717-E848-40FB-B38F-2141B929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Exception</a:t>
            </a:r>
          </a:p>
        </p:txBody>
      </p:sp>
      <p:sp>
        <p:nvSpPr>
          <p:cNvPr id="16" name="f4-client-lane">
            <a:extLst xmlns:a="http://schemas.openxmlformats.org/drawingml/2006/main">
              <a:ext uri="{FF2B5EF4-FFF2-40B4-BE49-F238E27FC236}">
                <a16:creationId xmlns:a16="http://schemas.microsoft.com/office/drawing/2014/main" id="{3FC31902-EF35-4DF4-933C-803BAA60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CLIENT CANCELS</a:t>
            </a:r>
          </a:p>
        </p:txBody>
      </p:sp>
      <p:sp>
        <p:nvSpPr>
          <p:cNvPr id="17" name="f4-client">
            <a:extLst xmlns:a="http://schemas.openxmlformats.org/drawingml/2006/main">
              <a:ext uri="{FF2B5EF4-FFF2-40B4-BE49-F238E27FC236}">
                <a16:creationId xmlns:a16="http://schemas.microsoft.com/office/drawing/2014/main" id="{C8C66CF4-5664-46FB-8BF9-43FD3A0D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1430">
            <a:solidFill>
              <a:srgbClr val="C56A22"/>
            </a:solidFill>
            <a:prstDash val="solid"/>
          </a:ln>
        </p:spPr>
      </p:sp>
      <p:sp>
        <p:nvSpPr>
          <p:cNvPr id="18" name="f4-client-accent">
            <a:extLst xmlns:a="http://schemas.openxmlformats.org/drawingml/2006/main">
              <a:ext uri="{FF2B5EF4-FFF2-40B4-BE49-F238E27FC236}">
                <a16:creationId xmlns:a16="http://schemas.microsoft.com/office/drawing/2014/main" id="{5B06FBFF-FDD3-46AA-BA23-4AE3C700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56A22"/>
            </a:solidFill>
            <a:prstDash val="solid"/>
          </a:ln>
        </p:spPr>
      </p:sp>
      <p:sp>
        <p:nvSpPr>
          <p:cNvPr id="19" name="f4-client-tag">
            <a:extLst xmlns:a="http://schemas.openxmlformats.org/drawingml/2006/main">
              <a:ext uri="{FF2B5EF4-FFF2-40B4-BE49-F238E27FC236}">
                <a16:creationId xmlns:a16="http://schemas.microsoft.com/office/drawing/2014/main" id="{4EAA7D2E-3D27-4B05-92E0-35129432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1 · VOICE</a:t>
            </a:r>
          </a:p>
        </p:txBody>
      </p:sp>
      <p:sp>
        <p:nvSpPr>
          <p:cNvPr id="20" name="f4-client-label">
            <a:extLst xmlns:a="http://schemas.openxmlformats.org/drawingml/2006/main">
              <a:ext uri="{FF2B5EF4-FFF2-40B4-BE49-F238E27FC236}">
                <a16:creationId xmlns:a16="http://schemas.microsoft.com/office/drawing/2014/main" id="{098B269D-3C01-4BF3-97C0-C59B763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State reason + confirm</a:t>
            </a:r>
          </a:p>
        </p:txBody>
      </p:sp>
      <p:sp>
        <p:nvSpPr>
          <p:cNvPr id="21" name="f4-client-cancel">
            <a:extLst xmlns:a="http://schemas.openxmlformats.org/drawingml/2006/main">
              <a:ext uri="{FF2B5EF4-FFF2-40B4-BE49-F238E27FC236}">
                <a16:creationId xmlns:a16="http://schemas.microsoft.com/office/drawing/2014/main" id="{F636CEF5-ABAB-4CD9-A136-84618BBE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22" name="f4-client-cancel-accent">
            <a:extLst xmlns:a="http://schemas.openxmlformats.org/drawingml/2006/main">
              <a:ext uri="{FF2B5EF4-FFF2-40B4-BE49-F238E27FC236}">
                <a16:creationId xmlns:a16="http://schemas.microsoft.com/office/drawing/2014/main" id="{7F6AB71F-9DAA-4E67-8852-6326DFBF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23" name="f4-client-cancel-tag">
            <a:extLst xmlns:a="http://schemas.openxmlformats.org/drawingml/2006/main">
              <a:ext uri="{FF2B5EF4-FFF2-40B4-BE49-F238E27FC236}">
                <a16:creationId xmlns:a16="http://schemas.microsoft.com/office/drawing/2014/main" id="{F20F15D9-D930-4DA3-B32E-BEAE26FE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2 · SUPABASE</a:t>
            </a:r>
          </a:p>
        </p:txBody>
      </p:sp>
      <p:sp>
        <p:nvSpPr>
          <p:cNvPr id="24" name="f4-client-cancel-label">
            <a:extLst xmlns:a="http://schemas.openxmlformats.org/drawingml/2006/main">
              <a:ext uri="{FF2B5EF4-FFF2-40B4-BE49-F238E27FC236}">
                <a16:creationId xmlns:a16="http://schemas.microsoft.com/office/drawing/2014/main" id="{3AD4567E-7AD0-41F4-B1E7-DCB444D6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9087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Cancel operation</a:t>
            </a:r>
          </a:p>
        </p:txBody>
      </p:sp>
      <p:sp>
        <p:nvSpPr>
          <p:cNvPr id="25" name="f4-client-result">
            <a:extLst xmlns:a="http://schemas.openxmlformats.org/drawingml/2006/main">
              <a:ext uri="{FF2B5EF4-FFF2-40B4-BE49-F238E27FC236}">
                <a16:creationId xmlns:a16="http://schemas.microsoft.com/office/drawing/2014/main" id="{863CC504-3FFE-499D-AEFB-66CBEE4F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2152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26" name="f4-client-result-accent">
            <a:extLst xmlns:a="http://schemas.openxmlformats.org/drawingml/2006/main">
              <a:ext uri="{FF2B5EF4-FFF2-40B4-BE49-F238E27FC236}">
                <a16:creationId xmlns:a16="http://schemas.microsoft.com/office/drawing/2014/main" id="{B4941E0B-D457-4F46-822F-2D0ABBDF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27" name="f4-client-result-tag">
            <a:extLst xmlns:a="http://schemas.openxmlformats.org/drawingml/2006/main">
              <a:ext uri="{FF2B5EF4-FFF2-40B4-BE49-F238E27FC236}">
                <a16:creationId xmlns:a16="http://schemas.microsoft.com/office/drawing/2014/main" id="{042C0C76-6419-40A0-9F2D-0B5267AE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337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3 · DURABLE RESULT</a:t>
            </a:r>
          </a:p>
        </p:txBody>
      </p:sp>
      <p:sp>
        <p:nvSpPr>
          <p:cNvPr id="28" name="f4-client-result-label">
            <a:extLst xmlns:a="http://schemas.openxmlformats.org/drawingml/2006/main">
              <a:ext uri="{FF2B5EF4-FFF2-40B4-BE49-F238E27FC236}">
                <a16:creationId xmlns:a16="http://schemas.microsoft.com/office/drawing/2014/main" id="{88A6DC8C-CD13-41FB-84FB-CD73D13D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908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Keep prior facts</a:t>
            </a:r>
          </a:p>
        </p:txBody>
      </p:sp>
      <p:cxnSp>
        <p:nvCxnSpPr>
          <p:cNvPr id="80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305050" y="32670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C56A22"/>
            </a:solidFill>
            <a:prstDash val="soli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781550" y="32670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2F8F70"/>
            </a:solidFill>
            <a:prstDash val="solid"/>
            <a:tailEnd type="arrow" w="sm" len="sm"/>
          </a:ln>
        </p:spPr>
      </p:cxnSp>
      <p:sp>
        <p:nvSpPr>
          <p:cNvPr id="31" name="f4-carrier-lane">
            <a:extLst xmlns:a="http://schemas.openxmlformats.org/drawingml/2006/main">
              <a:ext uri="{FF2B5EF4-FFF2-40B4-BE49-F238E27FC236}">
                <a16:creationId xmlns:a16="http://schemas.microsoft.com/office/drawing/2014/main" id="{E604E9BC-1FD2-490F-98D0-76F2D0FB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rPr>
              <a:t>CARRIER CANCELS</a:t>
            </a:r>
          </a:p>
        </p:txBody>
      </p:sp>
      <p:sp>
        <p:nvSpPr>
          <p:cNvPr id="32" name="f4-carrier">
            <a:extLst xmlns:a="http://schemas.openxmlformats.org/drawingml/2006/main">
              <a:ext uri="{FF2B5EF4-FFF2-40B4-BE49-F238E27FC236}">
                <a16:creationId xmlns:a16="http://schemas.microsoft.com/office/drawing/2014/main" id="{A0EC5F6D-6CDE-4DB7-AE8E-DCADF4B4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1430">
            <a:solidFill>
              <a:srgbClr val="C56A22"/>
            </a:solidFill>
            <a:prstDash val="solid"/>
          </a:ln>
        </p:spPr>
      </p:sp>
      <p:sp>
        <p:nvSpPr>
          <p:cNvPr id="33" name="f4-carrier-accent">
            <a:extLst xmlns:a="http://schemas.openxmlformats.org/drawingml/2006/main">
              <a:ext uri="{FF2B5EF4-FFF2-40B4-BE49-F238E27FC236}">
                <a16:creationId xmlns:a16="http://schemas.microsoft.com/office/drawing/2014/main" id="{7E690293-9E7D-4DFA-B975-4DE0FB45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56A22"/>
            </a:solidFill>
            <a:prstDash val="solid"/>
          </a:ln>
        </p:spPr>
      </p:sp>
      <p:sp>
        <p:nvSpPr>
          <p:cNvPr id="34" name="f4-carrier-tag">
            <a:extLst xmlns:a="http://schemas.openxmlformats.org/drawingml/2006/main">
              <a:ext uri="{FF2B5EF4-FFF2-40B4-BE49-F238E27FC236}">
                <a16:creationId xmlns:a16="http://schemas.microsoft.com/office/drawing/2014/main" id="{9EAEA8F0-ADFC-4BEF-A021-5BD06D2E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1 · VOICE</a:t>
            </a:r>
          </a:p>
        </p:txBody>
      </p:sp>
      <p:sp>
        <p:nvSpPr>
          <p:cNvPr id="35" name="f4-carrier-label">
            <a:extLst xmlns:a="http://schemas.openxmlformats.org/drawingml/2006/main">
              <a:ext uri="{FF2B5EF4-FFF2-40B4-BE49-F238E27FC236}">
                <a16:creationId xmlns:a16="http://schemas.microsoft.com/office/drawing/2014/main" id="{2D0E3350-6582-4CD9-993F-DABB1C78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Confirms own booking</a:t>
            </a:r>
          </a:p>
        </p:txBody>
      </p:sp>
      <p:sp>
        <p:nvSpPr>
          <p:cNvPr id="36" name="f4-booking-cancel">
            <a:extLst xmlns:a="http://schemas.openxmlformats.org/drawingml/2006/main">
              <a:ext uri="{FF2B5EF4-FFF2-40B4-BE49-F238E27FC236}">
                <a16:creationId xmlns:a16="http://schemas.microsoft.com/office/drawing/2014/main" id="{5169F0B8-B6DE-48DE-A4F3-5E4BDA90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2440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37" name="f4-booking-cancel-accent">
            <a:extLst xmlns:a="http://schemas.openxmlformats.org/drawingml/2006/main">
              <a:ext uri="{FF2B5EF4-FFF2-40B4-BE49-F238E27FC236}">
                <a16:creationId xmlns:a16="http://schemas.microsoft.com/office/drawing/2014/main" id="{EEA16689-0A13-4605-94FD-968C6E9D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244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38" name="f4-booking-cancel-tag">
            <a:extLst xmlns:a="http://schemas.openxmlformats.org/drawingml/2006/main">
              <a:ext uri="{FF2B5EF4-FFF2-40B4-BE49-F238E27FC236}">
                <a16:creationId xmlns:a16="http://schemas.microsoft.com/office/drawing/2014/main" id="{81F89908-D88C-4527-BFC0-B482A62E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768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2 · SUPABASE</a:t>
            </a:r>
          </a:p>
        </p:txBody>
      </p:sp>
      <p:sp>
        <p:nvSpPr>
          <p:cNvPr id="39" name="f4-booking-cancel-label">
            <a:extLst xmlns:a="http://schemas.openxmlformats.org/drawingml/2006/main">
              <a:ext uri="{FF2B5EF4-FFF2-40B4-BE49-F238E27FC236}">
                <a16:creationId xmlns:a16="http://schemas.microsoft.com/office/drawing/2014/main" id="{42D9E7B4-F708-4351-9927-575877DB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3397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Cancel booking</a:t>
            </a:r>
          </a:p>
        </p:txBody>
      </p:sp>
      <p:sp>
        <p:nvSpPr>
          <p:cNvPr id="40" name="f4-source">
            <a:extLst xmlns:a="http://schemas.openxmlformats.org/drawingml/2006/main">
              <a:ext uri="{FF2B5EF4-FFF2-40B4-BE49-F238E27FC236}">
                <a16:creationId xmlns:a16="http://schemas.microsoft.com/office/drawing/2014/main" id="{E9654224-CD9C-42E5-86E7-8B84FD52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24400"/>
            <a:ext cx="2152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11430">
            <a:solidFill>
              <a:srgbClr val="6C63FF"/>
            </a:solidFill>
            <a:prstDash val="solid"/>
          </a:ln>
        </p:spPr>
      </p:sp>
      <p:sp>
        <p:nvSpPr>
          <p:cNvPr id="41" name="f4-source-accent">
            <a:extLst xmlns:a="http://schemas.openxmlformats.org/drawingml/2006/main">
              <a:ext uri="{FF2B5EF4-FFF2-40B4-BE49-F238E27FC236}">
                <a16:creationId xmlns:a16="http://schemas.microsoft.com/office/drawing/2014/main" id="{0518A480-7C8A-4DA7-959B-2C50B8D4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24400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63FF"/>
            </a:solidFill>
            <a:prstDash val="solid"/>
          </a:ln>
        </p:spPr>
      </p:sp>
      <p:sp>
        <p:nvSpPr>
          <p:cNvPr id="42" name="f4-source-tag">
            <a:extLst xmlns:a="http://schemas.openxmlformats.org/drawingml/2006/main">
              <a:ext uri="{FF2B5EF4-FFF2-40B4-BE49-F238E27FC236}">
                <a16:creationId xmlns:a16="http://schemas.microsoft.com/office/drawing/2014/main" id="{4A20F095-F923-471E-8A64-E80EA719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768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C63FF"/>
                </a:solidFill>
                <a:latin typeface="Helvetica Neue"/>
                <a:ea typeface="Helvetica Neue"/>
                <a:cs typeface="Helvetica Neue"/>
              </a:rPr>
              <a:t>3 · OPERATION</a:t>
            </a:r>
          </a:p>
        </p:txBody>
      </p:sp>
      <p:sp>
        <p:nvSpPr>
          <p:cNvPr id="43" name="f4-source-label">
            <a:extLst xmlns:a="http://schemas.openxmlformats.org/drawingml/2006/main">
              <a:ext uri="{FF2B5EF4-FFF2-40B4-BE49-F238E27FC236}">
                <a16:creationId xmlns:a16="http://schemas.microsoft.com/office/drawing/2014/main" id="{295B9784-58AD-47AD-95A4-94742A08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339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9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Return to sourcing</a:t>
            </a:r>
          </a:p>
        </p:txBody>
      </p:sp>
      <p:cxnSp>
        <p:nvCxnSpPr>
          <p:cNvPr id="95" name=""/>
          <p:cNvCxnSpPr>
            <a:stCxn xmlns:a="http://schemas.openxmlformats.org/drawingml/2006/main" id="32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2305050" y="5210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D24C4C"/>
            </a:solidFill>
            <a:prstDash val="solid"/>
            <a:tailEnd type="arrow" w="sm" len="sm"/>
          </a:ln>
        </p:spPr>
      </p:cxnSp>
      <p:cxnSp>
        <p:nvCxnSpPr>
          <p:cNvPr id="96" name=""/>
          <p:cNvCxnSpPr>
            <a:stCxn xmlns:a="http://schemas.openxmlformats.org/drawingml/2006/main" id="36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4781550" y="5210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C63FF"/>
            </a:solidFill>
            <a:prstDash val="solid"/>
            <a:tailEnd type="arrow" w="sm" len="sm"/>
          </a:ln>
        </p:spPr>
      </p:cxnSp>
      <p:sp>
        <p:nvSpPr>
          <p:cNvPr id="46" name="f4-note">
            <a:extLst xmlns:a="http://schemas.openxmlformats.org/drawingml/2006/main">
              <a:ext uri="{FF2B5EF4-FFF2-40B4-BE49-F238E27FC236}">
                <a16:creationId xmlns:a16="http://schemas.microsoft.com/office/drawing/2014/main" id="{9AA22422-9A7A-4B89-A2F9-984FE259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5623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E"/>
          </a:solidFill>
          <a:ln xmlns:a="http://schemas.openxmlformats.org/drawingml/2006/main" w="11430">
            <a:solidFill>
              <a:srgbClr val="C68A18"/>
            </a:solidFill>
            <a:prstDash val="solid"/>
          </a:ln>
        </p:spPr>
      </p:sp>
      <p:sp>
        <p:nvSpPr>
          <p:cNvPr id="47" name="f4-note-label">
            <a:extLst xmlns:a="http://schemas.openxmlformats.org/drawingml/2006/main">
              <a:ext uri="{FF2B5EF4-FFF2-40B4-BE49-F238E27FC236}">
                <a16:creationId xmlns:a16="http://schemas.microsoft.com/office/drawing/2014/main" id="{007DC089-EAD5-46E9-A034-965009DD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A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68A18"/>
                </a:solidFill>
                <a:latin typeface="Helvetica Neue"/>
                <a:ea typeface="Helvetica Neue"/>
                <a:cs typeface="Helvetica Neue"/>
              </a:rPr>
              <a:t>CURRENT DEMO LIMIT</a:t>
            </a:r>
          </a:p>
        </p:txBody>
      </p:sp>
      <p:sp>
        <p:nvSpPr>
          <p:cNvPr id="48" name="f4-note-title">
            <a:extLst xmlns:a="http://schemas.openxmlformats.org/drawingml/2006/main">
              <a:ext uri="{FF2B5EF4-FFF2-40B4-BE49-F238E27FC236}">
                <a16:creationId xmlns:a16="http://schemas.microsoft.com/office/drawing/2014/main" id="{5792F8B8-3CE2-4AA7-BE9D-92A3A3C9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9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No email is implied by these cancellation paths.</a:t>
            </a:r>
          </a:p>
        </p:txBody>
      </p:sp>
      <p:sp>
        <p:nvSpPr>
          <p:cNvPr id="49" name="f4-note-body">
            <a:extLst xmlns:a="http://schemas.openxmlformats.org/drawingml/2006/main">
              <a:ext uri="{FF2B5EF4-FFF2-40B4-BE49-F238E27FC236}">
                <a16:creationId xmlns:a16="http://schemas.microsoft.com/office/drawing/2014/main" id="{04D8876E-6960-4A4A-B194-2DFCE514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The system records the cancellation and prevents future queued work. It does not claim the other party was notified or agreed.</a:t>
            </a:r>
          </a:p>
        </p:txBody>
      </p:sp>
      <p:sp>
        <p:nvSpPr>
          <p:cNvPr id="5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E668A6D-17A3-4C1F-9AD5-6EBC3A6B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67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1" name="footer">
            <a:extLst xmlns:a="http://schemas.openxmlformats.org/drawingml/2006/main">
              <a:ext uri="{FF2B5EF4-FFF2-40B4-BE49-F238E27FC236}">
                <a16:creationId xmlns:a16="http://schemas.microsoft.com/office/drawing/2014/main" id="{D48B7F69-5157-4141-A4BA-9F0FD540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03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The safe story is the state transition and audit trail—not a promise about a third party who was not contacted.</a:t>
            </a:r>
          </a:p>
        </p:txBody>
      </p:sp>
    </p:spTree>
    <p:extLst>
      <p:ext uri="{BB962C8B-B14F-4D97-AF65-F5344CB8AC3E}">
        <p14:creationId xmlns:p14="http://schemas.microsoft.com/office/powerpoint/2010/main" val="13497634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ection">
            <a:extLst xmlns:a="http://schemas.openxmlformats.org/drawingml/2006/main">
              <a:ext uri="{FF2B5EF4-FFF2-40B4-BE49-F238E27FC236}">
                <a16:creationId xmlns:a16="http://schemas.microsoft.com/office/drawing/2014/main" id="{B029EA08-4AAB-40E9-9B7B-0A1DB539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FLOW 05 · LIVE ESCALATION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EAC6CA6-EBC5-4E70-9842-387EB588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2AF1D2CA-28C3-43EF-BC52-145AEECF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715772F8-A4C7-49E1-9F43-05B2B838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Tango persists the context before it transfers the call to a human.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74C5569-09EA-466C-8056-F1B54B4F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The handoff is a safe stop: the agent cannot silently turn an exception into approval.</a:t>
            </a:r>
          </a:p>
        </p:txBody>
      </p:sp>
      <p:sp>
        <p:nvSpPr>
          <p:cNvPr id="6" name="legend-dot-0">
            <a:extLst xmlns:a="http://schemas.openxmlformats.org/drawingml/2006/main">
              <a:ext uri="{FF2B5EF4-FFF2-40B4-BE49-F238E27FC236}">
                <a16:creationId xmlns:a16="http://schemas.microsoft.com/office/drawing/2014/main" id="{F9632EFC-2FB9-4ECB-9B00-D86FB2BB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legend-label-0">
            <a:extLst xmlns:a="http://schemas.openxmlformats.org/drawingml/2006/main">
              <a:ext uri="{FF2B5EF4-FFF2-40B4-BE49-F238E27FC236}">
                <a16:creationId xmlns:a16="http://schemas.microsoft.com/office/drawing/2014/main" id="{D0990FAF-EC28-4C41-9715-450566ED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</p:txBody>
      </p:sp>
      <p:sp>
        <p:nvSpPr>
          <p:cNvPr id="8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6CE3D435-3301-417A-A0B9-3C2631F0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9525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egend-label-1">
            <a:extLst xmlns:a="http://schemas.openxmlformats.org/drawingml/2006/main">
              <a:ext uri="{FF2B5EF4-FFF2-40B4-BE49-F238E27FC236}">
                <a16:creationId xmlns:a16="http://schemas.microsoft.com/office/drawing/2014/main" id="{F7EE137D-EB94-42AA-B397-AF07ED84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10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5B935CBE-1298-48C7-BB6D-1D1DF7F3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70"/>
          </a:solidFill>
          <a:ln xmlns:a="http://schemas.openxmlformats.org/drawingml/2006/main" w="9525">
            <a:solidFill>
              <a:srgbClr val="2F8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legend-label-2">
            <a:extLst xmlns:a="http://schemas.openxmlformats.org/drawingml/2006/main">
              <a:ext uri="{FF2B5EF4-FFF2-40B4-BE49-F238E27FC236}">
                <a16:creationId xmlns:a16="http://schemas.microsoft.com/office/drawing/2014/main" id="{1929EF3F-2B0E-4A6F-B619-6AFBE87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2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AF0F5485-0744-461A-8D79-A40C8DA2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A22"/>
          </a:solidFill>
          <a:ln xmlns:a="http://schemas.openxmlformats.org/drawingml/2006/main" w="9525">
            <a:solidFill>
              <a:srgbClr val="C56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legend-label-3">
            <a:extLst xmlns:a="http://schemas.openxmlformats.org/drawingml/2006/main">
              <a:ext uri="{FF2B5EF4-FFF2-40B4-BE49-F238E27FC236}">
                <a16:creationId xmlns:a16="http://schemas.microsoft.com/office/drawing/2014/main" id="{4BA6A0A8-0A62-43B8-B53F-6D6FD0F1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14" name="legend-dot-4">
            <a:extLst xmlns:a="http://schemas.openxmlformats.org/drawingml/2006/main">
              <a:ext uri="{FF2B5EF4-FFF2-40B4-BE49-F238E27FC236}">
                <a16:creationId xmlns:a16="http://schemas.microsoft.com/office/drawing/2014/main" id="{33F2FA47-9ACC-4752-931A-D645CA3C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4C4C"/>
          </a:solidFill>
          <a:ln xmlns:a="http://schemas.openxmlformats.org/drawingml/2006/main" w="9525">
            <a:solidFill>
              <a:srgbClr val="D24C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legend-label-4">
            <a:extLst xmlns:a="http://schemas.openxmlformats.org/drawingml/2006/main">
              <a:ext uri="{FF2B5EF4-FFF2-40B4-BE49-F238E27FC236}">
                <a16:creationId xmlns:a16="http://schemas.microsoft.com/office/drawing/2014/main" id="{D64F7E31-26CE-4A5C-AC9F-4EF42222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Exception</a:t>
            </a:r>
          </a:p>
        </p:txBody>
      </p:sp>
      <p:sp>
        <p:nvSpPr>
          <p:cNvPr id="16" name="f5-trigger">
            <a:extLst xmlns:a="http://schemas.openxmlformats.org/drawingml/2006/main">
              <a:ext uri="{FF2B5EF4-FFF2-40B4-BE49-F238E27FC236}">
                <a16:creationId xmlns:a16="http://schemas.microsoft.com/office/drawing/2014/main" id="{28707007-079C-4556-A8C0-C96DF291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695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EE"/>
          </a:solidFill>
          <a:ln xmlns:a="http://schemas.openxmlformats.org/drawingml/2006/main" w="11430">
            <a:solidFill>
              <a:srgbClr val="D24C4C"/>
            </a:solidFill>
            <a:prstDash val="solid"/>
          </a:ln>
        </p:spPr>
      </p:sp>
      <p:sp>
        <p:nvSpPr>
          <p:cNvPr id="17" name="f5-trigger-accent">
            <a:extLst xmlns:a="http://schemas.openxmlformats.org/drawingml/2006/main">
              <a:ext uri="{FF2B5EF4-FFF2-40B4-BE49-F238E27FC236}">
                <a16:creationId xmlns:a16="http://schemas.microsoft.com/office/drawing/2014/main" id="{54F4751E-9407-4835-870C-5A9D08C3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24C4C"/>
            </a:solidFill>
            <a:prstDash val="solid"/>
          </a:ln>
        </p:spPr>
      </p:sp>
      <p:sp>
        <p:nvSpPr>
          <p:cNvPr id="18" name="f5-trigger-tag">
            <a:extLst xmlns:a="http://schemas.openxmlformats.org/drawingml/2006/main">
              <a:ext uri="{FF2B5EF4-FFF2-40B4-BE49-F238E27FC236}">
                <a16:creationId xmlns:a16="http://schemas.microsoft.com/office/drawing/2014/main" id="{E8D0E46F-86ED-4C73-AD13-ECAD5A5D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rPr>
              <a:t>1 · TRIGGER</a:t>
            </a:r>
          </a:p>
        </p:txBody>
      </p:sp>
      <p:sp>
        <p:nvSpPr>
          <p:cNvPr id="19" name="f5-trigger-label">
            <a:extLst xmlns:a="http://schemas.openxmlformats.org/drawingml/2006/main">
              <a:ext uri="{FF2B5EF4-FFF2-40B4-BE49-F238E27FC236}">
                <a16:creationId xmlns:a16="http://schemas.microsoft.com/office/drawing/2014/main" id="{BAFE740E-6D3A-4914-A1D0-D39375B3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Outside mandate</a:t>
            </a:r>
          </a:p>
        </p:txBody>
      </p:sp>
      <p:sp>
        <p:nvSpPr>
          <p:cNvPr id="20" name="f5-trigger-body">
            <a:extLst xmlns:a="http://schemas.openxmlformats.org/drawingml/2006/main">
              <a:ext uri="{FF2B5EF4-FFF2-40B4-BE49-F238E27FC236}">
                <a16:creationId xmlns:a16="http://schemas.microsoft.com/office/drawing/2014/main" id="{D7318B44-A4DD-4A76-8661-005F64ED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13906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Or: explicit human request / stalled negotiation</a:t>
            </a:r>
          </a:p>
        </p:txBody>
      </p:sp>
      <p:sp>
        <p:nvSpPr>
          <p:cNvPr id="21" name="f5-context">
            <a:extLst xmlns:a="http://schemas.openxmlformats.org/drawingml/2006/main">
              <a:ext uri="{FF2B5EF4-FFF2-40B4-BE49-F238E27FC236}">
                <a16:creationId xmlns:a16="http://schemas.microsoft.com/office/drawing/2014/main" id="{803F300D-B536-49FB-9232-3CCDA42E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33700"/>
            <a:ext cx="1695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22" name="f5-context-accent">
            <a:extLst xmlns:a="http://schemas.openxmlformats.org/drawingml/2006/main">
              <a:ext uri="{FF2B5EF4-FFF2-40B4-BE49-F238E27FC236}">
                <a16:creationId xmlns:a16="http://schemas.microsoft.com/office/drawing/2014/main" id="{B91A1C28-259A-41C1-83E9-057BE07F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337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23" name="f5-context-tag">
            <a:extLst xmlns:a="http://schemas.openxmlformats.org/drawingml/2006/main">
              <a:ext uri="{FF2B5EF4-FFF2-40B4-BE49-F238E27FC236}">
                <a16:creationId xmlns:a16="http://schemas.microsoft.com/office/drawing/2014/main" id="{BEA5FE9E-D32A-420D-A733-CB32E7CC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2 · SERVER</a:t>
            </a:r>
          </a:p>
        </p:txBody>
      </p:sp>
      <p:sp>
        <p:nvSpPr>
          <p:cNvPr id="24" name="f5-context-label">
            <a:extLst xmlns:a="http://schemas.openxmlformats.org/drawingml/2006/main">
              <a:ext uri="{FF2B5EF4-FFF2-40B4-BE49-F238E27FC236}">
                <a16:creationId xmlns:a16="http://schemas.microsoft.com/office/drawing/2014/main" id="{87B0807E-5449-455F-9F9F-32793BC4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4327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9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Persist escalation</a:t>
            </a:r>
          </a:p>
        </p:txBody>
      </p:sp>
      <p:sp>
        <p:nvSpPr>
          <p:cNvPr id="25" name="f5-context-body">
            <a:extLst xmlns:a="http://schemas.openxmlformats.org/drawingml/2006/main">
              <a:ext uri="{FF2B5EF4-FFF2-40B4-BE49-F238E27FC236}">
                <a16:creationId xmlns:a16="http://schemas.microsoft.com/office/drawing/2014/main" id="{640C4FE7-83B3-4AD7-9F91-169773EE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33800"/>
            <a:ext cx="13906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Reason, summary, requested action and operation context</a:t>
            </a:r>
          </a:p>
        </p:txBody>
      </p:sp>
      <p:sp>
        <p:nvSpPr>
          <p:cNvPr id="26" name="f5-recipient">
            <a:extLst xmlns:a="http://schemas.openxmlformats.org/drawingml/2006/main">
              <a:ext uri="{FF2B5EF4-FFF2-40B4-BE49-F238E27FC236}">
                <a16:creationId xmlns:a16="http://schemas.microsoft.com/office/drawing/2014/main" id="{25AB4F91-DB1F-4FE7-BFE1-7D3B08CC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1695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1430">
            <a:solidFill>
              <a:srgbClr val="2F8F70"/>
            </a:solidFill>
            <a:prstDash val="solid"/>
          </a:ln>
        </p:spPr>
      </p:sp>
      <p:sp>
        <p:nvSpPr>
          <p:cNvPr id="27" name="f5-recipient-accent">
            <a:extLst xmlns:a="http://schemas.openxmlformats.org/drawingml/2006/main">
              <a:ext uri="{FF2B5EF4-FFF2-40B4-BE49-F238E27FC236}">
                <a16:creationId xmlns:a16="http://schemas.microsoft.com/office/drawing/2014/main" id="{4A02C1D0-5A86-46E6-8C88-D6079A63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F70"/>
            </a:solidFill>
            <a:prstDash val="solid"/>
          </a:ln>
        </p:spPr>
      </p:sp>
      <p:sp>
        <p:nvSpPr>
          <p:cNvPr id="28" name="f5-recipient-tag">
            <a:extLst xmlns:a="http://schemas.openxmlformats.org/drawingml/2006/main">
              <a:ext uri="{FF2B5EF4-FFF2-40B4-BE49-F238E27FC236}">
                <a16:creationId xmlns:a16="http://schemas.microsoft.com/office/drawing/2014/main" id="{8FAB7517-4DFE-4BEF-A36F-CE080EF7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F70"/>
                </a:solidFill>
                <a:latin typeface="Helvetica Neue"/>
                <a:ea typeface="Helvetica Neue"/>
                <a:cs typeface="Helvetica Neue"/>
              </a:rPr>
              <a:t>3 · SUPABASE</a:t>
            </a:r>
          </a:p>
        </p:txBody>
      </p:sp>
      <p:sp>
        <p:nvSpPr>
          <p:cNvPr id="29" name="f5-recipient-label">
            <a:extLst xmlns:a="http://schemas.openxmlformats.org/drawingml/2006/main">
              <a:ext uri="{FF2B5EF4-FFF2-40B4-BE49-F238E27FC236}">
                <a16:creationId xmlns:a16="http://schemas.microsoft.com/office/drawing/2014/main" id="{107381DF-943C-4BC9-9788-F0D8E1D0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4327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82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Resolve recipient</a:t>
            </a:r>
          </a:p>
        </p:txBody>
      </p:sp>
      <p:sp>
        <p:nvSpPr>
          <p:cNvPr id="30" name="f5-recipient-body">
            <a:extLst xmlns:a="http://schemas.openxmlformats.org/drawingml/2006/main">
              <a:ext uri="{FF2B5EF4-FFF2-40B4-BE49-F238E27FC236}">
                <a16:creationId xmlns:a16="http://schemas.microsoft.com/office/drawing/2014/main" id="{341E30C2-0FB3-4F0F-ADE7-42FFAA33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33800"/>
            <a:ext cx="13906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Active, editable record from handoff_recipients</a:t>
            </a:r>
          </a:p>
        </p:txBody>
      </p:sp>
      <p:sp>
        <p:nvSpPr>
          <p:cNvPr id="31" name="f5-farewell">
            <a:extLst xmlns:a="http://schemas.openxmlformats.org/drawingml/2006/main">
              <a:ext uri="{FF2B5EF4-FFF2-40B4-BE49-F238E27FC236}">
                <a16:creationId xmlns:a16="http://schemas.microsoft.com/office/drawing/2014/main" id="{39689F2E-E23D-4C5E-BBED-AF43C1D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1695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</p:sp>
      <p:sp>
        <p:nvSpPr>
          <p:cNvPr id="32" name="f5-farewell-accent">
            <a:extLst xmlns:a="http://schemas.openxmlformats.org/drawingml/2006/main">
              <a:ext uri="{FF2B5EF4-FFF2-40B4-BE49-F238E27FC236}">
                <a16:creationId xmlns:a16="http://schemas.microsoft.com/office/drawing/2014/main" id="{6CE9E9FC-F1A7-4538-A460-5865F1B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33" name="f5-farewell-tag">
            <a:extLst xmlns:a="http://schemas.openxmlformats.org/drawingml/2006/main">
              <a:ext uri="{FF2B5EF4-FFF2-40B4-BE49-F238E27FC236}">
                <a16:creationId xmlns:a16="http://schemas.microsoft.com/office/drawing/2014/main" id="{8934216E-B486-4A89-B6EF-A2851B08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4 · REALTIME</a:t>
            </a:r>
          </a:p>
        </p:txBody>
      </p:sp>
      <p:sp>
        <p:nvSpPr>
          <p:cNvPr id="34" name="f5-farewell-label">
            <a:extLst xmlns:a="http://schemas.openxmlformats.org/drawingml/2006/main">
              <a:ext uri="{FF2B5EF4-FFF2-40B4-BE49-F238E27FC236}">
                <a16:creationId xmlns:a16="http://schemas.microsoft.com/office/drawing/2014/main" id="{D2154AA6-869E-4A57-A0E4-D9328D2E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4327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7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Short farewell</a:t>
            </a:r>
          </a:p>
        </p:txBody>
      </p:sp>
      <p:sp>
        <p:nvSpPr>
          <p:cNvPr id="35" name="f5-farewell-body">
            <a:extLst xmlns:a="http://schemas.openxmlformats.org/drawingml/2006/main">
              <a:ext uri="{FF2B5EF4-FFF2-40B4-BE49-F238E27FC236}">
                <a16:creationId xmlns:a16="http://schemas.microsoft.com/office/drawing/2014/main" id="{73C21BC7-E766-4952-99EC-44A5F5BB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13906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Wait until the response audio stops</a:t>
            </a:r>
          </a:p>
        </p:txBody>
      </p:sp>
      <p:sp>
        <p:nvSpPr>
          <p:cNvPr id="36" name="f5-refer">
            <a:extLst xmlns:a="http://schemas.openxmlformats.org/drawingml/2006/main">
              <a:ext uri="{FF2B5EF4-FFF2-40B4-BE49-F238E27FC236}">
                <a16:creationId xmlns:a16="http://schemas.microsoft.com/office/drawing/2014/main" id="{8AFE0445-6B3B-4A61-8A9A-40AF609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33700"/>
            <a:ext cx="1333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EE"/>
          </a:solidFill>
          <a:ln xmlns:a="http://schemas.openxmlformats.org/drawingml/2006/main" w="11430">
            <a:solidFill>
              <a:srgbClr val="D24C4C"/>
            </a:solidFill>
            <a:prstDash val="solid"/>
          </a:ln>
        </p:spPr>
      </p:sp>
      <p:sp>
        <p:nvSpPr>
          <p:cNvPr id="37" name="f5-refer-accent">
            <a:extLst xmlns:a="http://schemas.openxmlformats.org/drawingml/2006/main">
              <a:ext uri="{FF2B5EF4-FFF2-40B4-BE49-F238E27FC236}">
                <a16:creationId xmlns:a16="http://schemas.microsoft.com/office/drawing/2014/main" id="{5FC66624-A2CE-4793-9140-D4EB60E5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337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24C4C"/>
            </a:solidFill>
            <a:prstDash val="solid"/>
          </a:ln>
        </p:spPr>
      </p:sp>
      <p:sp>
        <p:nvSpPr>
          <p:cNvPr id="38" name="f5-refer-tag">
            <a:extLst xmlns:a="http://schemas.openxmlformats.org/drawingml/2006/main">
              <a:ext uri="{FF2B5EF4-FFF2-40B4-BE49-F238E27FC236}">
                <a16:creationId xmlns:a16="http://schemas.microsoft.com/office/drawing/2014/main" id="{E1EA0E1B-5F2F-4031-8051-0EFEB035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rPr>
              <a:t>5 · SIP</a:t>
            </a:r>
          </a:p>
        </p:txBody>
      </p:sp>
      <p:sp>
        <p:nvSpPr>
          <p:cNvPr id="39" name="f5-refer-label">
            <a:extLst xmlns:a="http://schemas.openxmlformats.org/drawingml/2006/main">
              <a:ext uri="{FF2B5EF4-FFF2-40B4-BE49-F238E27FC236}">
                <a16:creationId xmlns:a16="http://schemas.microsoft.com/office/drawing/2014/main" id="{6379D5B2-5F09-46E6-B476-F88A814C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4327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REFER</a:t>
            </a:r>
          </a:p>
        </p:txBody>
      </p:sp>
      <p:sp>
        <p:nvSpPr>
          <p:cNvPr id="40" name="f5-refer-body">
            <a:extLst xmlns:a="http://schemas.openxmlformats.org/drawingml/2006/main">
              <a:ext uri="{FF2B5EF4-FFF2-40B4-BE49-F238E27FC236}">
                <a16:creationId xmlns:a16="http://schemas.microsoft.com/office/drawing/2014/main" id="{B54526A7-0378-4720-B867-443EE851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33800"/>
            <a:ext cx="10287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Live transfer request</a:t>
            </a:r>
          </a:p>
        </p:txBody>
      </p:sp>
      <p:sp>
        <p:nvSpPr>
          <p:cNvPr id="41" name="f5-human">
            <a:extLst xmlns:a="http://schemas.openxmlformats.org/drawingml/2006/main">
              <a:ext uri="{FF2B5EF4-FFF2-40B4-BE49-F238E27FC236}">
                <a16:creationId xmlns:a16="http://schemas.microsoft.com/office/drawing/2014/main" id="{04188D40-CEE0-4610-84D1-EE732FEA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33700"/>
            <a:ext cx="1085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1430">
            <a:solidFill>
              <a:srgbClr val="C56A22"/>
            </a:solidFill>
            <a:prstDash val="solid"/>
          </a:ln>
        </p:spPr>
      </p:sp>
      <p:sp>
        <p:nvSpPr>
          <p:cNvPr id="42" name="f5-human-accent">
            <a:extLst xmlns:a="http://schemas.openxmlformats.org/drawingml/2006/main">
              <a:ext uri="{FF2B5EF4-FFF2-40B4-BE49-F238E27FC236}">
                <a16:creationId xmlns:a16="http://schemas.microsoft.com/office/drawing/2014/main" id="{F95BA839-F5AE-4ABA-B3D9-72340296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33700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56A22"/>
            </a:solidFill>
            <a:prstDash val="solid"/>
          </a:ln>
        </p:spPr>
      </p:sp>
      <p:sp>
        <p:nvSpPr>
          <p:cNvPr id="43" name="f5-human-tag">
            <a:extLst xmlns:a="http://schemas.openxmlformats.org/drawingml/2006/main">
              <a:ext uri="{FF2B5EF4-FFF2-40B4-BE49-F238E27FC236}">
                <a16:creationId xmlns:a16="http://schemas.microsoft.com/office/drawing/2014/main" id="{0BC3D711-1D0C-4799-AB8D-2542404D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861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56A22"/>
                </a:solidFill>
                <a:latin typeface="Helvetica Neue"/>
                <a:ea typeface="Helvetica Neue"/>
                <a:cs typeface="Helvetica Neue"/>
              </a:rPr>
              <a:t>6 · HUMAN</a:t>
            </a:r>
          </a:p>
        </p:txBody>
      </p:sp>
      <p:sp>
        <p:nvSpPr>
          <p:cNvPr id="44" name="f5-human-label">
            <a:extLst xmlns:a="http://schemas.openxmlformats.org/drawingml/2006/main">
              <a:ext uri="{FF2B5EF4-FFF2-40B4-BE49-F238E27FC236}">
                <a16:creationId xmlns:a16="http://schemas.microsoft.com/office/drawing/2014/main" id="{804B5D80-C495-47B5-B7A0-BA46C61B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43275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Take over</a:t>
            </a:r>
          </a:p>
        </p:txBody>
      </p:sp>
      <p:sp>
        <p:nvSpPr>
          <p:cNvPr id="45" name="f5-human-body">
            <a:extLst xmlns:a="http://schemas.openxmlformats.org/drawingml/2006/main">
              <a:ext uri="{FF2B5EF4-FFF2-40B4-BE49-F238E27FC236}">
                <a16:creationId xmlns:a16="http://schemas.microsoft.com/office/drawing/2014/main" id="{7B6E700B-C414-48AE-9C5E-BF3C7B03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33800"/>
            <a:ext cx="7810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Phone + dashboard context</a:t>
            </a:r>
          </a:p>
        </p:txBody>
      </p:sp>
      <p:cxnSp>
        <p:nvCxnSpPr>
          <p:cNvPr id="101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190750" y="34385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D24C4C"/>
            </a:solidFill>
            <a:prstDash val="solid"/>
            <a:tailEnd type="arrow" w="sm" len="sm"/>
          </a:ln>
        </p:spPr>
      </p:cxnSp>
      <p:cxnSp>
        <p:nvCxnSpPr>
          <p:cNvPr id="102" name=""/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286250" y="34385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2F8F70"/>
            </a:solidFill>
            <a:prstDash val="solid"/>
            <a:tailEnd type="arrow" w="sm" len="sm"/>
          </a:ln>
        </p:spPr>
      </p:cxnSp>
      <p:cxnSp>
        <p:nvCxnSpPr>
          <p:cNvPr id="103" name=""/>
          <p:cNvCxnSpPr>
            <a:stCxn xmlns:a="http://schemas.openxmlformats.org/drawingml/2006/main" id="26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381750" y="34385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2F80ED"/>
            </a:solidFill>
            <a:prstDash val="solid"/>
            <a:tailEnd type="arrow" w="sm" len="sm"/>
          </a:ln>
        </p:spPr>
      </p:cxnSp>
      <p:cxnSp>
        <p:nvCxnSpPr>
          <p:cNvPr id="104" name=""/>
          <p:cNvCxnSpPr>
            <a:stCxn xmlns:a="http://schemas.openxmlformats.org/drawingml/2006/main" id="3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477250" y="34385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D24C4C"/>
            </a:solidFill>
            <a:prstDash val="solid"/>
            <a:tailEnd type="arrow" w="sm" len="sm"/>
          </a:ln>
        </p:spPr>
      </p:cxnSp>
      <p:cxnSp>
        <p:nvCxnSpPr>
          <p:cNvPr id="105" name=""/>
          <p:cNvCxnSpPr>
            <a:stCxn xmlns:a="http://schemas.openxmlformats.org/drawingml/2006/main" id="36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0210800" y="34385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C56A22"/>
            </a:solidFill>
            <a:prstDash val="solid"/>
            <a:tailEnd type="arrow" w="sm" len="sm"/>
          </a:ln>
        </p:spPr>
      </p:cxnSp>
      <p:sp>
        <p:nvSpPr>
          <p:cNvPr id="51" name="f5-guardrail">
            <a:extLst xmlns:a="http://schemas.openxmlformats.org/drawingml/2006/main">
              <a:ext uri="{FF2B5EF4-FFF2-40B4-BE49-F238E27FC236}">
                <a16:creationId xmlns:a16="http://schemas.microsoft.com/office/drawing/2014/main" id="{D14FB782-C8A2-4888-908E-232B3EC2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1201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EE"/>
          </a:solidFill>
          <a:ln xmlns:a="http://schemas.openxmlformats.org/drawingml/2006/main" w="9525">
            <a:solidFill>
              <a:srgbClr val="D24C4C"/>
            </a:solidFill>
            <a:prstDash val="solid"/>
          </a:ln>
        </p:spPr>
      </p:sp>
      <p:sp>
        <p:nvSpPr>
          <p:cNvPr id="52" name="f5-guardrail-label">
            <a:extLst xmlns:a="http://schemas.openxmlformats.org/drawingml/2006/main">
              <a:ext uri="{FF2B5EF4-FFF2-40B4-BE49-F238E27FC236}">
                <a16:creationId xmlns:a16="http://schemas.microsoft.com/office/drawing/2014/main" id="{315309CA-5552-43FC-8CDC-25DDB1CD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24C4C"/>
                </a:solidFill>
                <a:latin typeface="Helvetica Neue"/>
                <a:ea typeface="Helvetica Neue"/>
                <a:cs typeface="Helvetica Neue"/>
              </a:rPr>
              <a:t>FAIL-SAFE BEHAVIOUR</a:t>
            </a:r>
          </a:p>
        </p:txBody>
      </p:sp>
      <p:sp>
        <p:nvSpPr>
          <p:cNvPr id="53" name="f5-guardrail-text">
            <a:extLst xmlns:a="http://schemas.openxmlformats.org/drawingml/2006/main">
              <a:ext uri="{FF2B5EF4-FFF2-40B4-BE49-F238E27FC236}">
                <a16:creationId xmlns:a16="http://schemas.microsoft.com/office/drawing/2014/main" id="{7A7CEBB2-3793-411A-B35D-F2ED1E70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006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4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If transfer fails, the escalation is still durable and open for manual review. It is never interpreted as approval.</a:t>
            </a:r>
          </a:p>
        </p:txBody>
      </p:sp>
      <p:sp>
        <p:nvSpPr>
          <p:cNvPr id="5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675B6DB-37D5-4BB0-B723-0BF7A9E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67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5" name="footer">
            <a:extLst xmlns:a="http://schemas.openxmlformats.org/drawingml/2006/main">
              <a:ext uri="{FF2B5EF4-FFF2-40B4-BE49-F238E27FC236}">
                <a16:creationId xmlns:a16="http://schemas.microsoft.com/office/drawing/2014/main" id="{0F69C5CC-B652-4B45-B905-683F3F1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03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58717D"/>
                </a:solidFill>
                <a:latin typeface="Helvetica Neue"/>
                <a:ea typeface="Helvetica Neue"/>
                <a:cs typeface="Helvetica Neue"/>
              </a:rPr>
              <a:t>The recipient is data managed from Directory—not a phone number hardcoded in the runtime or a supervisor environment variable.</a:t>
            </a:r>
          </a:p>
        </p:txBody>
      </p:sp>
    </p:spTree>
    <p:extLst>
      <p:ext uri="{BB962C8B-B14F-4D97-AF65-F5344CB8AC3E}">
        <p14:creationId xmlns:p14="http://schemas.microsoft.com/office/powerpoint/2010/main" val="2016280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2026-08-30T09:18:01.5980000Z</dcterms:created>
  <dcterms:modified xsi:type="dcterms:W3CDTF">2026-08-30T09:18:01.5980000Z</dcterms:modified>
</coreProperties>
</file>