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2cb7f95c61428f" /><Relationship Type="http://schemas.openxmlformats.org/officeDocument/2006/relationships/extended-properties" Target="/docProps/app.xml" Id="R29d51331cf1f49f9" /><Relationship Type="http://schemas.openxmlformats.org/officeDocument/2006/relationships/officeDocument" Target="/ppt/presentation.xml" Id="R5eef8c3189d04961" /></Relationships>
</file>

<file path=ppt/presentation.xml><?xml version="1.0" encoding="utf-8"?>
<p:presentation xmlns:p="http://schemas.openxmlformats.org/presentationml/2006/main">
  <p:sldMasterIdLst>
    <p:sldMasterId xmlns:r="http://schemas.openxmlformats.org/officeDocument/2006/relationships" id="2147483648" r:id="Rd8970d6f473c47ec"/>
  </p:sldMasterIdLst>
  <p:notesMasterIdLst>
    <p:notesMasterId xmlns:r="http://schemas.openxmlformats.org/officeDocument/2006/relationships" r:id="R14e8295ee1224100"/>
  </p:notesMasterIdLst>
  <p:sldIdLst>
    <p:sldId xmlns:r="http://schemas.openxmlformats.org/officeDocument/2006/relationships" id="256" r:id="Raccc087d1bba4610"/>
    <p:sldId xmlns:r="http://schemas.openxmlformats.org/officeDocument/2006/relationships" id="257" r:id="R14a8b193de8544ae"/>
    <p:sldId xmlns:r="http://schemas.openxmlformats.org/officeDocument/2006/relationships" id="258" r:id="Re893c31d17f4423e"/>
    <p:sldId xmlns:r="http://schemas.openxmlformats.org/officeDocument/2006/relationships" id="259" r:id="Rf0f4160c39984a45"/>
    <p:sldId xmlns:r="http://schemas.openxmlformats.org/officeDocument/2006/relationships" id="260" r:id="Rbcaff5fa200e45bd"/>
    <p:sldId xmlns:r="http://schemas.openxmlformats.org/officeDocument/2006/relationships" id="261" r:id="Rf4fc3fc9800741dc"/>
    <p:sldId xmlns:r="http://schemas.openxmlformats.org/officeDocument/2006/relationships" id="262" r:id="R5bb7cdfa82ac42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39d778bf9b4dd3" /><Relationship Type="http://schemas.openxmlformats.org/officeDocument/2006/relationships/slideMaster" Target="/ppt/slideMasters/slideMaster1.xml" Id="Rd8970d6f473c47ec" /><Relationship Type="http://schemas.openxmlformats.org/officeDocument/2006/relationships/notesMaster" Target="/ppt/notesMasters/notesMaster1.xml" Id="R14e8295ee1224100" /><Relationship Type="http://schemas.openxmlformats.org/officeDocument/2006/relationships/presProps" Target="/ppt/presProps.xml" Id="R9235e5e9805b4995" /><Relationship Type="http://schemas.openxmlformats.org/officeDocument/2006/relationships/tableStyles" Target="/ppt/tableStyles.xml" Id="R40facab965a343b8" /><Relationship Type="http://schemas.openxmlformats.org/officeDocument/2006/relationships/slide" Target="/ppt/slides/slide1.xml" Id="Raccc087d1bba4610" /><Relationship Type="http://schemas.openxmlformats.org/officeDocument/2006/relationships/slide" Target="/ppt/slides/slide2.xml" Id="R14a8b193de8544ae" /><Relationship Type="http://schemas.openxmlformats.org/officeDocument/2006/relationships/slide" Target="/ppt/slides/slide3.xml" Id="Re893c31d17f4423e" /><Relationship Type="http://schemas.openxmlformats.org/officeDocument/2006/relationships/slide" Target="/ppt/slides/slide4.xml" Id="Rf0f4160c39984a45" /><Relationship Type="http://schemas.openxmlformats.org/officeDocument/2006/relationships/slide" Target="/ppt/slides/slide5.xml" Id="Rbcaff5fa200e45bd" /><Relationship Type="http://schemas.openxmlformats.org/officeDocument/2006/relationships/slide" Target="/ppt/slides/slide6.xml" Id="Rf4fc3fc9800741dc" /><Relationship Type="http://schemas.openxmlformats.org/officeDocument/2006/relationships/slide" Target="/ppt/slides/slide7.xml" Id="R5bb7cdfa82ac42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43c33b412b4f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d895bd2ca64c0b" /><Relationship Type="http://schemas.openxmlformats.org/officeDocument/2006/relationships/notesMaster" Target="/ppt/notesMasters/notesMaster1.xml" Id="Re2ca7966f12642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a46144a0474cbd" /><Relationship Type="http://schemas.openxmlformats.org/officeDocument/2006/relationships/notesMaster" Target="/ppt/notesMasters/notesMaster1.xml" Id="R44c6228622ce41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3813a98d554c79" /><Relationship Type="http://schemas.openxmlformats.org/officeDocument/2006/relationships/notesMaster" Target="/ppt/notesMasters/notesMaster1.xml" Id="R3cff297bb7af4e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ff75e32a9d4579" /><Relationship Type="http://schemas.openxmlformats.org/officeDocument/2006/relationships/notesMaster" Target="/ppt/notesMasters/notesMaster1.xml" Id="R92d43a4129c94e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c215e1587e4920" /><Relationship Type="http://schemas.openxmlformats.org/officeDocument/2006/relationships/notesMaster" Target="/ppt/notesMasters/notesMaster1.xml" Id="Re81ab3248eed48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c49164010c463b" /><Relationship Type="http://schemas.openxmlformats.org/officeDocument/2006/relationships/notesMaster" Target="/ppt/notesMasters/notesMaster1.xml" Id="Rc5e94976d16c41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04b6e6cc46464f" /><Relationship Type="http://schemas.openxmlformats.org/officeDocument/2006/relationships/notesMaster" Target="/ppt/notesMasters/notesMaster1.xml" Id="Ra8dc21aa61ab46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Open slowly. Say: ‘A container can be tracked by software all the way to the port. But when the truck is late, the work still happens on a phone call. Tango is the agent on that line.’</a:t>
            </a:r>
          </a:p>
          <a:p xmlns:a="http://schemas.openxmlformats.org/drawingml/2006/main">
            <a:r>
              <a:t/>
            </a:r>
          </a:p>
          <a:p xmlns:a="http://schemas.openxmlformats.org/drawingml/2006/main">
            <a:r>
              <a:t>[Sources]</a:t>
            </a:r>
          </a:p>
          <a:p xmlns:a="http://schemas.openxmlformats.org/drawingml/2006/main">
            <a:r>
              <a:t>- User-provided NAUTA Challenge 4 brief; internal project documentation and implementation.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0:25–1:05</a:t>
            </a:r>
          </a:p>
          <a:p xmlns:a="http://schemas.openxmlformats.org/drawingml/2006/main">
            <a:r>
              <a:t>‘The phone call is where dispatchers and drivers resolve the exception, but it leaves no reliable system of record. It also cannot scale when ten shipments are in trouble at once.’ Do not add market statistics.</a:t>
            </a:r>
          </a:p>
          <a:p xmlns:a="http://schemas.openxmlformats.org/drawingml/2006/main">
            <a:r>
              <a:t/>
            </a:r>
          </a:p>
          <a:p xmlns:a="http://schemas.openxmlformats.org/drawingml/2006/main">
            <a:r>
              <a:t>[Sources]</a:t>
            </a:r>
          </a:p>
          <a:p xmlns:a="http://schemas.openxmlformats.org/drawingml/2006/main">
            <a:r>
              <a:t>- User-provided NAUTA Challenge 4 brief; internal project documentation and implementation.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1:05–1:55</a:t>
            </a:r>
          </a:p>
          <a:p xmlns:a="http://schemas.openxmlformats.org/drawingml/2006/main">
            <a:r>
              <a:t>Walk left to right: a human gives the authority, Tango works the phone, the server validates, and the outcome becomes part of the operation. Emphasize that this is not a queue of transcripts.</a:t>
            </a:r>
          </a:p>
          <a:p xmlns:a="http://schemas.openxmlformats.org/drawingml/2006/main">
            <a:r>
              <a:t/>
            </a:r>
          </a:p>
          <a:p xmlns:a="http://schemas.openxmlformats.org/drawingml/2006/main">
            <a:r>
              <a:t>[Sources]</a:t>
            </a:r>
          </a:p>
          <a:p xmlns:a="http://schemas.openxmlformats.org/drawingml/2006/main">
            <a:r>
              <a:t>- User-provided NAUTA Challenge 4 brief; internal project documentation and implementation.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1:55–2:45</a:t>
            </a:r>
          </a:p>
          <a:p xmlns:a="http://schemas.openxmlformats.org/drawingml/2006/main">
            <a:r>
              <a:t>This is the key safety claim. Say: ‘The model can converse, but it cannot decide by itself. It calls a scoped server tool; the server validates the active mandate, authorization and state before anything becomes a commitment.’</a:t>
            </a:r>
          </a:p>
          <a:p xmlns:a="http://schemas.openxmlformats.org/drawingml/2006/main">
            <a:r>
              <a:t/>
            </a:r>
          </a:p>
          <a:p xmlns:a="http://schemas.openxmlformats.org/drawingml/2006/main">
            <a:r>
              <a:t>[Sources]</a:t>
            </a:r>
          </a:p>
          <a:p xmlns:a="http://schemas.openxmlformats.org/drawingml/2006/main">
            <a:r>
              <a:t>- User-provided NAUTA Challenge 4 brief; internal project documentation and implementation.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2:45–3:55</a:t>
            </a:r>
          </a:p>
          <a:p xmlns:a="http://schemas.openxmlformats.org/drawingml/2006/main">
            <a:r>
              <a:t>Say only two things: ‘Voice is real-time and disposable; the operation is durable.’ Then point to the server-side domain: ‘OpenAI Realtime handles the live conversation, but tools go through a server boundary before Supabase records a state transition.’ Finally point to the red path: escalation context is persisted before the live SIP transfer.</a:t>
            </a:r>
          </a:p>
          <a:p xmlns:a="http://schemas.openxmlformats.org/drawingml/2006/main">
            <a:r>
              <a:t/>
            </a:r>
          </a:p>
          <a:p xmlns:a="http://schemas.openxmlformats.org/drawingml/2006/main">
            <a:r>
              <a:t>[Sources]</a:t>
            </a:r>
          </a:p>
          <a:p xmlns:a="http://schemas.openxmlformats.org/drawingml/2006/main">
            <a:r>
              <a:t>- User-provided NAUTA Challenge 4 brief; internal project documentation and implementation.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3:55–6:10</a:t>
            </a:r>
          </a:p>
          <a:p xmlns:a="http://schemas.openxmlformats.org/drawingml/2006/main">
            <a:r>
              <a:t>Before each action tell the judges what to watch for. First: the operation sources two carriers. Second: an inbound carrier asks to move pickup; show the timeline update only if inside the mandate. Third: request an above-cap deal and a human; Tango must not commit and the live handoff must preserve context.</a:t>
            </a:r>
          </a:p>
          <a:p xmlns:a="http://schemas.openxmlformats.org/drawingml/2006/main">
            <a:r>
              <a:t/>
            </a:r>
          </a:p>
          <a:p xmlns:a="http://schemas.openxmlformats.org/drawingml/2006/main">
            <a:r>
              <a:t>[Sources]</a:t>
            </a:r>
          </a:p>
          <a:p xmlns:a="http://schemas.openxmlformats.org/drawingml/2006/main">
            <a:r>
              <a:t>- User-provided NAUTA Challenge 4 brief; internal project documentation and implementation.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6:10–6:50</a:t>
            </a:r>
          </a:p>
          <a:p xmlns:a="http://schemas.openxmlformats.org/drawingml/2006/main">
            <a:r>
              <a:t>Close while the dashboard remains visible. Say: ‘Tango brings software to the last mile of logistics: the actual phone call. It acts fast inside a mandate, keeps an audit trail, and knows exactly when a human must decide.’ Then stop; leave room for questions.</a:t>
            </a:r>
          </a:p>
          <a:p xmlns:a="http://schemas.openxmlformats.org/drawingml/2006/main">
            <a:r>
              <a:t/>
            </a:r>
          </a:p>
          <a:p xmlns:a="http://schemas.openxmlformats.org/drawingml/2006/main">
            <a:r>
              <a:t>[Sources]</a:t>
            </a:r>
          </a:p>
          <a:p xmlns:a="http://schemas.openxmlformats.org/drawingml/2006/main">
            <a:r>
              <a:t>- User-provided NAUTA Challenge 4 brief; internal project documentation and implementation.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b760eeed6e4c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4da8c7b09c4fc0" /><Relationship Type="http://schemas.openxmlformats.org/officeDocument/2006/relationships/slideLayout" Target="/ppt/slideLayouts/slideLayout1.xml" Id="R7abdccf63e8548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bdccf63e8548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3bc636f90e4bdf" /><Relationship Type="http://schemas.openxmlformats.org/officeDocument/2006/relationships/notesSlide" Target="/ppt/notesSlides/notesSlide1.xml" Id="R35c78b19901249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0e489527c24d60" /><Relationship Type="http://schemas.openxmlformats.org/officeDocument/2006/relationships/notesSlide" Target="/ppt/notesSlides/notesSlide2.xml" Id="R40da5c6def2446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76bb1e09424aca" /><Relationship Type="http://schemas.openxmlformats.org/officeDocument/2006/relationships/notesSlide" Target="/ppt/notesSlides/notesSlide3.xml" Id="R4bb48e16fcce4c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d27cd9f0d04999" /><Relationship Type="http://schemas.openxmlformats.org/officeDocument/2006/relationships/notesSlide" Target="/ppt/notesSlides/notesSlide4.xml" Id="R6f38b9a46d9f4b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75baa1a5f8439a" /><Relationship Type="http://schemas.openxmlformats.org/officeDocument/2006/relationships/notesSlide" Target="/ppt/notesSlides/notesSlide5.xml" Id="R5dc6199912d34e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426056d7364f1b" /><Relationship Type="http://schemas.openxmlformats.org/officeDocument/2006/relationships/notesSlide" Target="/ppt/notesSlides/notesSlide6.xml" Id="Ra59aa9c7420f45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580465af4e43e3" /><Relationship Type="http://schemas.openxmlformats.org/officeDocument/2006/relationships/notesSlide" Target="/ppt/notesSlides/notesSlide7.xml" Id="R6f0b9292ffaf47a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op-label">
            <a:extLst xmlns:a="http://schemas.openxmlformats.org/drawingml/2006/main">
              <a:ext uri="{FF2B5EF4-FFF2-40B4-BE49-F238E27FC236}">
                <a16:creationId xmlns:a16="http://schemas.microsoft.com/office/drawing/2014/main" id="{5824D5EF-FB20-4D0D-A1FE-FD0CB653CD57}"/>
              </a:ext>
            </a:extLst>
          </p:cNvPr>
          <p:cNvSpPr>
            <a:spLocks xmlns:a="http://schemas.openxmlformats.org/drawingml/2006/main" noGrp="1"/>
          </p:cNvSpPr>
          <p:nvPr/>
        </p:nvSpPr>
        <p:spPr>
          <a:xfrm xmlns:a="http://schemas.openxmlformats.org/drawingml/2006/main">
            <a:off x="4953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B76E31"/>
                </a:solidFill>
                <a:latin typeface="Helvetica Neue"/>
                <a:ea typeface="Helvetica Neue"/>
                <a:cs typeface="Helvetica Neue"/>
              </a:defRPr>
            </a:pPr>
            <a:r>
              <a:rPr sz="1275" b="1">
                <a:solidFill>
                  <a:srgbClr val="B76E31"/>
                </a:solidFill>
                <a:latin typeface="Helvetica Neue"/>
                <a:ea typeface="Helvetica Neue"/>
                <a:cs typeface="Helvetica Neue"/>
              </a:rPr>
              <a:t>NAUTA · CHALLENGE 4</a:t>
            </a:r>
          </a:p>
        </p:txBody>
      </p:sp>
      <p:sp>
        <p:nvSpPr>
          <p:cNvPr id="2" name="cover-title">
            <a:extLst xmlns:a="http://schemas.openxmlformats.org/drawingml/2006/main">
              <a:ext uri="{FF2B5EF4-FFF2-40B4-BE49-F238E27FC236}">
                <a16:creationId xmlns:a16="http://schemas.microsoft.com/office/drawing/2014/main" id="{EEEBE676-38A0-4DEE-9E5E-552018D5804D}"/>
              </a:ext>
            </a:extLst>
          </p:cNvPr>
          <p:cNvSpPr>
            <a:spLocks xmlns:a="http://schemas.openxmlformats.org/drawingml/2006/main" noGrp="1"/>
          </p:cNvSpPr>
          <p:nvPr/>
        </p:nvSpPr>
        <p:spPr>
          <a:xfrm xmlns:a="http://schemas.openxmlformats.org/drawingml/2006/main">
            <a:off x="495300" y="1952625"/>
            <a:ext cx="9334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98302"/>
          </a:bodyPr>
          <a:lstStyle xmlns:a="http://schemas.openxmlformats.org/drawingml/2006/main"/>
          <a:p xmlns:a="http://schemas.openxmlformats.org/drawingml/2006/main">
            <a:pPr algn="l">
              <a:defRPr sz="5400" b="1">
                <a:solidFill>
                  <a:srgbClr val="15222A"/>
                </a:solidFill>
                <a:latin typeface="Helvetica Neue"/>
                <a:ea typeface="Helvetica Neue"/>
                <a:cs typeface="Helvetica Neue"/>
              </a:defRPr>
            </a:pPr>
            <a:r>
              <a:rPr sz="5400" b="1">
                <a:solidFill>
                  <a:srgbClr val="15222A"/>
                </a:solidFill>
                <a:latin typeface="Helvetica Neue"/>
                <a:ea typeface="Helvetica Neue"/>
                <a:cs typeface="Helvetica Neue"/>
              </a:rPr>
              <a:t>Tango works where logistics still happens: on the phone.</a:t>
            </a:r>
          </a:p>
        </p:txBody>
      </p:sp>
      <p:sp>
        <p:nvSpPr>
          <p:cNvPr id="3" name="cover-rule">
            <a:extLst xmlns:a="http://schemas.openxmlformats.org/drawingml/2006/main">
              <a:ext uri="{FF2B5EF4-FFF2-40B4-BE49-F238E27FC236}">
                <a16:creationId xmlns:a16="http://schemas.microsoft.com/office/drawing/2014/main" id="{4D7D997A-15E0-4756-B14A-335CF5AF29E4}"/>
              </a:ext>
            </a:extLst>
          </p:cNvPr>
          <p:cNvSpPr>
            <a:spLocks xmlns:a="http://schemas.openxmlformats.org/drawingml/2006/main" noGrp="1"/>
          </p:cNvSpPr>
          <p:nvPr/>
        </p:nvSpPr>
        <p:spPr>
          <a:xfrm xmlns:a="http://schemas.openxmlformats.org/drawingml/2006/main">
            <a:off x="495300" y="4171950"/>
            <a:ext cx="400050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4" name="cover-subtitle">
            <a:extLst xmlns:a="http://schemas.openxmlformats.org/drawingml/2006/main">
              <a:ext uri="{FF2B5EF4-FFF2-40B4-BE49-F238E27FC236}">
                <a16:creationId xmlns:a16="http://schemas.microsoft.com/office/drawing/2014/main" id="{5218334A-1DBB-4832-BFE5-4A81ECD1B605}"/>
              </a:ext>
            </a:extLst>
          </p:cNvPr>
          <p:cNvSpPr>
            <a:spLocks xmlns:a="http://schemas.openxmlformats.org/drawingml/2006/main" noGrp="1"/>
          </p:cNvSpPr>
          <p:nvPr/>
        </p:nvSpPr>
        <p:spPr>
          <a:xfrm xmlns:a="http://schemas.openxmlformats.org/drawingml/2006/main">
            <a:off x="495300" y="4495800"/>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0">
                <a:solidFill>
                  <a:srgbClr val="486A76"/>
                </a:solidFill>
                <a:latin typeface="Helvetica Neue"/>
                <a:ea typeface="Helvetica Neue"/>
                <a:cs typeface="Helvetica Neue"/>
              </a:defRPr>
            </a:pPr>
            <a:r>
              <a:rPr sz="2100" b="0">
                <a:solidFill>
                  <a:srgbClr val="486A76"/>
                </a:solidFill>
                <a:latin typeface="Helvetica Neue"/>
                <a:ea typeface="Helvetica Neue"/>
                <a:cs typeface="Helvetica Neue"/>
              </a:rPr>
              <a:t>A real-time voice agent that turns conversations into verified operational commitments.</a:t>
            </a:r>
          </a:p>
        </p:txBody>
      </p:sp>
      <p:sp>
        <p:nvSpPr>
          <p:cNvPr id="5" name="cover-footer">
            <a:extLst xmlns:a="http://schemas.openxmlformats.org/drawingml/2006/main">
              <a:ext uri="{FF2B5EF4-FFF2-40B4-BE49-F238E27FC236}">
                <a16:creationId xmlns:a16="http://schemas.microsoft.com/office/drawing/2014/main" id="{98B6BA2D-4280-424F-BD30-12B08998A01B}"/>
              </a:ext>
            </a:extLst>
          </p:cNvPr>
          <p:cNvSpPr>
            <a:spLocks xmlns:a="http://schemas.openxmlformats.org/drawingml/2006/main" noGrp="1"/>
          </p:cNvSpPr>
          <p:nvPr/>
        </p:nvSpPr>
        <p:spPr>
          <a:xfrm xmlns:a="http://schemas.openxmlformats.org/drawingml/2006/main">
            <a:off x="495300" y="61531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486A76"/>
                </a:solidFill>
                <a:latin typeface="Helvetica Neue"/>
                <a:ea typeface="Helvetica Neue"/>
                <a:cs typeface="Helvetica Neue"/>
              </a:defRPr>
            </a:pPr>
            <a:r>
              <a:rPr sz="1050" b="1">
                <a:solidFill>
                  <a:srgbClr val="486A76"/>
                </a:solidFill>
                <a:latin typeface="Helvetica Neue"/>
                <a:ea typeface="Helvetica Neue"/>
                <a:cs typeface="Helvetica Neue"/>
              </a:rPr>
              <a:t>OUTBOUND SOURCING · INBOUND EXCEPTIONS · LIVE HUMAN HANDOFF</a:t>
            </a:r>
          </a:p>
        </p:txBody>
      </p:sp>
    </p:spTree>
    <p:extLst>
      <p:ext uri="{BB962C8B-B14F-4D97-AF65-F5344CB8AC3E}">
        <p14:creationId xmlns:p14="http://schemas.microsoft.com/office/powerpoint/2010/main" val="5112117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52FC47CD-D5F1-4705-9CDC-3B3FB3A3FAC1}"/>
              </a:ext>
            </a:extLst>
          </p:cNvPr>
          <p:cNvSpPr>
            <a:spLocks xmlns:a="http://schemas.openxmlformats.org/drawingml/2006/main" noGrp="1"/>
          </p:cNvSpPr>
          <p:nvPr/>
        </p:nvSpPr>
        <p:spPr>
          <a:xfrm xmlns:a="http://schemas.openxmlformats.org/drawingml/2006/main">
            <a:off x="495300" y="323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B76E31"/>
                </a:solidFill>
                <a:latin typeface="Helvetica Neue"/>
                <a:ea typeface="Helvetica Neue"/>
                <a:cs typeface="Helvetica Neue"/>
              </a:defRPr>
            </a:pPr>
            <a:r>
              <a:rPr sz="1125" b="1">
                <a:solidFill>
                  <a:srgbClr val="B76E31"/>
                </a:solidFill>
                <a:latin typeface="Helvetica Neue"/>
                <a:ea typeface="Helvetica Neue"/>
                <a:cs typeface="Helvetica Neue"/>
              </a:rPr>
              <a:t>THE PROBLEM</a:t>
            </a:r>
          </a:p>
        </p:txBody>
      </p:sp>
      <p:sp>
        <p:nvSpPr>
          <p:cNvPr id="2" name="slide-number">
            <a:extLst xmlns:a="http://schemas.openxmlformats.org/drawingml/2006/main">
              <a:ext uri="{FF2B5EF4-FFF2-40B4-BE49-F238E27FC236}">
                <a16:creationId xmlns:a16="http://schemas.microsoft.com/office/drawing/2014/main" id="{7383D88A-ED0C-4CA4-B363-1662A90F6D65}"/>
              </a:ext>
            </a:extLst>
          </p:cNvPr>
          <p:cNvSpPr>
            <a:spLocks xmlns:a="http://schemas.openxmlformats.org/drawingml/2006/main" noGrp="1"/>
          </p:cNvSpPr>
          <p:nvPr/>
        </p:nvSpPr>
        <p:spPr>
          <a:xfrm xmlns:a="http://schemas.openxmlformats.org/drawingml/2006/main">
            <a:off x="11049000" y="323850"/>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125" b="1">
                <a:solidFill>
                  <a:srgbClr val="486A76"/>
                </a:solidFill>
                <a:latin typeface="Helvetica Neue"/>
                <a:ea typeface="Helvetica Neue"/>
                <a:cs typeface="Helvetica Neue"/>
              </a:defRPr>
            </a:pPr>
            <a:r>
              <a:rPr sz="1125" b="1">
                <a:solidFill>
                  <a:srgbClr val="486A76"/>
                </a:solidFill>
                <a:latin typeface="Helvetica Neue"/>
                <a:ea typeface="Helvetica Neue"/>
                <a:cs typeface="Helvetica Neue"/>
              </a:rPr>
              <a:t>02</a:t>
            </a:r>
          </a:p>
        </p:txBody>
      </p:sp>
      <p:sp>
        <p:nvSpPr>
          <p:cNvPr id="3" name="header-rule">
            <a:extLst xmlns:a="http://schemas.openxmlformats.org/drawingml/2006/main">
              <a:ext uri="{FF2B5EF4-FFF2-40B4-BE49-F238E27FC236}">
                <a16:creationId xmlns:a16="http://schemas.microsoft.com/office/drawing/2014/main" id="{76E6EE2A-7D63-41B8-97DD-CE9A890B5B59}"/>
              </a:ext>
            </a:extLst>
          </p:cNvPr>
          <p:cNvSpPr>
            <a:spLocks xmlns:a="http://schemas.openxmlformats.org/drawingml/2006/main" noGrp="1"/>
          </p:cNvSpPr>
          <p:nvPr/>
        </p:nvSpPr>
        <p:spPr>
          <a:xfrm xmlns:a="http://schemas.openxmlformats.org/drawingml/2006/main">
            <a:off x="495300" y="714375"/>
            <a:ext cx="11201400" cy="0"/>
          </a:xfrm>
          <a:prstGeom xmlns:a="http://schemas.openxmlformats.org/drawingml/2006/main" prst="line">
            <a:avLst/>
          </a:prstGeom>
          <a:noFill xmlns:a="http://schemas.openxmlformats.org/drawingml/2006/main"/>
          <a:ln xmlns:a="http://schemas.openxmlformats.org/drawingml/2006/main" w="9525">
            <a:solidFill>
              <a:srgbClr val="C8C9BF"/>
            </a:solidFill>
            <a:prstDash val="solid"/>
          </a:ln>
        </p:spPr>
      </p:sp>
      <p:sp>
        <p:nvSpPr>
          <p:cNvPr id="4" name="headline">
            <a:extLst xmlns:a="http://schemas.openxmlformats.org/drawingml/2006/main">
              <a:ext uri="{FF2B5EF4-FFF2-40B4-BE49-F238E27FC236}">
                <a16:creationId xmlns:a16="http://schemas.microsoft.com/office/drawing/2014/main" id="{606E8A70-489E-4DE5-A7C3-6B8278D15BEE}"/>
              </a:ext>
            </a:extLst>
          </p:cNvPr>
          <p:cNvSpPr>
            <a:spLocks xmlns:a="http://schemas.openxmlformats.org/drawingml/2006/main" noGrp="1"/>
          </p:cNvSpPr>
          <p:nvPr/>
        </p:nvSpPr>
        <p:spPr>
          <a:xfrm xmlns:a="http://schemas.openxmlformats.org/drawingml/2006/main">
            <a:off x="495300" y="1028700"/>
            <a:ext cx="1057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defRPr sz="3600" b="1">
                <a:solidFill>
                  <a:srgbClr val="15222A"/>
                </a:solidFill>
                <a:latin typeface="Helvetica Neue"/>
                <a:ea typeface="Helvetica Neue"/>
                <a:cs typeface="Helvetica Neue"/>
              </a:defRPr>
            </a:pPr>
            <a:r>
              <a:rPr sz="3600" b="1">
                <a:solidFill>
                  <a:srgbClr val="15222A"/>
                </a:solidFill>
                <a:latin typeface="Helvetica Neue"/>
                <a:ea typeface="Helvetica Neue"/>
                <a:cs typeface="Helvetica Neue"/>
              </a:rPr>
              <a:t>The important part of logistics never made it into the system.</a:t>
            </a:r>
          </a:p>
        </p:txBody>
      </p:sp>
      <p:sp>
        <p:nvSpPr>
          <p:cNvPr id="5" name="problem-intro">
            <a:extLst xmlns:a="http://schemas.openxmlformats.org/drawingml/2006/main">
              <a:ext uri="{FF2B5EF4-FFF2-40B4-BE49-F238E27FC236}">
                <a16:creationId xmlns:a16="http://schemas.microsoft.com/office/drawing/2014/main" id="{08F0D49A-14FE-4A62-9AF4-AA1A49109827}"/>
              </a:ext>
            </a:extLst>
          </p:cNvPr>
          <p:cNvSpPr>
            <a:spLocks xmlns:a="http://schemas.openxmlformats.org/drawingml/2006/main" noGrp="1"/>
          </p:cNvSpPr>
          <p:nvPr/>
        </p:nvSpPr>
        <p:spPr>
          <a:xfrm xmlns:a="http://schemas.openxmlformats.org/drawingml/2006/main">
            <a:off x="495300" y="238125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02"/>
          </a:bodyPr>
          <a:lstStyle xmlns:a="http://schemas.openxmlformats.org/drawingml/2006/main"/>
          <a:p xmlns:a="http://schemas.openxmlformats.org/drawingml/2006/main">
            <a:pPr algn="l">
              <a:defRPr sz="2100" b="0">
                <a:solidFill>
                  <a:srgbClr val="486A76"/>
                </a:solidFill>
                <a:latin typeface="Helvetica Neue"/>
                <a:ea typeface="Helvetica Neue"/>
                <a:cs typeface="Helvetica Neue"/>
              </a:defRPr>
            </a:pPr>
            <a:r>
              <a:rPr sz="2100" b="0">
                <a:solidFill>
                  <a:srgbClr val="486A76"/>
                </a:solidFill>
                <a:latin typeface="Helvetica Neue"/>
                <a:ea typeface="Helvetica Neue"/>
                <a:cs typeface="Helvetica Neue"/>
              </a:rPr>
              <a:t>Quotes, changes and driver updates are still resolved by whoever answers the phone.</a:t>
            </a:r>
          </a:p>
        </p:txBody>
      </p:sp>
      <p:sp>
        <p:nvSpPr>
          <p:cNvPr id="6" name="problem-rule-0">
            <a:extLst xmlns:a="http://schemas.openxmlformats.org/drawingml/2006/main">
              <a:ext uri="{FF2B5EF4-FFF2-40B4-BE49-F238E27FC236}">
                <a16:creationId xmlns:a16="http://schemas.microsoft.com/office/drawing/2014/main" id="{F89D42EE-D94F-440E-B374-CA29C963D861}"/>
              </a:ext>
            </a:extLst>
          </p:cNvPr>
          <p:cNvSpPr>
            <a:spLocks xmlns:a="http://schemas.openxmlformats.org/drawingml/2006/main" noGrp="1"/>
          </p:cNvSpPr>
          <p:nvPr/>
        </p:nvSpPr>
        <p:spPr>
          <a:xfrm xmlns:a="http://schemas.openxmlformats.org/drawingml/2006/main">
            <a:off x="495300" y="3771900"/>
            <a:ext cx="30289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7" name="problem-label-0">
            <a:extLst xmlns:a="http://schemas.openxmlformats.org/drawingml/2006/main">
              <a:ext uri="{FF2B5EF4-FFF2-40B4-BE49-F238E27FC236}">
                <a16:creationId xmlns:a16="http://schemas.microsoft.com/office/drawing/2014/main" id="{5EC743B4-B151-4B4A-BE0A-26EB87215B17}"/>
              </a:ext>
            </a:extLst>
          </p:cNvPr>
          <p:cNvSpPr>
            <a:spLocks xmlns:a="http://schemas.openxmlformats.org/drawingml/2006/main" noGrp="1"/>
          </p:cNvSpPr>
          <p:nvPr/>
        </p:nvSpPr>
        <p:spPr>
          <a:xfrm xmlns:a="http://schemas.openxmlformats.org/drawingml/2006/main">
            <a:off x="495300" y="4019550"/>
            <a:ext cx="302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B76E31"/>
                </a:solidFill>
                <a:latin typeface="Helvetica Neue"/>
                <a:ea typeface="Helvetica Neue"/>
                <a:cs typeface="Helvetica Neue"/>
              </a:defRPr>
            </a:pPr>
            <a:r>
              <a:rPr sz="1200" b="1">
                <a:solidFill>
                  <a:srgbClr val="B76E31"/>
                </a:solidFill>
                <a:latin typeface="Helvetica Neue"/>
                <a:ea typeface="Helvetica Neue"/>
                <a:cs typeface="Helvetica Neue"/>
              </a:rPr>
              <a:t>NO RECORD</a:t>
            </a:r>
          </a:p>
        </p:txBody>
      </p:sp>
      <p:sp>
        <p:nvSpPr>
          <p:cNvPr id="8" name="problem-body-0">
            <a:extLst xmlns:a="http://schemas.openxmlformats.org/drawingml/2006/main">
              <a:ext uri="{FF2B5EF4-FFF2-40B4-BE49-F238E27FC236}">
                <a16:creationId xmlns:a16="http://schemas.microsoft.com/office/drawing/2014/main" id="{6799F3A3-0438-46F3-A3E3-4AE8ABFA61B9}"/>
              </a:ext>
            </a:extLst>
          </p:cNvPr>
          <p:cNvSpPr>
            <a:spLocks xmlns:a="http://schemas.openxmlformats.org/drawingml/2006/main" noGrp="1"/>
          </p:cNvSpPr>
          <p:nvPr/>
        </p:nvSpPr>
        <p:spPr>
          <a:xfrm xmlns:a="http://schemas.openxmlformats.org/drawingml/2006/main">
            <a:off x="495300" y="4400550"/>
            <a:ext cx="30289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15222A"/>
                </a:solidFill>
                <a:latin typeface="Helvetica Neue"/>
                <a:ea typeface="Helvetica Neue"/>
                <a:cs typeface="Helvetica Neue"/>
              </a:defRPr>
            </a:pPr>
            <a:r>
              <a:rPr sz="1650" b="0">
                <a:solidFill>
                  <a:srgbClr val="15222A"/>
                </a:solidFill>
                <a:latin typeface="Helvetica Neue"/>
                <a:ea typeface="Helvetica Neue"/>
                <a:cs typeface="Helvetica Neue"/>
              </a:rPr>
              <a:t>What was agreed lives in memory, a note or a transcript.</a:t>
            </a:r>
          </a:p>
        </p:txBody>
      </p:sp>
      <p:sp>
        <p:nvSpPr>
          <p:cNvPr id="9" name="problem-rule-1">
            <a:extLst xmlns:a="http://schemas.openxmlformats.org/drawingml/2006/main">
              <a:ext uri="{FF2B5EF4-FFF2-40B4-BE49-F238E27FC236}">
                <a16:creationId xmlns:a16="http://schemas.microsoft.com/office/drawing/2014/main" id="{775BBF88-E80F-4647-A80A-C6BFADA23066}"/>
              </a:ext>
            </a:extLst>
          </p:cNvPr>
          <p:cNvSpPr>
            <a:spLocks xmlns:a="http://schemas.openxmlformats.org/drawingml/2006/main" noGrp="1"/>
          </p:cNvSpPr>
          <p:nvPr/>
        </p:nvSpPr>
        <p:spPr>
          <a:xfrm xmlns:a="http://schemas.openxmlformats.org/drawingml/2006/main">
            <a:off x="4229100" y="3771900"/>
            <a:ext cx="30289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0" name="problem-label-1">
            <a:extLst xmlns:a="http://schemas.openxmlformats.org/drawingml/2006/main">
              <a:ext uri="{FF2B5EF4-FFF2-40B4-BE49-F238E27FC236}">
                <a16:creationId xmlns:a16="http://schemas.microsoft.com/office/drawing/2014/main" id="{FB027DC3-0AF1-4023-A823-CFA7E7F6FA7D}"/>
              </a:ext>
            </a:extLst>
          </p:cNvPr>
          <p:cNvSpPr>
            <a:spLocks xmlns:a="http://schemas.openxmlformats.org/drawingml/2006/main" noGrp="1"/>
          </p:cNvSpPr>
          <p:nvPr/>
        </p:nvSpPr>
        <p:spPr>
          <a:xfrm xmlns:a="http://schemas.openxmlformats.org/drawingml/2006/main">
            <a:off x="4229100" y="4019550"/>
            <a:ext cx="302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B76E31"/>
                </a:solidFill>
                <a:latin typeface="Helvetica Neue"/>
                <a:ea typeface="Helvetica Neue"/>
                <a:cs typeface="Helvetica Neue"/>
              </a:defRPr>
            </a:pPr>
            <a:r>
              <a:rPr sz="1200" b="1">
                <a:solidFill>
                  <a:srgbClr val="B76E31"/>
                </a:solidFill>
                <a:latin typeface="Helvetica Neue"/>
                <a:ea typeface="Helvetica Neue"/>
                <a:cs typeface="Helvetica Neue"/>
              </a:rPr>
              <a:t>NO PARALLELISM</a:t>
            </a:r>
          </a:p>
        </p:txBody>
      </p:sp>
      <p:sp>
        <p:nvSpPr>
          <p:cNvPr id="11" name="problem-body-1">
            <a:extLst xmlns:a="http://schemas.openxmlformats.org/drawingml/2006/main">
              <a:ext uri="{FF2B5EF4-FFF2-40B4-BE49-F238E27FC236}">
                <a16:creationId xmlns:a16="http://schemas.microsoft.com/office/drawing/2014/main" id="{D8745E94-6510-4B67-91F9-6F2DBAB190D8}"/>
              </a:ext>
            </a:extLst>
          </p:cNvPr>
          <p:cNvSpPr>
            <a:spLocks xmlns:a="http://schemas.openxmlformats.org/drawingml/2006/main" noGrp="1"/>
          </p:cNvSpPr>
          <p:nvPr/>
        </p:nvSpPr>
        <p:spPr>
          <a:xfrm xmlns:a="http://schemas.openxmlformats.org/drawingml/2006/main">
            <a:off x="4229100" y="4400550"/>
            <a:ext cx="30289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15222A"/>
                </a:solidFill>
                <a:latin typeface="Helvetica Neue"/>
                <a:ea typeface="Helvetica Neue"/>
                <a:cs typeface="Helvetica Neue"/>
              </a:defRPr>
            </a:pPr>
            <a:r>
              <a:rPr sz="1650" b="0">
                <a:solidFill>
                  <a:srgbClr val="15222A"/>
                </a:solidFill>
                <a:latin typeface="Helvetica Neue"/>
                <a:ea typeface="Helvetica Neue"/>
                <a:cs typeface="Helvetica Neue"/>
              </a:rPr>
              <a:t>Every urgent shipment waits for a human to hold another call.</a:t>
            </a:r>
          </a:p>
        </p:txBody>
      </p:sp>
      <p:sp>
        <p:nvSpPr>
          <p:cNvPr id="12" name="problem-rule-2">
            <a:extLst xmlns:a="http://schemas.openxmlformats.org/drawingml/2006/main">
              <a:ext uri="{FF2B5EF4-FFF2-40B4-BE49-F238E27FC236}">
                <a16:creationId xmlns:a16="http://schemas.microsoft.com/office/drawing/2014/main" id="{C99F154E-5372-4996-98CC-C12DCA906F64}"/>
              </a:ext>
            </a:extLst>
          </p:cNvPr>
          <p:cNvSpPr>
            <a:spLocks xmlns:a="http://schemas.openxmlformats.org/drawingml/2006/main" noGrp="1"/>
          </p:cNvSpPr>
          <p:nvPr/>
        </p:nvSpPr>
        <p:spPr>
          <a:xfrm xmlns:a="http://schemas.openxmlformats.org/drawingml/2006/main">
            <a:off x="7962900" y="3771900"/>
            <a:ext cx="3028950" cy="0"/>
          </a:xfrm>
          <a:prstGeom xmlns:a="http://schemas.openxmlformats.org/drawingml/2006/main" prst="line">
            <a:avLst/>
          </a:prstGeom>
          <a:noFill xmlns:a="http://schemas.openxmlformats.org/drawingml/2006/main"/>
          <a:ln xmlns:a="http://schemas.openxmlformats.org/drawingml/2006/main" w="28575">
            <a:solidFill>
              <a:srgbClr val="A63E3A"/>
            </a:solidFill>
            <a:prstDash val="solid"/>
          </a:ln>
        </p:spPr>
      </p:sp>
      <p:sp>
        <p:nvSpPr>
          <p:cNvPr id="13" name="problem-label-2">
            <a:extLst xmlns:a="http://schemas.openxmlformats.org/drawingml/2006/main">
              <a:ext uri="{FF2B5EF4-FFF2-40B4-BE49-F238E27FC236}">
                <a16:creationId xmlns:a16="http://schemas.microsoft.com/office/drawing/2014/main" id="{C3E38356-315C-404E-A604-CD4D48E679A4}"/>
              </a:ext>
            </a:extLst>
          </p:cNvPr>
          <p:cNvSpPr>
            <a:spLocks xmlns:a="http://schemas.openxmlformats.org/drawingml/2006/main" noGrp="1"/>
          </p:cNvSpPr>
          <p:nvPr/>
        </p:nvSpPr>
        <p:spPr>
          <a:xfrm xmlns:a="http://schemas.openxmlformats.org/drawingml/2006/main">
            <a:off x="7962900" y="4019550"/>
            <a:ext cx="302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B76E31"/>
                </a:solidFill>
                <a:latin typeface="Helvetica Neue"/>
                <a:ea typeface="Helvetica Neue"/>
                <a:cs typeface="Helvetica Neue"/>
              </a:defRPr>
            </a:pPr>
            <a:r>
              <a:rPr sz="1200" b="1">
                <a:solidFill>
                  <a:srgbClr val="B76E31"/>
                </a:solidFill>
                <a:latin typeface="Helvetica Neue"/>
                <a:ea typeface="Helvetica Neue"/>
                <a:cs typeface="Helvetica Neue"/>
              </a:rPr>
              <a:t>NO CONTROL</a:t>
            </a:r>
          </a:p>
        </p:txBody>
      </p:sp>
      <p:sp>
        <p:nvSpPr>
          <p:cNvPr id="14" name="problem-body-2">
            <a:extLst xmlns:a="http://schemas.openxmlformats.org/drawingml/2006/main">
              <a:ext uri="{FF2B5EF4-FFF2-40B4-BE49-F238E27FC236}">
                <a16:creationId xmlns:a16="http://schemas.microsoft.com/office/drawing/2014/main" id="{43BD3484-8874-49B5-B8FF-12040FA02071}"/>
              </a:ext>
            </a:extLst>
          </p:cNvPr>
          <p:cNvSpPr>
            <a:spLocks xmlns:a="http://schemas.openxmlformats.org/drawingml/2006/main" noGrp="1"/>
          </p:cNvSpPr>
          <p:nvPr/>
        </p:nvSpPr>
        <p:spPr>
          <a:xfrm xmlns:a="http://schemas.openxmlformats.org/drawingml/2006/main">
            <a:off x="7962900" y="4400550"/>
            <a:ext cx="30289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15222A"/>
                </a:solidFill>
                <a:latin typeface="Helvetica Neue"/>
                <a:ea typeface="Helvetica Neue"/>
                <a:cs typeface="Helvetica Neue"/>
              </a:defRPr>
            </a:pPr>
            <a:r>
              <a:rPr sz="1650" b="0">
                <a:solidFill>
                  <a:srgbClr val="15222A"/>
                </a:solidFill>
                <a:latin typeface="Helvetica Neue"/>
                <a:ea typeface="Helvetica Neue"/>
                <a:cs typeface="Helvetica Neue"/>
              </a:rPr>
              <a:t>A phone promise can drift away from the current operational constraints.</a:t>
            </a:r>
          </a:p>
        </p:txBody>
      </p:sp>
    </p:spTree>
    <p:extLst>
      <p:ext uri="{BB962C8B-B14F-4D97-AF65-F5344CB8AC3E}">
        <p14:creationId xmlns:p14="http://schemas.microsoft.com/office/powerpoint/2010/main" val="13850585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5ECA077A-F3FE-4E45-98DF-E4CD168B05CF}"/>
              </a:ext>
            </a:extLst>
          </p:cNvPr>
          <p:cNvSpPr>
            <a:spLocks xmlns:a="http://schemas.openxmlformats.org/drawingml/2006/main" noGrp="1"/>
          </p:cNvSpPr>
          <p:nvPr/>
        </p:nvSpPr>
        <p:spPr>
          <a:xfrm xmlns:a="http://schemas.openxmlformats.org/drawingml/2006/main">
            <a:off x="495300" y="323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B76E31"/>
                </a:solidFill>
                <a:latin typeface="Helvetica Neue"/>
                <a:ea typeface="Helvetica Neue"/>
                <a:cs typeface="Helvetica Neue"/>
              </a:defRPr>
            </a:pPr>
            <a:r>
              <a:rPr sz="1125" b="1">
                <a:solidFill>
                  <a:srgbClr val="B76E31"/>
                </a:solidFill>
                <a:latin typeface="Helvetica Neue"/>
                <a:ea typeface="Helvetica Neue"/>
                <a:cs typeface="Helvetica Neue"/>
              </a:rPr>
              <a:t>THE OPERATING MODEL</a:t>
            </a:r>
          </a:p>
        </p:txBody>
      </p:sp>
      <p:sp>
        <p:nvSpPr>
          <p:cNvPr id="2" name="slide-number">
            <a:extLst xmlns:a="http://schemas.openxmlformats.org/drawingml/2006/main">
              <a:ext uri="{FF2B5EF4-FFF2-40B4-BE49-F238E27FC236}">
                <a16:creationId xmlns:a16="http://schemas.microsoft.com/office/drawing/2014/main" id="{2729009D-512F-49C6-9982-43203AF88A9F}"/>
              </a:ext>
            </a:extLst>
          </p:cNvPr>
          <p:cNvSpPr>
            <a:spLocks xmlns:a="http://schemas.openxmlformats.org/drawingml/2006/main" noGrp="1"/>
          </p:cNvSpPr>
          <p:nvPr/>
        </p:nvSpPr>
        <p:spPr>
          <a:xfrm xmlns:a="http://schemas.openxmlformats.org/drawingml/2006/main">
            <a:off x="11049000" y="323850"/>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125" b="1">
                <a:solidFill>
                  <a:srgbClr val="486A76"/>
                </a:solidFill>
                <a:latin typeface="Helvetica Neue"/>
                <a:ea typeface="Helvetica Neue"/>
                <a:cs typeface="Helvetica Neue"/>
              </a:defRPr>
            </a:pPr>
            <a:r>
              <a:rPr sz="1125" b="1">
                <a:solidFill>
                  <a:srgbClr val="486A76"/>
                </a:solidFill>
                <a:latin typeface="Helvetica Neue"/>
                <a:ea typeface="Helvetica Neue"/>
                <a:cs typeface="Helvetica Neue"/>
              </a:rPr>
              <a:t>03</a:t>
            </a:r>
          </a:p>
        </p:txBody>
      </p:sp>
      <p:sp>
        <p:nvSpPr>
          <p:cNvPr id="3" name="header-rule">
            <a:extLst xmlns:a="http://schemas.openxmlformats.org/drawingml/2006/main">
              <a:ext uri="{FF2B5EF4-FFF2-40B4-BE49-F238E27FC236}">
                <a16:creationId xmlns:a16="http://schemas.microsoft.com/office/drawing/2014/main" id="{B93C80A6-429D-40E6-9FD6-571782A3F7E5}"/>
              </a:ext>
            </a:extLst>
          </p:cNvPr>
          <p:cNvSpPr>
            <a:spLocks xmlns:a="http://schemas.openxmlformats.org/drawingml/2006/main" noGrp="1"/>
          </p:cNvSpPr>
          <p:nvPr/>
        </p:nvSpPr>
        <p:spPr>
          <a:xfrm xmlns:a="http://schemas.openxmlformats.org/drawingml/2006/main">
            <a:off x="495300" y="714375"/>
            <a:ext cx="11201400" cy="0"/>
          </a:xfrm>
          <a:prstGeom xmlns:a="http://schemas.openxmlformats.org/drawingml/2006/main" prst="line">
            <a:avLst/>
          </a:prstGeom>
          <a:noFill xmlns:a="http://schemas.openxmlformats.org/drawingml/2006/main"/>
          <a:ln xmlns:a="http://schemas.openxmlformats.org/drawingml/2006/main" w="9525">
            <a:solidFill>
              <a:srgbClr val="C8C9BF"/>
            </a:solidFill>
            <a:prstDash val="solid"/>
          </a:ln>
        </p:spPr>
      </p:sp>
      <p:sp>
        <p:nvSpPr>
          <p:cNvPr id="4" name="headline">
            <a:extLst xmlns:a="http://schemas.openxmlformats.org/drawingml/2006/main">
              <a:ext uri="{FF2B5EF4-FFF2-40B4-BE49-F238E27FC236}">
                <a16:creationId xmlns:a16="http://schemas.microsoft.com/office/drawing/2014/main" id="{79167629-BE70-4272-B461-BB985D93DA7D}"/>
              </a:ext>
            </a:extLst>
          </p:cNvPr>
          <p:cNvSpPr>
            <a:spLocks xmlns:a="http://schemas.openxmlformats.org/drawingml/2006/main" noGrp="1"/>
          </p:cNvSpPr>
          <p:nvPr/>
        </p:nvSpPr>
        <p:spPr>
          <a:xfrm xmlns:a="http://schemas.openxmlformats.org/drawingml/2006/main">
            <a:off x="495300" y="1028700"/>
            <a:ext cx="1057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15222A"/>
                </a:solidFill>
                <a:latin typeface="Helvetica Neue"/>
                <a:ea typeface="Helvetica Neue"/>
                <a:cs typeface="Helvetica Neue"/>
              </a:defRPr>
            </a:pPr>
            <a:r>
              <a:rPr sz="3600" b="1">
                <a:solidFill>
                  <a:srgbClr val="15222A"/>
                </a:solidFill>
                <a:latin typeface="Helvetica Neue"/>
                <a:ea typeface="Helvetica Neue"/>
                <a:cs typeface="Helvetica Neue"/>
              </a:rPr>
              <a:t>A mandate gives Tango a clear lane to operate.</a:t>
            </a:r>
          </a:p>
        </p:txBody>
      </p:sp>
      <p:sp>
        <p:nvSpPr>
          <p:cNvPr id="5" name="flow-line">
            <a:extLst xmlns:a="http://schemas.openxmlformats.org/drawingml/2006/main">
              <a:ext uri="{FF2B5EF4-FFF2-40B4-BE49-F238E27FC236}">
                <a16:creationId xmlns:a16="http://schemas.microsoft.com/office/drawing/2014/main" id="{EF1506EC-1798-4C83-84B2-48716CB0F755}"/>
              </a:ext>
            </a:extLst>
          </p:cNvPr>
          <p:cNvSpPr>
            <a:spLocks xmlns:a="http://schemas.openxmlformats.org/drawingml/2006/main" noGrp="1"/>
          </p:cNvSpPr>
          <p:nvPr/>
        </p:nvSpPr>
        <p:spPr>
          <a:xfrm xmlns:a="http://schemas.openxmlformats.org/drawingml/2006/main">
            <a:off x="990600" y="3333750"/>
            <a:ext cx="9906000" cy="0"/>
          </a:xfrm>
          <a:prstGeom xmlns:a="http://schemas.openxmlformats.org/drawingml/2006/main" prst="line">
            <a:avLst/>
          </a:prstGeom>
          <a:noFill xmlns:a="http://schemas.openxmlformats.org/drawingml/2006/main"/>
          <a:ln xmlns:a="http://schemas.openxmlformats.org/drawingml/2006/main" w="14288">
            <a:solidFill>
              <a:srgbClr val="C8C9BF"/>
            </a:solidFill>
            <a:prstDash val="solid"/>
          </a:ln>
        </p:spPr>
      </p:sp>
      <p:sp>
        <p:nvSpPr>
          <p:cNvPr id="6" name="flow-dot-0">
            <a:extLst xmlns:a="http://schemas.openxmlformats.org/drawingml/2006/main">
              <a:ext uri="{FF2B5EF4-FFF2-40B4-BE49-F238E27FC236}">
                <a16:creationId xmlns:a16="http://schemas.microsoft.com/office/drawing/2014/main" id="{25CA0EBA-6B56-40F3-89FD-084D62300E09}"/>
              </a:ext>
            </a:extLst>
          </p:cNvPr>
          <p:cNvSpPr>
            <a:spLocks xmlns:a="http://schemas.openxmlformats.org/drawingml/2006/main" noGrp="1"/>
          </p:cNvSpPr>
          <p:nvPr/>
        </p:nvSpPr>
        <p:spPr>
          <a:xfrm xmlns:a="http://schemas.openxmlformats.org/drawingml/2006/main">
            <a:off x="838200" y="3181350"/>
            <a:ext cx="304800" cy="304800"/>
          </a:xfrm>
          <a:prstGeom xmlns:a="http://schemas.openxmlformats.org/drawingml/2006/main" prst="ellipse">
            <a:avLst/>
          </a:prstGeom>
          <a:solidFill xmlns:a="http://schemas.openxmlformats.org/drawingml/2006/main">
            <a:srgbClr val="3D8DFF"/>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7" name="flow-heading-0">
            <a:extLst xmlns:a="http://schemas.openxmlformats.org/drawingml/2006/main">
              <a:ext uri="{FF2B5EF4-FFF2-40B4-BE49-F238E27FC236}">
                <a16:creationId xmlns:a16="http://schemas.microsoft.com/office/drawing/2014/main" id="{DD29B519-75F5-41DD-B6A8-6747AC9AD360}"/>
              </a:ext>
            </a:extLst>
          </p:cNvPr>
          <p:cNvSpPr>
            <a:spLocks xmlns:a="http://schemas.openxmlformats.org/drawingml/2006/main" noGrp="1"/>
          </p:cNvSpPr>
          <p:nvPr/>
        </p:nvSpPr>
        <p:spPr>
          <a:xfrm xmlns:a="http://schemas.openxmlformats.org/drawingml/2006/main">
            <a:off x="838200" y="38766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defRPr sz="1875" b="1">
                <a:solidFill>
                  <a:srgbClr val="15222A"/>
                </a:solidFill>
                <a:latin typeface="Helvetica Neue"/>
                <a:ea typeface="Helvetica Neue"/>
                <a:cs typeface="Helvetica Neue"/>
              </a:defRPr>
            </a:pPr>
            <a:r>
              <a:rPr sz="1875" b="1">
                <a:solidFill>
                  <a:srgbClr val="15222A"/>
                </a:solidFill>
                <a:latin typeface="Helvetica Neue"/>
                <a:ea typeface="Helvetica Neue"/>
                <a:cs typeface="Helvetica Neue"/>
              </a:rPr>
              <a:t>Mandate</a:t>
            </a:r>
          </a:p>
        </p:txBody>
      </p:sp>
      <p:sp>
        <p:nvSpPr>
          <p:cNvPr id="8" name="flow-body-0">
            <a:extLst xmlns:a="http://schemas.openxmlformats.org/drawingml/2006/main">
              <a:ext uri="{FF2B5EF4-FFF2-40B4-BE49-F238E27FC236}">
                <a16:creationId xmlns:a16="http://schemas.microsoft.com/office/drawing/2014/main" id="{9CE59513-949B-4685-954C-F98E64CB9865}"/>
              </a:ext>
            </a:extLst>
          </p:cNvPr>
          <p:cNvSpPr>
            <a:spLocks xmlns:a="http://schemas.openxmlformats.org/drawingml/2006/main" noGrp="1"/>
          </p:cNvSpPr>
          <p:nvPr/>
        </p:nvSpPr>
        <p:spPr>
          <a:xfrm xmlns:a="http://schemas.openxmlformats.org/drawingml/2006/main">
            <a:off x="838200" y="4324350"/>
            <a:ext cx="2095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486A76"/>
                </a:solidFill>
                <a:latin typeface="Helvetica Neue"/>
                <a:ea typeface="Helvetica Neue"/>
                <a:cs typeface="Helvetica Neue"/>
              </a:defRPr>
            </a:pPr>
            <a:r>
              <a:rPr sz="1350" b="0">
                <a:solidFill>
                  <a:srgbClr val="486A76"/>
                </a:solidFill>
                <a:latin typeface="Helvetica Neue"/>
                <a:ea typeface="Helvetica Neue"/>
                <a:cs typeface="Helvetica Neue"/>
              </a:rPr>
              <a:t>Price cap, pickup window and conditions are confirmed by a human.</a:t>
            </a:r>
          </a:p>
        </p:txBody>
      </p:sp>
      <p:sp>
        <p:nvSpPr>
          <p:cNvPr id="9" name="flow-dot-1">
            <a:extLst xmlns:a="http://schemas.openxmlformats.org/drawingml/2006/main">
              <a:ext uri="{FF2B5EF4-FFF2-40B4-BE49-F238E27FC236}">
                <a16:creationId xmlns:a16="http://schemas.microsoft.com/office/drawing/2014/main" id="{5B32EAE7-D03D-43BF-A317-804E432C895A}"/>
              </a:ext>
            </a:extLst>
          </p:cNvPr>
          <p:cNvSpPr>
            <a:spLocks xmlns:a="http://schemas.openxmlformats.org/drawingml/2006/main" noGrp="1"/>
          </p:cNvSpPr>
          <p:nvPr/>
        </p:nvSpPr>
        <p:spPr>
          <a:xfrm xmlns:a="http://schemas.openxmlformats.org/drawingml/2006/main">
            <a:off x="3543300" y="3181350"/>
            <a:ext cx="304800" cy="304800"/>
          </a:xfrm>
          <a:prstGeom xmlns:a="http://schemas.openxmlformats.org/drawingml/2006/main" prst="ellipse">
            <a:avLst/>
          </a:prstGeom>
          <a:solidFill xmlns:a="http://schemas.openxmlformats.org/drawingml/2006/main">
            <a:srgbClr val="3D8DFF"/>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10" name="flow-heading-1">
            <a:extLst xmlns:a="http://schemas.openxmlformats.org/drawingml/2006/main">
              <a:ext uri="{FF2B5EF4-FFF2-40B4-BE49-F238E27FC236}">
                <a16:creationId xmlns:a16="http://schemas.microsoft.com/office/drawing/2014/main" id="{4E8FBCBF-2513-43A0-BED9-CBB220671D5C}"/>
              </a:ext>
            </a:extLst>
          </p:cNvPr>
          <p:cNvSpPr>
            <a:spLocks xmlns:a="http://schemas.openxmlformats.org/drawingml/2006/main" noGrp="1"/>
          </p:cNvSpPr>
          <p:nvPr/>
        </p:nvSpPr>
        <p:spPr>
          <a:xfrm xmlns:a="http://schemas.openxmlformats.org/drawingml/2006/main">
            <a:off x="3543300" y="38766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defRPr sz="1875" b="1">
                <a:solidFill>
                  <a:srgbClr val="15222A"/>
                </a:solidFill>
                <a:latin typeface="Helvetica Neue"/>
                <a:ea typeface="Helvetica Neue"/>
                <a:cs typeface="Helvetica Neue"/>
              </a:defRPr>
            </a:pPr>
            <a:r>
              <a:rPr sz="1875" b="1">
                <a:solidFill>
                  <a:srgbClr val="15222A"/>
                </a:solidFill>
                <a:latin typeface="Helvetica Neue"/>
                <a:ea typeface="Helvetica Neue"/>
                <a:cs typeface="Helvetica Neue"/>
              </a:rPr>
              <a:t>Call</a:t>
            </a:r>
          </a:p>
        </p:txBody>
      </p:sp>
      <p:sp>
        <p:nvSpPr>
          <p:cNvPr id="11" name="flow-body-1">
            <a:extLst xmlns:a="http://schemas.openxmlformats.org/drawingml/2006/main">
              <a:ext uri="{FF2B5EF4-FFF2-40B4-BE49-F238E27FC236}">
                <a16:creationId xmlns:a16="http://schemas.microsoft.com/office/drawing/2014/main" id="{2D43E3C2-C917-4F8C-BFD4-E8E508E652FC}"/>
              </a:ext>
            </a:extLst>
          </p:cNvPr>
          <p:cNvSpPr>
            <a:spLocks xmlns:a="http://schemas.openxmlformats.org/drawingml/2006/main" noGrp="1"/>
          </p:cNvSpPr>
          <p:nvPr/>
        </p:nvSpPr>
        <p:spPr>
          <a:xfrm xmlns:a="http://schemas.openxmlformats.org/drawingml/2006/main">
            <a:off x="3543300" y="4324350"/>
            <a:ext cx="2095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486A76"/>
                </a:solidFill>
                <a:latin typeface="Helvetica Neue"/>
                <a:ea typeface="Helvetica Neue"/>
                <a:cs typeface="Helvetica Neue"/>
              </a:defRPr>
            </a:pPr>
            <a:r>
              <a:rPr sz="1350" b="0">
                <a:solidFill>
                  <a:srgbClr val="486A76"/>
                </a:solidFill>
                <a:latin typeface="Helvetica Neue"/>
                <a:ea typeface="Helvetica Neue"/>
                <a:cs typeface="Helvetica Neue"/>
              </a:rPr>
              <a:t>Tango contacts authorized carriers and negotiates in real time.</a:t>
            </a:r>
          </a:p>
        </p:txBody>
      </p:sp>
      <p:sp>
        <p:nvSpPr>
          <p:cNvPr id="12" name="flow-dot-2">
            <a:extLst xmlns:a="http://schemas.openxmlformats.org/drawingml/2006/main">
              <a:ext uri="{FF2B5EF4-FFF2-40B4-BE49-F238E27FC236}">
                <a16:creationId xmlns:a16="http://schemas.microsoft.com/office/drawing/2014/main" id="{49C1B341-21E2-4DC4-818D-4DF7709A2D1F}"/>
              </a:ext>
            </a:extLst>
          </p:cNvPr>
          <p:cNvSpPr>
            <a:spLocks xmlns:a="http://schemas.openxmlformats.org/drawingml/2006/main" noGrp="1"/>
          </p:cNvSpPr>
          <p:nvPr/>
        </p:nvSpPr>
        <p:spPr>
          <a:xfrm xmlns:a="http://schemas.openxmlformats.org/drawingml/2006/main">
            <a:off x="6248400" y="3181350"/>
            <a:ext cx="304800" cy="304800"/>
          </a:xfrm>
          <a:prstGeom xmlns:a="http://schemas.openxmlformats.org/drawingml/2006/main" prst="ellipse">
            <a:avLst/>
          </a:prstGeom>
          <a:solidFill xmlns:a="http://schemas.openxmlformats.org/drawingml/2006/main">
            <a:srgbClr val="3D8DFF"/>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13" name="flow-heading-2">
            <a:extLst xmlns:a="http://schemas.openxmlformats.org/drawingml/2006/main">
              <a:ext uri="{FF2B5EF4-FFF2-40B4-BE49-F238E27FC236}">
                <a16:creationId xmlns:a16="http://schemas.microsoft.com/office/drawing/2014/main" id="{98E5DBBC-9C8B-4812-A5E3-840F32921A96}"/>
              </a:ext>
            </a:extLst>
          </p:cNvPr>
          <p:cNvSpPr>
            <a:spLocks xmlns:a="http://schemas.openxmlformats.org/drawingml/2006/main" noGrp="1"/>
          </p:cNvSpPr>
          <p:nvPr/>
        </p:nvSpPr>
        <p:spPr>
          <a:xfrm xmlns:a="http://schemas.openxmlformats.org/drawingml/2006/main">
            <a:off x="6248400" y="38766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defRPr sz="1875" b="1">
                <a:solidFill>
                  <a:srgbClr val="15222A"/>
                </a:solidFill>
                <a:latin typeface="Helvetica Neue"/>
                <a:ea typeface="Helvetica Neue"/>
                <a:cs typeface="Helvetica Neue"/>
              </a:defRPr>
            </a:pPr>
            <a:r>
              <a:rPr sz="1875" b="1">
                <a:solidFill>
                  <a:srgbClr val="15222A"/>
                </a:solidFill>
                <a:latin typeface="Helvetica Neue"/>
                <a:ea typeface="Helvetica Neue"/>
                <a:cs typeface="Helvetica Neue"/>
              </a:rPr>
              <a:t>Validate</a:t>
            </a:r>
          </a:p>
        </p:txBody>
      </p:sp>
      <p:sp>
        <p:nvSpPr>
          <p:cNvPr id="14" name="flow-body-2">
            <a:extLst xmlns:a="http://schemas.openxmlformats.org/drawingml/2006/main">
              <a:ext uri="{FF2B5EF4-FFF2-40B4-BE49-F238E27FC236}">
                <a16:creationId xmlns:a16="http://schemas.microsoft.com/office/drawing/2014/main" id="{197348DB-9029-4965-A30A-E33D8046A9BA}"/>
              </a:ext>
            </a:extLst>
          </p:cNvPr>
          <p:cNvSpPr>
            <a:spLocks xmlns:a="http://schemas.openxmlformats.org/drawingml/2006/main" noGrp="1"/>
          </p:cNvSpPr>
          <p:nvPr/>
        </p:nvSpPr>
        <p:spPr>
          <a:xfrm xmlns:a="http://schemas.openxmlformats.org/drawingml/2006/main">
            <a:off x="6248400" y="4324350"/>
            <a:ext cx="2095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486A76"/>
                </a:solidFill>
                <a:latin typeface="Helvetica Neue"/>
                <a:ea typeface="Helvetica Neue"/>
                <a:cs typeface="Helvetica Neue"/>
              </a:defRPr>
            </a:pPr>
            <a:r>
              <a:rPr sz="1350" b="0">
                <a:solidFill>
                  <a:srgbClr val="486A76"/>
                </a:solidFill>
                <a:latin typeface="Helvetica Neue"/>
                <a:ea typeface="Helvetica Neue"/>
                <a:cs typeface="Helvetica Neue"/>
              </a:rPr>
              <a:t>The server compares only valid offers against the active mandate.</a:t>
            </a:r>
          </a:p>
        </p:txBody>
      </p:sp>
      <p:sp>
        <p:nvSpPr>
          <p:cNvPr id="15" name="flow-dot-3">
            <a:extLst xmlns:a="http://schemas.openxmlformats.org/drawingml/2006/main">
              <a:ext uri="{FF2B5EF4-FFF2-40B4-BE49-F238E27FC236}">
                <a16:creationId xmlns:a16="http://schemas.microsoft.com/office/drawing/2014/main" id="{CFDC5662-ACC0-43D4-A1BF-81FCDB0D1F01}"/>
              </a:ext>
            </a:extLst>
          </p:cNvPr>
          <p:cNvSpPr>
            <a:spLocks xmlns:a="http://schemas.openxmlformats.org/drawingml/2006/main" noGrp="1"/>
          </p:cNvSpPr>
          <p:nvPr/>
        </p:nvSpPr>
        <p:spPr>
          <a:xfrm xmlns:a="http://schemas.openxmlformats.org/drawingml/2006/main">
            <a:off x="8953500" y="3181350"/>
            <a:ext cx="304800" cy="304800"/>
          </a:xfrm>
          <a:prstGeom xmlns:a="http://schemas.openxmlformats.org/drawingml/2006/main" prst="ellipse">
            <a:avLst/>
          </a:prstGeom>
          <a:solidFill xmlns:a="http://schemas.openxmlformats.org/drawingml/2006/main">
            <a:srgbClr val="30684B"/>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4</a:t>
            </a:r>
          </a:p>
        </p:txBody>
      </p:sp>
      <p:sp>
        <p:nvSpPr>
          <p:cNvPr id="16" name="flow-heading-3">
            <a:extLst xmlns:a="http://schemas.openxmlformats.org/drawingml/2006/main">
              <a:ext uri="{FF2B5EF4-FFF2-40B4-BE49-F238E27FC236}">
                <a16:creationId xmlns:a16="http://schemas.microsoft.com/office/drawing/2014/main" id="{EF971CB5-FF0B-4C03-B652-3F07F27AEDE5}"/>
              </a:ext>
            </a:extLst>
          </p:cNvPr>
          <p:cNvSpPr>
            <a:spLocks xmlns:a="http://schemas.openxmlformats.org/drawingml/2006/main" noGrp="1"/>
          </p:cNvSpPr>
          <p:nvPr/>
        </p:nvSpPr>
        <p:spPr>
          <a:xfrm xmlns:a="http://schemas.openxmlformats.org/drawingml/2006/main">
            <a:off x="8953500" y="38766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defRPr sz="1875" b="1">
                <a:solidFill>
                  <a:srgbClr val="15222A"/>
                </a:solidFill>
                <a:latin typeface="Helvetica Neue"/>
                <a:ea typeface="Helvetica Neue"/>
                <a:cs typeface="Helvetica Neue"/>
              </a:defRPr>
            </a:pPr>
            <a:r>
              <a:rPr sz="1875" b="1">
                <a:solidFill>
                  <a:srgbClr val="15222A"/>
                </a:solidFill>
                <a:latin typeface="Helvetica Neue"/>
                <a:ea typeface="Helvetica Neue"/>
                <a:cs typeface="Helvetica Neue"/>
              </a:rPr>
              <a:t>Commit</a:t>
            </a:r>
          </a:p>
        </p:txBody>
      </p:sp>
      <p:sp>
        <p:nvSpPr>
          <p:cNvPr id="17" name="flow-body-3">
            <a:extLst xmlns:a="http://schemas.openxmlformats.org/drawingml/2006/main">
              <a:ext uri="{FF2B5EF4-FFF2-40B4-BE49-F238E27FC236}">
                <a16:creationId xmlns:a16="http://schemas.microsoft.com/office/drawing/2014/main" id="{4BE0F11E-ED43-4B97-BF8B-603F41B71F0B}"/>
              </a:ext>
            </a:extLst>
          </p:cNvPr>
          <p:cNvSpPr>
            <a:spLocks xmlns:a="http://schemas.openxmlformats.org/drawingml/2006/main" noGrp="1"/>
          </p:cNvSpPr>
          <p:nvPr/>
        </p:nvSpPr>
        <p:spPr>
          <a:xfrm xmlns:a="http://schemas.openxmlformats.org/drawingml/2006/main">
            <a:off x="8953500" y="4324350"/>
            <a:ext cx="2095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486A76"/>
                </a:solidFill>
                <a:latin typeface="Helvetica Neue"/>
                <a:ea typeface="Helvetica Neue"/>
                <a:cs typeface="Helvetica Neue"/>
              </a:defRPr>
            </a:pPr>
            <a:r>
              <a:rPr sz="1350" b="0">
                <a:solidFill>
                  <a:srgbClr val="486A76"/>
                </a:solidFill>
                <a:latin typeface="Helvetica Neue"/>
                <a:ea typeface="Helvetica Neue"/>
                <a:cs typeface="Helvetica Neue"/>
              </a:rPr>
              <a:t>The selected booking and evidence become durable operational facts.</a:t>
            </a:r>
          </a:p>
        </p:txBody>
      </p:sp>
    </p:spTree>
    <p:extLst>
      <p:ext uri="{BB962C8B-B14F-4D97-AF65-F5344CB8AC3E}">
        <p14:creationId xmlns:p14="http://schemas.microsoft.com/office/powerpoint/2010/main" val="9503272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E8BBA4E6-BB0C-4FDF-89BE-F310B90067A8}"/>
              </a:ext>
            </a:extLst>
          </p:cNvPr>
          <p:cNvSpPr>
            <a:spLocks xmlns:a="http://schemas.openxmlformats.org/drawingml/2006/main" noGrp="1"/>
          </p:cNvSpPr>
          <p:nvPr/>
        </p:nvSpPr>
        <p:spPr>
          <a:xfrm xmlns:a="http://schemas.openxmlformats.org/drawingml/2006/main">
            <a:off x="495300" y="323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B76E31"/>
                </a:solidFill>
                <a:latin typeface="Helvetica Neue"/>
                <a:ea typeface="Helvetica Neue"/>
                <a:cs typeface="Helvetica Neue"/>
              </a:defRPr>
            </a:pPr>
            <a:r>
              <a:rPr sz="1125" b="1">
                <a:solidFill>
                  <a:srgbClr val="B76E31"/>
                </a:solidFill>
                <a:latin typeface="Helvetica Neue"/>
                <a:ea typeface="Helvetica Neue"/>
                <a:cs typeface="Helvetica Neue"/>
              </a:rPr>
              <a:t>THE AUTHORITY BOUNDARY</a:t>
            </a:r>
          </a:p>
        </p:txBody>
      </p:sp>
      <p:sp>
        <p:nvSpPr>
          <p:cNvPr id="2" name="slide-number">
            <a:extLst xmlns:a="http://schemas.openxmlformats.org/drawingml/2006/main">
              <a:ext uri="{FF2B5EF4-FFF2-40B4-BE49-F238E27FC236}">
                <a16:creationId xmlns:a16="http://schemas.microsoft.com/office/drawing/2014/main" id="{A3EDF6A0-3379-446A-A07A-6E900E17B61F}"/>
              </a:ext>
            </a:extLst>
          </p:cNvPr>
          <p:cNvSpPr>
            <a:spLocks xmlns:a="http://schemas.openxmlformats.org/drawingml/2006/main" noGrp="1"/>
          </p:cNvSpPr>
          <p:nvPr/>
        </p:nvSpPr>
        <p:spPr>
          <a:xfrm xmlns:a="http://schemas.openxmlformats.org/drawingml/2006/main">
            <a:off x="11049000" y="323850"/>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125" b="1">
                <a:solidFill>
                  <a:srgbClr val="486A76"/>
                </a:solidFill>
                <a:latin typeface="Helvetica Neue"/>
                <a:ea typeface="Helvetica Neue"/>
                <a:cs typeface="Helvetica Neue"/>
              </a:defRPr>
            </a:pPr>
            <a:r>
              <a:rPr sz="1125" b="1">
                <a:solidFill>
                  <a:srgbClr val="486A76"/>
                </a:solidFill>
                <a:latin typeface="Helvetica Neue"/>
                <a:ea typeface="Helvetica Neue"/>
                <a:cs typeface="Helvetica Neue"/>
              </a:rPr>
              <a:t>04</a:t>
            </a:r>
          </a:p>
        </p:txBody>
      </p:sp>
      <p:sp>
        <p:nvSpPr>
          <p:cNvPr id="3" name="header-rule">
            <a:extLst xmlns:a="http://schemas.openxmlformats.org/drawingml/2006/main">
              <a:ext uri="{FF2B5EF4-FFF2-40B4-BE49-F238E27FC236}">
                <a16:creationId xmlns:a16="http://schemas.microsoft.com/office/drawing/2014/main" id="{3F2363A8-05CA-4B3C-BB92-71060354F114}"/>
              </a:ext>
            </a:extLst>
          </p:cNvPr>
          <p:cNvSpPr>
            <a:spLocks xmlns:a="http://schemas.openxmlformats.org/drawingml/2006/main" noGrp="1"/>
          </p:cNvSpPr>
          <p:nvPr/>
        </p:nvSpPr>
        <p:spPr>
          <a:xfrm xmlns:a="http://schemas.openxmlformats.org/drawingml/2006/main">
            <a:off x="495300" y="714375"/>
            <a:ext cx="11201400" cy="0"/>
          </a:xfrm>
          <a:prstGeom xmlns:a="http://schemas.openxmlformats.org/drawingml/2006/main" prst="line">
            <a:avLst/>
          </a:prstGeom>
          <a:noFill xmlns:a="http://schemas.openxmlformats.org/drawingml/2006/main"/>
          <a:ln xmlns:a="http://schemas.openxmlformats.org/drawingml/2006/main" w="9525">
            <a:solidFill>
              <a:srgbClr val="C8C9BF"/>
            </a:solidFill>
            <a:prstDash val="solid"/>
          </a:ln>
        </p:spPr>
      </p:sp>
      <p:sp>
        <p:nvSpPr>
          <p:cNvPr id="4" name="headline">
            <a:extLst xmlns:a="http://schemas.openxmlformats.org/drawingml/2006/main">
              <a:ext uri="{FF2B5EF4-FFF2-40B4-BE49-F238E27FC236}">
                <a16:creationId xmlns:a16="http://schemas.microsoft.com/office/drawing/2014/main" id="{4169748C-9873-4299-899B-84B69F239680}"/>
              </a:ext>
            </a:extLst>
          </p:cNvPr>
          <p:cNvSpPr>
            <a:spLocks xmlns:a="http://schemas.openxmlformats.org/drawingml/2006/main" noGrp="1"/>
          </p:cNvSpPr>
          <p:nvPr/>
        </p:nvSpPr>
        <p:spPr>
          <a:xfrm xmlns:a="http://schemas.openxmlformats.org/drawingml/2006/main">
            <a:off x="495300" y="1028700"/>
            <a:ext cx="1057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defRPr sz="3600" b="1">
                <a:solidFill>
                  <a:srgbClr val="15222A"/>
                </a:solidFill>
                <a:latin typeface="Helvetica Neue"/>
                <a:ea typeface="Helvetica Neue"/>
                <a:cs typeface="Helvetica Neue"/>
              </a:defRPr>
            </a:pPr>
            <a:r>
              <a:rPr sz="3600" b="1">
                <a:solidFill>
                  <a:srgbClr val="15222A"/>
                </a:solidFill>
                <a:latin typeface="Helvetica Neue"/>
                <a:ea typeface="Helvetica Neue"/>
                <a:cs typeface="Helvetica Neue"/>
              </a:rPr>
              <a:t>The agent negotiates. The server decides what becomes true.</a:t>
            </a:r>
          </a:p>
        </p:txBody>
      </p:sp>
      <p:sp>
        <p:nvSpPr>
          <p:cNvPr id="5" name="authority-surface-0">
            <a:extLst xmlns:a="http://schemas.openxmlformats.org/drawingml/2006/main">
              <a:ext uri="{FF2B5EF4-FFF2-40B4-BE49-F238E27FC236}">
                <a16:creationId xmlns:a16="http://schemas.microsoft.com/office/drawing/2014/main" id="{3D66CBE5-A143-4ABD-89CC-0D13F62B6307}"/>
              </a:ext>
            </a:extLst>
          </p:cNvPr>
          <p:cNvSpPr>
            <a:spLocks xmlns:a="http://schemas.openxmlformats.org/drawingml/2006/main" noGrp="1"/>
          </p:cNvSpPr>
          <p:nvPr/>
        </p:nvSpPr>
        <p:spPr>
          <a:xfrm xmlns:a="http://schemas.openxmlformats.org/drawingml/2006/main">
            <a:off x="495300" y="2857500"/>
            <a:ext cx="3238500" cy="2381250"/>
          </a:xfrm>
          <a:prstGeom xmlns:a="http://schemas.openxmlformats.org/drawingml/2006/main" prst="rect">
            <a:avLst/>
          </a:prstGeom>
          <a:solidFill xmlns:a="http://schemas.openxmlformats.org/drawingml/2006/main">
            <a:srgbClr val="EAF5FB"/>
          </a:solidFill>
          <a:ln xmlns:a="http://schemas.openxmlformats.org/drawingml/2006/main" w="9525">
            <a:solidFill>
              <a:srgbClr val="C8C9BF"/>
            </a:solidFill>
            <a:prstDash val="solid"/>
          </a:ln>
        </p:spPr>
      </p:sp>
      <p:sp>
        <p:nvSpPr>
          <p:cNvPr id="6" name="authority-accent-0">
            <a:extLst xmlns:a="http://schemas.openxmlformats.org/drawingml/2006/main">
              <a:ext uri="{FF2B5EF4-FFF2-40B4-BE49-F238E27FC236}">
                <a16:creationId xmlns:a16="http://schemas.microsoft.com/office/drawing/2014/main" id="{1671A942-190B-46E1-9E3D-082895D7B2B2}"/>
              </a:ext>
            </a:extLst>
          </p:cNvPr>
          <p:cNvSpPr>
            <a:spLocks xmlns:a="http://schemas.openxmlformats.org/drawingml/2006/main" noGrp="1"/>
          </p:cNvSpPr>
          <p:nvPr/>
        </p:nvSpPr>
        <p:spPr>
          <a:xfrm xmlns:a="http://schemas.openxmlformats.org/drawingml/2006/main">
            <a:off x="495300" y="2857500"/>
            <a:ext cx="3238500" cy="0"/>
          </a:xfrm>
          <a:prstGeom xmlns:a="http://schemas.openxmlformats.org/drawingml/2006/main" prst="line">
            <a:avLst/>
          </a:prstGeom>
          <a:noFill xmlns:a="http://schemas.openxmlformats.org/drawingml/2006/main"/>
          <a:ln xmlns:a="http://schemas.openxmlformats.org/drawingml/2006/main" w="47625">
            <a:solidFill>
              <a:srgbClr val="3D8DFF"/>
            </a:solidFill>
            <a:prstDash val="solid"/>
          </a:ln>
        </p:spPr>
      </p:sp>
      <p:sp>
        <p:nvSpPr>
          <p:cNvPr id="7" name="authority-label-0">
            <a:extLst xmlns:a="http://schemas.openxmlformats.org/drawingml/2006/main">
              <a:ext uri="{FF2B5EF4-FFF2-40B4-BE49-F238E27FC236}">
                <a16:creationId xmlns:a16="http://schemas.microsoft.com/office/drawing/2014/main" id="{EE81E97E-E39C-4DFB-B8A0-E0F11AB91029}"/>
              </a:ext>
            </a:extLst>
          </p:cNvPr>
          <p:cNvSpPr>
            <a:spLocks xmlns:a="http://schemas.openxmlformats.org/drawingml/2006/main" noGrp="1"/>
          </p:cNvSpPr>
          <p:nvPr/>
        </p:nvSpPr>
        <p:spPr>
          <a:xfrm xmlns:a="http://schemas.openxmlformats.org/drawingml/2006/main">
            <a:off x="723900" y="320040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TANGO MAY</a:t>
            </a:r>
          </a:p>
        </p:txBody>
      </p:sp>
      <p:sp>
        <p:nvSpPr>
          <p:cNvPr id="8" name="authority-body-0">
            <a:extLst xmlns:a="http://schemas.openxmlformats.org/drawingml/2006/main">
              <a:ext uri="{FF2B5EF4-FFF2-40B4-BE49-F238E27FC236}">
                <a16:creationId xmlns:a16="http://schemas.microsoft.com/office/drawing/2014/main" id="{2D0B8C14-121A-47E7-A7CB-244A1C78E595}"/>
              </a:ext>
            </a:extLst>
          </p:cNvPr>
          <p:cNvSpPr>
            <a:spLocks xmlns:a="http://schemas.openxmlformats.org/drawingml/2006/main" noGrp="1"/>
          </p:cNvSpPr>
          <p:nvPr/>
        </p:nvSpPr>
        <p:spPr>
          <a:xfrm xmlns:a="http://schemas.openxmlformats.org/drawingml/2006/main">
            <a:off x="723900" y="3705225"/>
            <a:ext cx="2762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062"/>
          </a:bodyPr>
          <a:lstStyle xmlns:a="http://schemas.openxmlformats.org/drawingml/2006/main"/>
          <a:p xmlns:a="http://schemas.openxmlformats.org/drawingml/2006/main">
            <a:pPr algn="l">
              <a:defRPr sz="2025" b="1">
                <a:solidFill>
                  <a:srgbClr val="15222A"/>
                </a:solidFill>
                <a:latin typeface="Helvetica Neue"/>
                <a:ea typeface="Helvetica Neue"/>
                <a:cs typeface="Helvetica Neue"/>
              </a:defRPr>
            </a:pPr>
            <a:r>
              <a:rPr sz="2025" b="1">
                <a:solidFill>
                  <a:srgbClr val="15222A"/>
                </a:solidFill>
                <a:latin typeface="Helvetica Neue"/>
                <a:ea typeface="Helvetica Neue"/>
                <a:cs typeface="Helvetica Neue"/>
              </a:rPr>
              <a:t>Ask, clarify, negotiate and confirm what it heard.</a:t>
            </a:r>
          </a:p>
        </p:txBody>
      </p:sp>
      <p:sp>
        <p:nvSpPr>
          <p:cNvPr id="9" name="authority-surface-1">
            <a:extLst xmlns:a="http://schemas.openxmlformats.org/drawingml/2006/main">
              <a:ext uri="{FF2B5EF4-FFF2-40B4-BE49-F238E27FC236}">
                <a16:creationId xmlns:a16="http://schemas.microsoft.com/office/drawing/2014/main" id="{C91D2ABE-D61B-4EE8-A933-28D88FCD9CBA}"/>
              </a:ext>
            </a:extLst>
          </p:cNvPr>
          <p:cNvSpPr>
            <a:spLocks xmlns:a="http://schemas.openxmlformats.org/drawingml/2006/main" noGrp="1"/>
          </p:cNvSpPr>
          <p:nvPr/>
        </p:nvSpPr>
        <p:spPr>
          <a:xfrm xmlns:a="http://schemas.openxmlformats.org/drawingml/2006/main">
            <a:off x="4229100" y="2857500"/>
            <a:ext cx="3238500" cy="2381250"/>
          </a:xfrm>
          <a:prstGeom xmlns:a="http://schemas.openxmlformats.org/drawingml/2006/main" prst="rect">
            <a:avLst/>
          </a:prstGeom>
          <a:solidFill xmlns:a="http://schemas.openxmlformats.org/drawingml/2006/main">
            <a:srgbClr val="FFF8F0"/>
          </a:solidFill>
          <a:ln xmlns:a="http://schemas.openxmlformats.org/drawingml/2006/main" w="9525">
            <a:solidFill>
              <a:srgbClr val="C8C9BF"/>
            </a:solidFill>
            <a:prstDash val="solid"/>
          </a:ln>
        </p:spPr>
      </p:sp>
      <p:sp>
        <p:nvSpPr>
          <p:cNvPr id="10" name="authority-accent-1">
            <a:extLst xmlns:a="http://schemas.openxmlformats.org/drawingml/2006/main">
              <a:ext uri="{FF2B5EF4-FFF2-40B4-BE49-F238E27FC236}">
                <a16:creationId xmlns:a16="http://schemas.microsoft.com/office/drawing/2014/main" id="{B651DFEB-6BB1-4135-834A-171CBEDD149F}"/>
              </a:ext>
            </a:extLst>
          </p:cNvPr>
          <p:cNvSpPr>
            <a:spLocks xmlns:a="http://schemas.openxmlformats.org/drawingml/2006/main" noGrp="1"/>
          </p:cNvSpPr>
          <p:nvPr/>
        </p:nvSpPr>
        <p:spPr>
          <a:xfrm xmlns:a="http://schemas.openxmlformats.org/drawingml/2006/main">
            <a:off x="4229100" y="2857500"/>
            <a:ext cx="3238500" cy="0"/>
          </a:xfrm>
          <a:prstGeom xmlns:a="http://schemas.openxmlformats.org/drawingml/2006/main" prst="line">
            <a:avLst/>
          </a:prstGeom>
          <a:noFill xmlns:a="http://schemas.openxmlformats.org/drawingml/2006/main"/>
          <a:ln xmlns:a="http://schemas.openxmlformats.org/drawingml/2006/main" w="47625">
            <a:solidFill>
              <a:srgbClr val="B76E31"/>
            </a:solidFill>
            <a:prstDash val="solid"/>
          </a:ln>
        </p:spPr>
      </p:sp>
      <p:sp>
        <p:nvSpPr>
          <p:cNvPr id="11" name="authority-label-1">
            <a:extLst xmlns:a="http://schemas.openxmlformats.org/drawingml/2006/main">
              <a:ext uri="{FF2B5EF4-FFF2-40B4-BE49-F238E27FC236}">
                <a16:creationId xmlns:a16="http://schemas.microsoft.com/office/drawing/2014/main" id="{2CAD589A-E854-4515-8165-8948320E895A}"/>
              </a:ext>
            </a:extLst>
          </p:cNvPr>
          <p:cNvSpPr>
            <a:spLocks xmlns:a="http://schemas.openxmlformats.org/drawingml/2006/main" noGrp="1"/>
          </p:cNvSpPr>
          <p:nvPr/>
        </p:nvSpPr>
        <p:spPr>
          <a:xfrm xmlns:a="http://schemas.openxmlformats.org/drawingml/2006/main">
            <a:off x="4457700" y="320040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B76E31"/>
                </a:solidFill>
                <a:latin typeface="Helvetica Neue"/>
                <a:ea typeface="Helvetica Neue"/>
                <a:cs typeface="Helvetica Neue"/>
              </a:defRPr>
            </a:pPr>
            <a:r>
              <a:rPr sz="1125" b="1">
                <a:solidFill>
                  <a:srgbClr val="B76E31"/>
                </a:solidFill>
                <a:latin typeface="Helvetica Neue"/>
                <a:ea typeface="Helvetica Neue"/>
                <a:cs typeface="Helvetica Neue"/>
              </a:rPr>
              <a:t>THE SERVER CHECKS</a:t>
            </a:r>
          </a:p>
        </p:txBody>
      </p:sp>
      <p:sp>
        <p:nvSpPr>
          <p:cNvPr id="12" name="authority-body-1">
            <a:extLst xmlns:a="http://schemas.openxmlformats.org/drawingml/2006/main">
              <a:ext uri="{FF2B5EF4-FFF2-40B4-BE49-F238E27FC236}">
                <a16:creationId xmlns:a16="http://schemas.microsoft.com/office/drawing/2014/main" id="{8FEE6404-1E7F-4D53-9363-78492629ECD1}"/>
              </a:ext>
            </a:extLst>
          </p:cNvPr>
          <p:cNvSpPr>
            <a:spLocks xmlns:a="http://schemas.openxmlformats.org/drawingml/2006/main" noGrp="1"/>
          </p:cNvSpPr>
          <p:nvPr/>
        </p:nvSpPr>
        <p:spPr>
          <a:xfrm xmlns:a="http://schemas.openxmlformats.org/drawingml/2006/main">
            <a:off x="4457700" y="3705225"/>
            <a:ext cx="2762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65"/>
          </a:bodyPr>
          <a:lstStyle xmlns:a="http://schemas.openxmlformats.org/drawingml/2006/main"/>
          <a:p xmlns:a="http://schemas.openxmlformats.org/drawingml/2006/main">
            <a:pPr algn="l">
              <a:defRPr sz="2025" b="1">
                <a:solidFill>
                  <a:srgbClr val="15222A"/>
                </a:solidFill>
                <a:latin typeface="Helvetica Neue"/>
                <a:ea typeface="Helvetica Neue"/>
                <a:cs typeface="Helvetica Neue"/>
              </a:defRPr>
            </a:pPr>
            <a:r>
              <a:rPr sz="2025" b="1">
                <a:solidFill>
                  <a:srgbClr val="15222A"/>
                </a:solidFill>
                <a:latin typeface="Helvetica Neue"/>
                <a:ea typeface="Helvetica Neue"/>
                <a:cs typeface="Helvetica Neue"/>
              </a:rPr>
              <a:t>Identity · active mandate · price · pickup window · state transition.</a:t>
            </a:r>
          </a:p>
        </p:txBody>
      </p:sp>
      <p:sp>
        <p:nvSpPr>
          <p:cNvPr id="13" name="authority-surface-2">
            <a:extLst xmlns:a="http://schemas.openxmlformats.org/drawingml/2006/main">
              <a:ext uri="{FF2B5EF4-FFF2-40B4-BE49-F238E27FC236}">
                <a16:creationId xmlns:a16="http://schemas.microsoft.com/office/drawing/2014/main" id="{0322BFA3-6E6B-40CC-B331-586FEB5CA5F2}"/>
              </a:ext>
            </a:extLst>
          </p:cNvPr>
          <p:cNvSpPr>
            <a:spLocks xmlns:a="http://schemas.openxmlformats.org/drawingml/2006/main" noGrp="1"/>
          </p:cNvSpPr>
          <p:nvPr/>
        </p:nvSpPr>
        <p:spPr>
          <a:xfrm xmlns:a="http://schemas.openxmlformats.org/drawingml/2006/main">
            <a:off x="7962900" y="2857500"/>
            <a:ext cx="3238500" cy="2381250"/>
          </a:xfrm>
          <a:prstGeom xmlns:a="http://schemas.openxmlformats.org/drawingml/2006/main" prst="rect">
            <a:avLst/>
          </a:prstGeom>
          <a:solidFill xmlns:a="http://schemas.openxmlformats.org/drawingml/2006/main">
            <a:srgbClr val="EAF4EE"/>
          </a:solidFill>
          <a:ln xmlns:a="http://schemas.openxmlformats.org/drawingml/2006/main" w="9525">
            <a:solidFill>
              <a:srgbClr val="C8C9BF"/>
            </a:solidFill>
            <a:prstDash val="solid"/>
          </a:ln>
        </p:spPr>
      </p:sp>
      <p:sp>
        <p:nvSpPr>
          <p:cNvPr id="14" name="authority-accent-2">
            <a:extLst xmlns:a="http://schemas.openxmlformats.org/drawingml/2006/main">
              <a:ext uri="{FF2B5EF4-FFF2-40B4-BE49-F238E27FC236}">
                <a16:creationId xmlns:a16="http://schemas.microsoft.com/office/drawing/2014/main" id="{187F7641-CF81-4935-8D76-3F9E5D7D75EC}"/>
              </a:ext>
            </a:extLst>
          </p:cNvPr>
          <p:cNvSpPr>
            <a:spLocks xmlns:a="http://schemas.openxmlformats.org/drawingml/2006/main" noGrp="1"/>
          </p:cNvSpPr>
          <p:nvPr/>
        </p:nvSpPr>
        <p:spPr>
          <a:xfrm xmlns:a="http://schemas.openxmlformats.org/drawingml/2006/main">
            <a:off x="7962900" y="2857500"/>
            <a:ext cx="3238500" cy="0"/>
          </a:xfrm>
          <a:prstGeom xmlns:a="http://schemas.openxmlformats.org/drawingml/2006/main" prst="line">
            <a:avLst/>
          </a:prstGeom>
          <a:noFill xmlns:a="http://schemas.openxmlformats.org/drawingml/2006/main"/>
          <a:ln xmlns:a="http://schemas.openxmlformats.org/drawingml/2006/main" w="47625">
            <a:solidFill>
              <a:srgbClr val="30684B"/>
            </a:solidFill>
            <a:prstDash val="solid"/>
          </a:ln>
        </p:spPr>
      </p:sp>
      <p:sp>
        <p:nvSpPr>
          <p:cNvPr id="15" name="authority-label-2">
            <a:extLst xmlns:a="http://schemas.openxmlformats.org/drawingml/2006/main">
              <a:ext uri="{FF2B5EF4-FFF2-40B4-BE49-F238E27FC236}">
                <a16:creationId xmlns:a16="http://schemas.microsoft.com/office/drawing/2014/main" id="{FA603153-F278-4A86-B473-B6F36C38A3EA}"/>
              </a:ext>
            </a:extLst>
          </p:cNvPr>
          <p:cNvSpPr>
            <a:spLocks xmlns:a="http://schemas.openxmlformats.org/drawingml/2006/main" noGrp="1"/>
          </p:cNvSpPr>
          <p:nvPr/>
        </p:nvSpPr>
        <p:spPr>
          <a:xfrm xmlns:a="http://schemas.openxmlformats.org/drawingml/2006/main">
            <a:off x="8191500" y="3200400"/>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30684B"/>
                </a:solidFill>
                <a:latin typeface="Helvetica Neue"/>
                <a:ea typeface="Helvetica Neue"/>
                <a:cs typeface="Helvetica Neue"/>
              </a:defRPr>
            </a:pPr>
            <a:r>
              <a:rPr sz="1125" b="1">
                <a:solidFill>
                  <a:srgbClr val="30684B"/>
                </a:solidFill>
                <a:latin typeface="Helvetica Neue"/>
                <a:ea typeface="Helvetica Neue"/>
                <a:cs typeface="Helvetica Neue"/>
              </a:rPr>
              <a:t>THE LEDGER KEEPS</a:t>
            </a:r>
          </a:p>
        </p:txBody>
      </p:sp>
      <p:sp>
        <p:nvSpPr>
          <p:cNvPr id="16" name="authority-body-2">
            <a:extLst xmlns:a="http://schemas.openxmlformats.org/drawingml/2006/main">
              <a:ext uri="{FF2B5EF4-FFF2-40B4-BE49-F238E27FC236}">
                <a16:creationId xmlns:a16="http://schemas.microsoft.com/office/drawing/2014/main" id="{D129713E-54BE-441B-A1AA-18EADC9BAB92}"/>
              </a:ext>
            </a:extLst>
          </p:cNvPr>
          <p:cNvSpPr>
            <a:spLocks xmlns:a="http://schemas.openxmlformats.org/drawingml/2006/main" noGrp="1"/>
          </p:cNvSpPr>
          <p:nvPr/>
        </p:nvSpPr>
        <p:spPr>
          <a:xfrm xmlns:a="http://schemas.openxmlformats.org/drawingml/2006/main">
            <a:off x="8191500" y="3705225"/>
            <a:ext cx="2762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94"/>
          </a:bodyPr>
          <a:lstStyle xmlns:a="http://schemas.openxmlformats.org/drawingml/2006/main"/>
          <a:p xmlns:a="http://schemas.openxmlformats.org/drawingml/2006/main">
            <a:pPr algn="l">
              <a:defRPr sz="2025" b="1">
                <a:solidFill>
                  <a:srgbClr val="15222A"/>
                </a:solidFill>
                <a:latin typeface="Helvetica Neue"/>
                <a:ea typeface="Helvetica Neue"/>
                <a:cs typeface="Helvetica Neue"/>
              </a:defRPr>
            </a:pPr>
            <a:r>
              <a:rPr sz="2025" b="1">
                <a:solidFill>
                  <a:srgbClr val="15222A"/>
                </a:solidFill>
                <a:latin typeface="Helvetica Neue"/>
                <a:ea typeface="Helvetica Neue"/>
                <a:cs typeface="Helvetica Neue"/>
              </a:rPr>
              <a:t>Mandate versions · calls · quotes · booking · escalation context.</a:t>
            </a:r>
          </a:p>
        </p:txBody>
      </p:sp>
      <p:sp>
        <p:nvSpPr>
          <p:cNvPr id="17" name="authority-footnote">
            <a:extLst xmlns:a="http://schemas.openxmlformats.org/drawingml/2006/main">
              <a:ext uri="{FF2B5EF4-FFF2-40B4-BE49-F238E27FC236}">
                <a16:creationId xmlns:a16="http://schemas.microsoft.com/office/drawing/2014/main" id="{8B2CE0CD-0905-4BBE-9B14-622035C8DF3A}"/>
              </a:ext>
            </a:extLst>
          </p:cNvPr>
          <p:cNvSpPr>
            <a:spLocks xmlns:a="http://schemas.openxmlformats.org/drawingml/2006/main" noGrp="1"/>
          </p:cNvSpPr>
          <p:nvPr/>
        </p:nvSpPr>
        <p:spPr>
          <a:xfrm xmlns:a="http://schemas.openxmlformats.org/drawingml/2006/main">
            <a:off x="495300" y="56959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0" i="1">
                <a:solidFill>
                  <a:srgbClr val="486A76"/>
                </a:solidFill>
                <a:latin typeface="Helvetica Neue"/>
                <a:ea typeface="Helvetica Neue"/>
                <a:cs typeface="Helvetica Neue"/>
              </a:defRPr>
            </a:pPr>
            <a:r>
              <a:rPr sz="1500" b="0" i="1">
                <a:solidFill>
                  <a:srgbClr val="486A76"/>
                </a:solidFill>
                <a:latin typeface="Helvetica Neue"/>
                <a:ea typeface="Helvetica Neue"/>
                <a:cs typeface="Helvetica Neue"/>
              </a:rPr>
              <a:t>A carrier never receives the hidden price cap, and no model response writes to the database directly.</a:t>
            </a:r>
          </a:p>
        </p:txBody>
      </p:sp>
    </p:spTree>
    <p:extLst>
      <p:ext uri="{BB962C8B-B14F-4D97-AF65-F5344CB8AC3E}">
        <p14:creationId xmlns:p14="http://schemas.microsoft.com/office/powerpoint/2010/main" val="6934726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eyebrow">
            <a:extLst xmlns:a="http://schemas.openxmlformats.org/drawingml/2006/main">
              <a:ext uri="{FF2B5EF4-FFF2-40B4-BE49-F238E27FC236}">
                <a16:creationId xmlns:a16="http://schemas.microsoft.com/office/drawing/2014/main" id="{9382D93B-60F5-4872-9AD0-09AF537C0C19}"/>
              </a:ext>
            </a:extLst>
          </p:cNvPr>
          <p:cNvSpPr>
            <a:spLocks xmlns:a="http://schemas.openxmlformats.org/drawingml/2006/main" noGrp="1"/>
          </p:cNvSpPr>
          <p:nvPr/>
        </p:nvSpPr>
        <p:spPr>
          <a:xfrm xmlns:a="http://schemas.openxmlformats.org/drawingml/2006/main">
            <a:off x="495300" y="323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B76E31"/>
                </a:solidFill>
                <a:latin typeface="Helvetica Neue"/>
                <a:ea typeface="Helvetica Neue"/>
                <a:cs typeface="Helvetica Neue"/>
              </a:defRPr>
            </a:pPr>
            <a:r>
              <a:rPr sz="1125" b="1">
                <a:solidFill>
                  <a:srgbClr val="B76E31"/>
                </a:solidFill>
                <a:latin typeface="Helvetica Neue"/>
                <a:ea typeface="Helvetica Neue"/>
                <a:cs typeface="Helvetica Neue"/>
              </a:rPr>
              <a:t>ARCHITECTURE</a:t>
            </a:r>
          </a:p>
        </p:txBody>
      </p:sp>
      <p:sp>
        <p:nvSpPr>
          <p:cNvPr id="2" name="slide-number">
            <a:extLst xmlns:a="http://schemas.openxmlformats.org/drawingml/2006/main">
              <a:ext uri="{FF2B5EF4-FFF2-40B4-BE49-F238E27FC236}">
                <a16:creationId xmlns:a16="http://schemas.microsoft.com/office/drawing/2014/main" id="{DB8952A7-0C01-497D-A1CB-0DDD02F7E8B0}"/>
              </a:ext>
            </a:extLst>
          </p:cNvPr>
          <p:cNvSpPr>
            <a:spLocks xmlns:a="http://schemas.openxmlformats.org/drawingml/2006/main" noGrp="1"/>
          </p:cNvSpPr>
          <p:nvPr/>
        </p:nvSpPr>
        <p:spPr>
          <a:xfrm xmlns:a="http://schemas.openxmlformats.org/drawingml/2006/main">
            <a:off x="11049000" y="323850"/>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125" b="1">
                <a:solidFill>
                  <a:srgbClr val="486A76"/>
                </a:solidFill>
                <a:latin typeface="Helvetica Neue"/>
                <a:ea typeface="Helvetica Neue"/>
                <a:cs typeface="Helvetica Neue"/>
              </a:defRPr>
            </a:pPr>
            <a:r>
              <a:rPr sz="1125" b="1">
                <a:solidFill>
                  <a:srgbClr val="486A76"/>
                </a:solidFill>
                <a:latin typeface="Helvetica Neue"/>
                <a:ea typeface="Helvetica Neue"/>
                <a:cs typeface="Helvetica Neue"/>
              </a:rPr>
              <a:t>05</a:t>
            </a:r>
          </a:p>
        </p:txBody>
      </p:sp>
      <p:sp>
        <p:nvSpPr>
          <p:cNvPr id="3" name="header-rule">
            <a:extLst xmlns:a="http://schemas.openxmlformats.org/drawingml/2006/main">
              <a:ext uri="{FF2B5EF4-FFF2-40B4-BE49-F238E27FC236}">
                <a16:creationId xmlns:a16="http://schemas.microsoft.com/office/drawing/2014/main" id="{39D27610-853F-4E26-ACA3-974F2FA2CDF9}"/>
              </a:ext>
            </a:extLst>
          </p:cNvPr>
          <p:cNvSpPr>
            <a:spLocks xmlns:a="http://schemas.openxmlformats.org/drawingml/2006/main" noGrp="1"/>
          </p:cNvSpPr>
          <p:nvPr/>
        </p:nvSpPr>
        <p:spPr>
          <a:xfrm xmlns:a="http://schemas.openxmlformats.org/drawingml/2006/main">
            <a:off x="495300" y="714375"/>
            <a:ext cx="11201400" cy="0"/>
          </a:xfrm>
          <a:prstGeom xmlns:a="http://schemas.openxmlformats.org/drawingml/2006/main" prst="line">
            <a:avLst/>
          </a:prstGeom>
          <a:noFill xmlns:a="http://schemas.openxmlformats.org/drawingml/2006/main"/>
          <a:ln xmlns:a="http://schemas.openxmlformats.org/drawingml/2006/main" w="9525">
            <a:solidFill>
              <a:srgbClr val="C8C9BF"/>
            </a:solidFill>
            <a:prstDash val="solid"/>
          </a:ln>
        </p:spPr>
      </p:sp>
      <p:sp>
        <p:nvSpPr>
          <p:cNvPr id="4" name="headline">
            <a:extLst xmlns:a="http://schemas.openxmlformats.org/drawingml/2006/main">
              <a:ext uri="{FF2B5EF4-FFF2-40B4-BE49-F238E27FC236}">
                <a16:creationId xmlns:a16="http://schemas.microsoft.com/office/drawing/2014/main" id="{C47527CB-463B-4F85-A02E-CD5AB5390B05}"/>
              </a:ext>
            </a:extLst>
          </p:cNvPr>
          <p:cNvSpPr>
            <a:spLocks xmlns:a="http://schemas.openxmlformats.org/drawingml/2006/main" noGrp="1"/>
          </p:cNvSpPr>
          <p:nvPr/>
        </p:nvSpPr>
        <p:spPr>
          <a:xfrm xmlns:a="http://schemas.openxmlformats.org/drawingml/2006/main">
            <a:off x="495300" y="1028700"/>
            <a:ext cx="1057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639"/>
          </a:bodyPr>
          <a:lstStyle xmlns:a="http://schemas.openxmlformats.org/drawingml/2006/main"/>
          <a:p xmlns:a="http://schemas.openxmlformats.org/drawingml/2006/main">
            <a:pPr algn="l">
              <a:defRPr sz="3600" b="1">
                <a:solidFill>
                  <a:srgbClr val="15222A"/>
                </a:solidFill>
                <a:latin typeface="Helvetica Neue"/>
                <a:ea typeface="Helvetica Neue"/>
                <a:cs typeface="Helvetica Neue"/>
              </a:defRPr>
            </a:pPr>
            <a:r>
              <a:rPr sz="3600" b="1">
                <a:solidFill>
                  <a:srgbClr val="15222A"/>
                </a:solidFill>
                <a:latin typeface="Helvetica Neue"/>
                <a:ea typeface="Helvetica Neue"/>
                <a:cs typeface="Helvetica Neue"/>
              </a:rPr>
              <a:t>The voice path is real-time. The operation is durable.</a:t>
            </a:r>
          </a:p>
        </p:txBody>
      </p:sp>
      <p:sp>
        <p:nvSpPr>
          <p:cNvPr id="5" name="group-people">
            <a:extLst xmlns:a="http://schemas.openxmlformats.org/drawingml/2006/main">
              <a:ext uri="{FF2B5EF4-FFF2-40B4-BE49-F238E27FC236}">
                <a16:creationId xmlns:a16="http://schemas.microsoft.com/office/drawing/2014/main" id="{3F0A0FC8-8BA9-4187-A897-AB666B69B062}"/>
              </a:ext>
            </a:extLst>
          </p:cNvPr>
          <p:cNvSpPr>
            <a:spLocks xmlns:a="http://schemas.openxmlformats.org/drawingml/2006/main" noGrp="1"/>
          </p:cNvSpPr>
          <p:nvPr/>
        </p:nvSpPr>
        <p:spPr>
          <a:xfrm xmlns:a="http://schemas.openxmlformats.org/drawingml/2006/main">
            <a:off x="495300" y="20383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l">
              <a:defRPr sz="975" b="1">
                <a:solidFill>
                  <a:srgbClr val="486A76"/>
                </a:solidFill>
                <a:latin typeface="Helvetica Neue"/>
                <a:ea typeface="Helvetica Neue"/>
                <a:cs typeface="Helvetica Neue"/>
              </a:defRPr>
            </a:pPr>
            <a:r>
              <a:rPr sz="975" b="1">
                <a:solidFill>
                  <a:srgbClr val="486A76"/>
                </a:solidFill>
                <a:latin typeface="Helvetica Neue"/>
                <a:ea typeface="Helvetica Neue"/>
                <a:cs typeface="Helvetica Neue"/>
              </a:rPr>
              <a:t>PEOPLE</a:t>
            </a:r>
          </a:p>
        </p:txBody>
      </p:sp>
      <p:sp>
        <p:nvSpPr>
          <p:cNvPr id="6" name="group-voice">
            <a:extLst xmlns:a="http://schemas.openxmlformats.org/drawingml/2006/main">
              <a:ext uri="{FF2B5EF4-FFF2-40B4-BE49-F238E27FC236}">
                <a16:creationId xmlns:a16="http://schemas.microsoft.com/office/drawing/2014/main" id="{C7D961D3-BD7F-44FA-92AA-B5F38097AE29}"/>
              </a:ext>
            </a:extLst>
          </p:cNvPr>
          <p:cNvSpPr>
            <a:spLocks xmlns:a="http://schemas.openxmlformats.org/drawingml/2006/main" noGrp="1"/>
          </p:cNvSpPr>
          <p:nvPr/>
        </p:nvSpPr>
        <p:spPr>
          <a:xfrm xmlns:a="http://schemas.openxmlformats.org/drawingml/2006/main">
            <a:off x="2524125" y="2038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l">
              <a:defRPr sz="975" b="1">
                <a:solidFill>
                  <a:srgbClr val="486A76"/>
                </a:solidFill>
                <a:latin typeface="Helvetica Neue"/>
                <a:ea typeface="Helvetica Neue"/>
                <a:cs typeface="Helvetica Neue"/>
              </a:defRPr>
            </a:pPr>
            <a:r>
              <a:rPr sz="975" b="1">
                <a:solidFill>
                  <a:srgbClr val="486A76"/>
                </a:solidFill>
                <a:latin typeface="Helvetica Neue"/>
                <a:ea typeface="Helvetica Neue"/>
                <a:cs typeface="Helvetica Neue"/>
              </a:rPr>
              <a:t>VOICE</a:t>
            </a:r>
          </a:p>
        </p:txBody>
      </p:sp>
      <p:sp>
        <p:nvSpPr>
          <p:cNvPr id="7" name="group-runtime">
            <a:extLst xmlns:a="http://schemas.openxmlformats.org/drawingml/2006/main">
              <a:ext uri="{FF2B5EF4-FFF2-40B4-BE49-F238E27FC236}">
                <a16:creationId xmlns:a16="http://schemas.microsoft.com/office/drawing/2014/main" id="{30AE14BF-6007-4298-B220-CF828B4AC0DD}"/>
              </a:ext>
            </a:extLst>
          </p:cNvPr>
          <p:cNvSpPr>
            <a:spLocks xmlns:a="http://schemas.openxmlformats.org/drawingml/2006/main" noGrp="1"/>
          </p:cNvSpPr>
          <p:nvPr/>
        </p:nvSpPr>
        <p:spPr>
          <a:xfrm xmlns:a="http://schemas.openxmlformats.org/drawingml/2006/main">
            <a:off x="5191125" y="2038350"/>
            <a:ext cx="276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l">
              <a:defRPr sz="975" b="1">
                <a:solidFill>
                  <a:srgbClr val="486A76"/>
                </a:solidFill>
                <a:latin typeface="Helvetica Neue"/>
                <a:ea typeface="Helvetica Neue"/>
                <a:cs typeface="Helvetica Neue"/>
              </a:defRPr>
            </a:pPr>
            <a:r>
              <a:rPr sz="975" b="1">
                <a:solidFill>
                  <a:srgbClr val="486A76"/>
                </a:solidFill>
                <a:latin typeface="Helvetica Neue"/>
                <a:ea typeface="Helvetica Neue"/>
                <a:cs typeface="Helvetica Neue"/>
              </a:rPr>
              <a:t>TANGO RUNTIME · RENDER</a:t>
            </a:r>
          </a:p>
        </p:txBody>
      </p:sp>
      <p:sp>
        <p:nvSpPr>
          <p:cNvPr id="8" name="group-data">
            <a:extLst xmlns:a="http://schemas.openxmlformats.org/drawingml/2006/main">
              <a:ext uri="{FF2B5EF4-FFF2-40B4-BE49-F238E27FC236}">
                <a16:creationId xmlns:a16="http://schemas.microsoft.com/office/drawing/2014/main" id="{2402DB2E-3ED2-4756-88B8-111940699FAC}"/>
              </a:ext>
            </a:extLst>
          </p:cNvPr>
          <p:cNvSpPr>
            <a:spLocks xmlns:a="http://schemas.openxmlformats.org/drawingml/2006/main" noGrp="1"/>
          </p:cNvSpPr>
          <p:nvPr/>
        </p:nvSpPr>
        <p:spPr>
          <a:xfrm xmlns:a="http://schemas.openxmlformats.org/drawingml/2006/main">
            <a:off x="8305800" y="203835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l">
              <a:defRPr sz="975" b="1">
                <a:solidFill>
                  <a:srgbClr val="486A76"/>
                </a:solidFill>
                <a:latin typeface="Helvetica Neue"/>
                <a:ea typeface="Helvetica Neue"/>
                <a:cs typeface="Helvetica Neue"/>
              </a:defRPr>
            </a:pPr>
            <a:r>
              <a:rPr sz="975" b="1">
                <a:solidFill>
                  <a:srgbClr val="486A76"/>
                </a:solidFill>
                <a:latin typeface="Helvetica Neue"/>
                <a:ea typeface="Helvetica Neue"/>
                <a:cs typeface="Helvetica Neue"/>
              </a:rPr>
              <a:t>DURABLE OPERATION · SUPABASE</a:t>
            </a:r>
          </a:p>
        </p:txBody>
      </p:sp>
      <p:sp>
        <p:nvSpPr>
          <p:cNvPr id="9" name="client">
            <a:extLst xmlns:a="http://schemas.openxmlformats.org/drawingml/2006/main">
              <a:ext uri="{FF2B5EF4-FFF2-40B4-BE49-F238E27FC236}">
                <a16:creationId xmlns:a16="http://schemas.microsoft.com/office/drawing/2014/main" id="{28CCD389-2667-47EE-B7EB-71E436AF7BC3}"/>
              </a:ext>
            </a:extLst>
          </p:cNvPr>
          <p:cNvSpPr>
            <a:spLocks xmlns:a="http://schemas.openxmlformats.org/drawingml/2006/main" noGrp="1"/>
          </p:cNvSpPr>
          <p:nvPr/>
        </p:nvSpPr>
        <p:spPr>
          <a:xfrm xmlns:a="http://schemas.openxmlformats.org/drawingml/2006/main">
            <a:off x="495300" y="2381250"/>
            <a:ext cx="1504950" cy="685800"/>
          </a:xfrm>
          <a:prstGeom xmlns:a="http://schemas.openxmlformats.org/drawingml/2006/main" prst="rect">
            <a:avLst/>
          </a:prstGeom>
          <a:solidFill xmlns:a="http://schemas.openxmlformats.org/drawingml/2006/main">
            <a:srgbClr val="FFF8F0"/>
          </a:solidFill>
          <a:ln xmlns:a="http://schemas.openxmlformats.org/drawingml/2006/main" w="11906">
            <a:solidFill>
              <a:srgbClr val="B76E3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Client</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sets mandate</a:t>
            </a:r>
          </a:p>
        </p:txBody>
      </p:sp>
      <p:sp>
        <p:nvSpPr>
          <p:cNvPr id="10" name="carrier">
            <a:extLst xmlns:a="http://schemas.openxmlformats.org/drawingml/2006/main">
              <a:ext uri="{FF2B5EF4-FFF2-40B4-BE49-F238E27FC236}">
                <a16:creationId xmlns:a16="http://schemas.microsoft.com/office/drawing/2014/main" id="{7A592B8E-830E-47BF-91E2-1ED2B183DDB3}"/>
              </a:ext>
            </a:extLst>
          </p:cNvPr>
          <p:cNvSpPr>
            <a:spLocks xmlns:a="http://schemas.openxmlformats.org/drawingml/2006/main" noGrp="1"/>
          </p:cNvSpPr>
          <p:nvPr/>
        </p:nvSpPr>
        <p:spPr>
          <a:xfrm xmlns:a="http://schemas.openxmlformats.org/drawingml/2006/main">
            <a:off x="495300" y="3495675"/>
            <a:ext cx="1504950" cy="685800"/>
          </a:xfrm>
          <a:prstGeom xmlns:a="http://schemas.openxmlformats.org/drawingml/2006/main" prst="rect">
            <a:avLst/>
          </a:prstGeom>
          <a:solidFill xmlns:a="http://schemas.openxmlformats.org/drawingml/2006/main">
            <a:srgbClr val="FFF8F0"/>
          </a:solidFill>
          <a:ln xmlns:a="http://schemas.openxmlformats.org/drawingml/2006/main" w="11906">
            <a:solidFill>
              <a:srgbClr val="B76E3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Carrier / driver</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quotes or reports change</a:t>
            </a:r>
          </a:p>
        </p:txBody>
      </p:sp>
      <p:sp>
        <p:nvSpPr>
          <p:cNvPr id="11" name="supervisor">
            <a:extLst xmlns:a="http://schemas.openxmlformats.org/drawingml/2006/main">
              <a:ext uri="{FF2B5EF4-FFF2-40B4-BE49-F238E27FC236}">
                <a16:creationId xmlns:a16="http://schemas.microsoft.com/office/drawing/2014/main" id="{16379607-4DD4-4F32-B4AD-0A9762D32B77}"/>
              </a:ext>
            </a:extLst>
          </p:cNvPr>
          <p:cNvSpPr>
            <a:spLocks xmlns:a="http://schemas.openxmlformats.org/drawingml/2006/main" noGrp="1"/>
          </p:cNvSpPr>
          <p:nvPr/>
        </p:nvSpPr>
        <p:spPr>
          <a:xfrm xmlns:a="http://schemas.openxmlformats.org/drawingml/2006/main">
            <a:off x="495300" y="5181600"/>
            <a:ext cx="1504950" cy="590550"/>
          </a:xfrm>
          <a:prstGeom xmlns:a="http://schemas.openxmlformats.org/drawingml/2006/main" prst="rect">
            <a:avLst/>
          </a:prstGeom>
          <a:solidFill xmlns:a="http://schemas.openxmlformats.org/drawingml/2006/main">
            <a:srgbClr val="F9ECEA"/>
          </a:solidFill>
          <a:ln xmlns:a="http://schemas.openxmlformats.org/drawingml/2006/main" w="11906">
            <a:solidFill>
              <a:srgbClr val="A63E3A"/>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Supervisor</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live takeover</a:t>
            </a:r>
          </a:p>
        </p:txBody>
      </p:sp>
      <p:sp>
        <p:nvSpPr>
          <p:cNvPr id="12" name="twilio">
            <a:extLst xmlns:a="http://schemas.openxmlformats.org/drawingml/2006/main">
              <a:ext uri="{FF2B5EF4-FFF2-40B4-BE49-F238E27FC236}">
                <a16:creationId xmlns:a16="http://schemas.microsoft.com/office/drawing/2014/main" id="{4214E497-138F-4660-87E1-CFA4E6216FF2}"/>
              </a:ext>
            </a:extLst>
          </p:cNvPr>
          <p:cNvSpPr>
            <a:spLocks xmlns:a="http://schemas.openxmlformats.org/drawingml/2006/main" noGrp="1"/>
          </p:cNvSpPr>
          <p:nvPr/>
        </p:nvSpPr>
        <p:spPr>
          <a:xfrm xmlns:a="http://schemas.openxmlformats.org/drawingml/2006/main">
            <a:off x="2514600" y="2676525"/>
            <a:ext cx="1752600" cy="762000"/>
          </a:xfrm>
          <a:prstGeom xmlns:a="http://schemas.openxmlformats.org/drawingml/2006/main" prst="rect">
            <a:avLst/>
          </a:prstGeom>
          <a:solidFill xmlns:a="http://schemas.openxmlformats.org/drawingml/2006/main">
            <a:srgbClr val="EAF5FB"/>
          </a:solidFill>
          <a:ln xmlns:a="http://schemas.openxmlformats.org/drawingml/2006/main" w="11906">
            <a:solidFill>
              <a:srgbClr val="3D8DF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Twilio Voice</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inbound + outbound</a:t>
            </a:r>
          </a:p>
        </p:txBody>
      </p:sp>
      <p:sp>
        <p:nvSpPr>
          <p:cNvPr id="13" name="realtime">
            <a:extLst xmlns:a="http://schemas.openxmlformats.org/drawingml/2006/main">
              <a:ext uri="{FF2B5EF4-FFF2-40B4-BE49-F238E27FC236}">
                <a16:creationId xmlns:a16="http://schemas.microsoft.com/office/drawing/2014/main" id="{87D83F3E-95F5-4F7B-84E5-A2BFA7C68AAD}"/>
              </a:ext>
            </a:extLst>
          </p:cNvPr>
          <p:cNvSpPr>
            <a:spLocks xmlns:a="http://schemas.openxmlformats.org/drawingml/2006/main" noGrp="1"/>
          </p:cNvSpPr>
          <p:nvPr/>
        </p:nvSpPr>
        <p:spPr>
          <a:xfrm xmlns:a="http://schemas.openxmlformats.org/drawingml/2006/main">
            <a:off x="2514600" y="3981450"/>
            <a:ext cx="1752600" cy="762000"/>
          </a:xfrm>
          <a:prstGeom xmlns:a="http://schemas.openxmlformats.org/drawingml/2006/main" prst="rect">
            <a:avLst/>
          </a:prstGeom>
          <a:solidFill xmlns:a="http://schemas.openxmlformats.org/drawingml/2006/main">
            <a:srgbClr val="EAF5FB"/>
          </a:solidFill>
          <a:ln xmlns:a="http://schemas.openxmlformats.org/drawingml/2006/main" w="11906">
            <a:solidFill>
              <a:srgbClr val="3D8DF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OpenAI Realtime</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SIP audio + speech</a:t>
            </a:r>
          </a:p>
        </p:txBody>
      </p:sp>
      <p:sp>
        <p:nvSpPr>
          <p:cNvPr id="14" name="voice-api">
            <a:extLst xmlns:a="http://schemas.openxmlformats.org/drawingml/2006/main">
              <a:ext uri="{FF2B5EF4-FFF2-40B4-BE49-F238E27FC236}">
                <a16:creationId xmlns:a16="http://schemas.microsoft.com/office/drawing/2014/main" id="{AD617C1B-5D37-4E8A-8CC7-C4E2D1F79561}"/>
              </a:ext>
            </a:extLst>
          </p:cNvPr>
          <p:cNvSpPr>
            <a:spLocks xmlns:a="http://schemas.openxmlformats.org/drawingml/2006/main" noGrp="1"/>
          </p:cNvSpPr>
          <p:nvPr/>
        </p:nvSpPr>
        <p:spPr>
          <a:xfrm xmlns:a="http://schemas.openxmlformats.org/drawingml/2006/main">
            <a:off x="5191125" y="2419350"/>
            <a:ext cx="2266950" cy="685800"/>
          </a:xfrm>
          <a:prstGeom xmlns:a="http://schemas.openxmlformats.org/drawingml/2006/main" prst="rect">
            <a:avLst/>
          </a:prstGeom>
          <a:solidFill xmlns:a="http://schemas.openxmlformats.org/drawingml/2006/main">
            <a:srgbClr val="EAF5FB"/>
          </a:solidFill>
          <a:ln xmlns:a="http://schemas.openxmlformats.org/drawingml/2006/main" w="11906">
            <a:solidFill>
              <a:srgbClr val="3D8DF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Voice/API runtime</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signed webhooks + sideband</a:t>
            </a:r>
          </a:p>
        </p:txBody>
      </p:sp>
      <p:sp>
        <p:nvSpPr>
          <p:cNvPr id="15" name="domain">
            <a:extLst xmlns:a="http://schemas.openxmlformats.org/drawingml/2006/main">
              <a:ext uri="{FF2B5EF4-FFF2-40B4-BE49-F238E27FC236}">
                <a16:creationId xmlns:a16="http://schemas.microsoft.com/office/drawing/2014/main" id="{7990C676-5CDE-4BBB-8FA9-4E3A5927A9D8}"/>
              </a:ext>
            </a:extLst>
          </p:cNvPr>
          <p:cNvSpPr>
            <a:spLocks xmlns:a="http://schemas.openxmlformats.org/drawingml/2006/main" noGrp="1"/>
          </p:cNvSpPr>
          <p:nvPr/>
        </p:nvSpPr>
        <p:spPr>
          <a:xfrm xmlns:a="http://schemas.openxmlformats.org/drawingml/2006/main">
            <a:off x="5191125" y="3514725"/>
            <a:ext cx="2266950" cy="838200"/>
          </a:xfrm>
          <a:prstGeom xmlns:a="http://schemas.openxmlformats.org/drawingml/2006/main" prst="rect">
            <a:avLst/>
          </a:prstGeom>
          <a:solidFill xmlns:a="http://schemas.openxmlformats.org/drawingml/2006/main">
            <a:srgbClr val="FFFFFF"/>
          </a:solidFill>
          <a:ln xmlns:a="http://schemas.openxmlformats.org/drawingml/2006/main" w="11906">
            <a:solidFill>
              <a:srgbClr val="C8C9B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Server-side domain</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mandate · auth · state</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idempotent tools</a:t>
            </a:r>
          </a:p>
        </p:txBody>
      </p:sp>
      <p:sp>
        <p:nvSpPr>
          <p:cNvPr id="16" name="worker">
            <a:extLst xmlns:a="http://schemas.openxmlformats.org/drawingml/2006/main">
              <a:ext uri="{FF2B5EF4-FFF2-40B4-BE49-F238E27FC236}">
                <a16:creationId xmlns:a16="http://schemas.microsoft.com/office/drawing/2014/main" id="{5C0785FC-2B30-4318-BF99-020DB2FF16E8}"/>
              </a:ext>
            </a:extLst>
          </p:cNvPr>
          <p:cNvSpPr>
            <a:spLocks xmlns:a="http://schemas.openxmlformats.org/drawingml/2006/main" noGrp="1"/>
          </p:cNvSpPr>
          <p:nvPr/>
        </p:nvSpPr>
        <p:spPr>
          <a:xfrm xmlns:a="http://schemas.openxmlformats.org/drawingml/2006/main">
            <a:off x="5191125" y="4838700"/>
            <a:ext cx="2266950" cy="666750"/>
          </a:xfrm>
          <a:prstGeom xmlns:a="http://schemas.openxmlformats.org/drawingml/2006/main" prst="rect">
            <a:avLst/>
          </a:prstGeom>
          <a:solidFill xmlns:a="http://schemas.openxmlformats.org/drawingml/2006/main">
            <a:srgbClr val="FFFFFF"/>
          </a:solidFill>
          <a:ln xmlns:a="http://schemas.openxmlformats.org/drawingml/2006/main" w="11906">
            <a:solidFill>
              <a:srgbClr val="C8C9B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Outbound worker</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parallel carrier calls</a:t>
            </a:r>
          </a:p>
        </p:txBody>
      </p:sp>
      <p:sp>
        <p:nvSpPr>
          <p:cNvPr id="17" name="ledger">
            <a:extLst xmlns:a="http://schemas.openxmlformats.org/drawingml/2006/main">
              <a:ext uri="{FF2B5EF4-FFF2-40B4-BE49-F238E27FC236}">
                <a16:creationId xmlns:a16="http://schemas.microsoft.com/office/drawing/2014/main" id="{A8D252BF-1029-4F13-A65B-4AC7095F8D92}"/>
              </a:ext>
            </a:extLst>
          </p:cNvPr>
          <p:cNvSpPr>
            <a:spLocks xmlns:a="http://schemas.openxmlformats.org/drawingml/2006/main" noGrp="1"/>
          </p:cNvSpPr>
          <p:nvPr/>
        </p:nvSpPr>
        <p:spPr>
          <a:xfrm xmlns:a="http://schemas.openxmlformats.org/drawingml/2006/main">
            <a:off x="8305800" y="2419350"/>
            <a:ext cx="2571750" cy="933450"/>
          </a:xfrm>
          <a:prstGeom xmlns:a="http://schemas.openxmlformats.org/drawingml/2006/main" prst="rect">
            <a:avLst/>
          </a:prstGeom>
          <a:solidFill xmlns:a="http://schemas.openxmlformats.org/drawingml/2006/main">
            <a:srgbClr val="FFFFFF"/>
          </a:solidFill>
          <a:ln xmlns:a="http://schemas.openxmlformats.org/drawingml/2006/main" w="11906">
            <a:solidFill>
              <a:srgbClr val="C8C9B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Operation ledger</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mandate versions · quotes</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bookings · evidence · events</a:t>
            </a:r>
          </a:p>
        </p:txBody>
      </p:sp>
      <p:sp>
        <p:nvSpPr>
          <p:cNvPr id="18" name="outbox">
            <a:extLst xmlns:a="http://schemas.openxmlformats.org/drawingml/2006/main">
              <a:ext uri="{FF2B5EF4-FFF2-40B4-BE49-F238E27FC236}">
                <a16:creationId xmlns:a16="http://schemas.microsoft.com/office/drawing/2014/main" id="{04049304-37EC-41F6-BA15-F822643A3F8C}"/>
              </a:ext>
            </a:extLst>
          </p:cNvPr>
          <p:cNvSpPr>
            <a:spLocks xmlns:a="http://schemas.openxmlformats.org/drawingml/2006/main" noGrp="1"/>
          </p:cNvSpPr>
          <p:nvPr/>
        </p:nvSpPr>
        <p:spPr>
          <a:xfrm xmlns:a="http://schemas.openxmlformats.org/drawingml/2006/main">
            <a:off x="8305800" y="3800475"/>
            <a:ext cx="2571750" cy="590550"/>
          </a:xfrm>
          <a:prstGeom xmlns:a="http://schemas.openxmlformats.org/drawingml/2006/main" prst="rect">
            <a:avLst/>
          </a:prstGeom>
          <a:solidFill xmlns:a="http://schemas.openxmlformats.org/drawingml/2006/main">
            <a:srgbClr val="FFFFFF"/>
          </a:solidFill>
          <a:ln xmlns:a="http://schemas.openxmlformats.org/drawingml/2006/main" w="11906">
            <a:solidFill>
              <a:srgbClr val="C8C9B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Outbox + command receipts</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retry-safe dispatch</a:t>
            </a:r>
          </a:p>
        </p:txBody>
      </p:sp>
      <p:sp>
        <p:nvSpPr>
          <p:cNvPr id="19" name="escalation">
            <a:extLst xmlns:a="http://schemas.openxmlformats.org/drawingml/2006/main">
              <a:ext uri="{FF2B5EF4-FFF2-40B4-BE49-F238E27FC236}">
                <a16:creationId xmlns:a16="http://schemas.microsoft.com/office/drawing/2014/main" id="{035CF168-E16D-46A6-99DF-57844C1E9FF8}"/>
              </a:ext>
            </a:extLst>
          </p:cNvPr>
          <p:cNvSpPr>
            <a:spLocks xmlns:a="http://schemas.openxmlformats.org/drawingml/2006/main" noGrp="1"/>
          </p:cNvSpPr>
          <p:nvPr/>
        </p:nvSpPr>
        <p:spPr>
          <a:xfrm xmlns:a="http://schemas.openxmlformats.org/drawingml/2006/main">
            <a:off x="8305800" y="4838700"/>
            <a:ext cx="2571750" cy="666750"/>
          </a:xfrm>
          <a:prstGeom xmlns:a="http://schemas.openxmlformats.org/drawingml/2006/main" prst="rect">
            <a:avLst/>
          </a:prstGeom>
          <a:solidFill xmlns:a="http://schemas.openxmlformats.org/drawingml/2006/main">
            <a:srgbClr val="F9ECEA"/>
          </a:solidFill>
          <a:ln xmlns:a="http://schemas.openxmlformats.org/drawingml/2006/main" w="11906">
            <a:solidFill>
              <a:srgbClr val="A63E3A"/>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Escalations + editable recipients</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context persists before transfer</a:t>
            </a:r>
          </a:p>
        </p:txBody>
      </p:sp>
      <p:sp>
        <p:nvSpPr>
          <p:cNvPr id="20" name="dashboard">
            <a:extLst xmlns:a="http://schemas.openxmlformats.org/drawingml/2006/main">
              <a:ext uri="{FF2B5EF4-FFF2-40B4-BE49-F238E27FC236}">
                <a16:creationId xmlns:a16="http://schemas.microsoft.com/office/drawing/2014/main" id="{0610D991-C647-4DB8-9407-A356236E065F}"/>
              </a:ext>
            </a:extLst>
          </p:cNvPr>
          <p:cNvSpPr>
            <a:spLocks xmlns:a="http://schemas.openxmlformats.org/drawingml/2006/main" noGrp="1"/>
          </p:cNvSpPr>
          <p:nvPr/>
        </p:nvSpPr>
        <p:spPr>
          <a:xfrm xmlns:a="http://schemas.openxmlformats.org/drawingml/2006/main">
            <a:off x="10106025" y="5724525"/>
            <a:ext cx="1590675" cy="514350"/>
          </a:xfrm>
          <a:prstGeom xmlns:a="http://schemas.openxmlformats.org/drawingml/2006/main" prst="rect">
            <a:avLst/>
          </a:prstGeom>
          <a:solidFill xmlns:a="http://schemas.openxmlformats.org/drawingml/2006/main">
            <a:srgbClr val="FFFFFF"/>
          </a:solidFill>
          <a:ln xmlns:a="http://schemas.openxmlformats.org/drawingml/2006/main" w="11906">
            <a:solidFill>
              <a:srgbClr val="C8C9BF"/>
            </a:solidFill>
            <a:prstDash val="solid"/>
          </a:ln>
        </p:spPr>
        <p:txBody>
          <a:bodyPr xmlns:a="http://schemas.openxmlformats.org/drawingml/2006/main" anchor="ctr">
            <a:normAutofit fontScale="87841"/>
          </a:bodyPr>
          <a:lstStyle xmlns:a="http://schemas.openxmlformats.org/drawingml/2006/main"/>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Supervisor dashboard</a:t>
            </a:r>
          </a:p>
          <a:p xmlns:a="http://schemas.openxmlformats.org/drawingml/2006/main">
            <a:pPr algn="ctr">
              <a:defRPr sz="1200" b="1">
                <a:solidFill>
                  <a:srgbClr val="15222A"/>
                </a:solidFill>
                <a:latin typeface="Helvetica Neue"/>
                <a:ea typeface="Helvetica Neue"/>
                <a:cs typeface="Helvetica Neue"/>
              </a:defRPr>
            </a:pPr>
            <a:r>
              <a:rPr sz="1200" b="1">
                <a:solidFill>
                  <a:srgbClr val="15222A"/>
                </a:solidFill>
                <a:latin typeface="Helvetica Neue"/>
                <a:ea typeface="Helvetica Neue"/>
                <a:cs typeface="Helvetica Neue"/>
              </a:rPr>
              <a:t>audit trail</a:t>
            </a:r>
          </a:p>
        </p:txBody>
      </p:sp>
      <p:cxnSp>
        <p:nvCxnSpPr>
          <p:cNvPr id="60" name=""/>
          <p:cNvCxnSpPr>
            <a:stCxn xmlns:a="http://schemas.openxmlformats.org/drawingml/2006/main" id="9" idx="3"/>
            <a:endCxn xmlns:a="http://schemas.openxmlformats.org/drawingml/2006/main" id="12" idx="1"/>
          </p:cNvCxnSpPr>
          <p:nvPr/>
        </p:nvCxnSpPr>
        <p:spPr>
          <a:xfrm xmlns:a="http://schemas.openxmlformats.org/drawingml/2006/main">
            <a:off x="2000250" y="2724150"/>
            <a:ext cx="514350" cy="333375"/>
          </a:xfrm>
          <a:prstGeom xmlns:a="http://schemas.openxmlformats.org/drawingml/2006/main" prst="bentConnector3">
            <a:avLst>
              <a:gd name="adj1" fmla="val 50000"/>
            </a:avLst>
          </a:prstGeom>
          <a:ln xmlns:a="http://schemas.openxmlformats.org/drawingml/2006/main" w="14288">
            <a:solidFill>
              <a:srgbClr val="486A76"/>
            </a:solidFill>
            <a:prstDash val="solid"/>
            <a:tailEnd type="arrow" w="sm" len="sm"/>
          </a:ln>
        </p:spPr>
      </p:cxnSp>
      <p:cxnSp>
        <p:nvCxnSpPr>
          <p:cNvPr id="61" name=""/>
          <p:cNvCxnSpPr>
            <a:stCxn xmlns:a="http://schemas.openxmlformats.org/drawingml/2006/main" id="10" idx="3"/>
            <a:endCxn xmlns:a="http://schemas.openxmlformats.org/drawingml/2006/main" id="12" idx="1"/>
          </p:cNvCxnSpPr>
          <p:nvPr/>
        </p:nvCxnSpPr>
        <p:spPr>
          <a:xfrm xmlns:a="http://schemas.openxmlformats.org/drawingml/2006/main" flipV="1">
            <a:off x="2000250" y="3057525"/>
            <a:ext cx="514350" cy="781050"/>
          </a:xfrm>
          <a:prstGeom xmlns:a="http://schemas.openxmlformats.org/drawingml/2006/main" prst="bentConnector3">
            <a:avLst>
              <a:gd name="adj1" fmla="val 50000"/>
            </a:avLst>
          </a:prstGeom>
          <a:ln xmlns:a="http://schemas.openxmlformats.org/drawingml/2006/main" w="14288">
            <a:solidFill>
              <a:srgbClr val="486A76"/>
            </a:solidFill>
            <a:prstDash val="solid"/>
            <a:tailEnd type="arrow" w="sm" len="sm"/>
          </a:ln>
        </p:spPr>
      </p:cxnSp>
      <p:cxnSp>
        <p:nvCxnSpPr>
          <p:cNvPr id="62" name=""/>
          <p:cNvCxnSpPr>
            <a:stCxn xmlns:a="http://schemas.openxmlformats.org/drawingml/2006/main" id="12" idx="2"/>
            <a:endCxn xmlns:a="http://schemas.openxmlformats.org/drawingml/2006/main" id="13" idx="0"/>
          </p:cNvCxnSpPr>
          <p:nvPr/>
        </p:nvCxnSpPr>
        <p:spPr>
          <a:xfrm xmlns:a="http://schemas.openxmlformats.org/drawingml/2006/main">
            <a:off x="3390900" y="3438525"/>
            <a:ext cx="0" cy="542925"/>
          </a:xfrm>
          <a:prstGeom xmlns:a="http://schemas.openxmlformats.org/drawingml/2006/main" prst="straightConnector1">
            <a:avLst/>
          </a:prstGeom>
          <a:ln xmlns:a="http://schemas.openxmlformats.org/drawingml/2006/main" w="14288">
            <a:solidFill>
              <a:srgbClr val="3D8DFF"/>
            </a:solidFill>
            <a:prstDash val="solid"/>
            <a:tailEnd type="arrow" w="sm" len="sm"/>
          </a:ln>
        </p:spPr>
      </p:cxnSp>
      <p:cxnSp>
        <p:nvCxnSpPr>
          <p:cNvPr id="63" name=""/>
          <p:cNvCxnSpPr>
            <a:stCxn xmlns:a="http://schemas.openxmlformats.org/drawingml/2006/main" id="13" idx="3"/>
            <a:endCxn xmlns:a="http://schemas.openxmlformats.org/drawingml/2006/main" id="14" idx="1"/>
          </p:cNvCxnSpPr>
          <p:nvPr/>
        </p:nvCxnSpPr>
        <p:spPr>
          <a:xfrm xmlns:a="http://schemas.openxmlformats.org/drawingml/2006/main" flipV="1">
            <a:off x="4267200" y="2762250"/>
            <a:ext cx="923925" cy="1600200"/>
          </a:xfrm>
          <a:prstGeom xmlns:a="http://schemas.openxmlformats.org/drawingml/2006/main" prst="bentConnector3">
            <a:avLst>
              <a:gd name="adj1" fmla="val 50000"/>
            </a:avLst>
          </a:prstGeom>
          <a:ln xmlns:a="http://schemas.openxmlformats.org/drawingml/2006/main" w="14288">
            <a:solidFill>
              <a:srgbClr val="3D8DFF"/>
            </a:solidFill>
            <a:prstDash val="solid"/>
            <a:tailEnd type="arrow" w="sm" len="sm"/>
          </a:ln>
        </p:spPr>
      </p:cxnSp>
      <p:cxnSp>
        <p:nvCxnSpPr>
          <p:cNvPr id="64" name=""/>
          <p:cNvCxnSpPr>
            <a:stCxn xmlns:a="http://schemas.openxmlformats.org/drawingml/2006/main" id="14" idx="2"/>
            <a:endCxn xmlns:a="http://schemas.openxmlformats.org/drawingml/2006/main" id="15" idx="0"/>
          </p:cNvCxnSpPr>
          <p:nvPr/>
        </p:nvCxnSpPr>
        <p:spPr>
          <a:xfrm xmlns:a="http://schemas.openxmlformats.org/drawingml/2006/main">
            <a:off x="6324600" y="3105150"/>
            <a:ext cx="0" cy="409575"/>
          </a:xfrm>
          <a:prstGeom xmlns:a="http://schemas.openxmlformats.org/drawingml/2006/main" prst="straightConnector1">
            <a:avLst/>
          </a:prstGeom>
          <a:ln xmlns:a="http://schemas.openxmlformats.org/drawingml/2006/main" w="14288">
            <a:solidFill>
              <a:srgbClr val="3D8DFF"/>
            </a:solidFill>
            <a:prstDash val="solid"/>
            <a:tailEnd type="arrow" w="sm" len="sm"/>
          </a:ln>
        </p:spPr>
      </p:cxnSp>
      <p:cxnSp>
        <p:nvCxnSpPr>
          <p:cNvPr id="65" name=""/>
          <p:cNvCxnSpPr>
            <a:stCxn xmlns:a="http://schemas.openxmlformats.org/drawingml/2006/main" id="15" idx="3"/>
            <a:endCxn xmlns:a="http://schemas.openxmlformats.org/drawingml/2006/main" id="17" idx="1"/>
          </p:cNvCxnSpPr>
          <p:nvPr/>
        </p:nvCxnSpPr>
        <p:spPr>
          <a:xfrm xmlns:a="http://schemas.openxmlformats.org/drawingml/2006/main" flipV="1">
            <a:off x="7458075" y="2886075"/>
            <a:ext cx="847725" cy="1047750"/>
          </a:xfrm>
          <a:prstGeom xmlns:a="http://schemas.openxmlformats.org/drawingml/2006/main" prst="bentConnector3">
            <a:avLst>
              <a:gd name="adj1" fmla="val 50000"/>
            </a:avLst>
          </a:prstGeom>
          <a:ln xmlns:a="http://schemas.openxmlformats.org/drawingml/2006/main" w="14288">
            <a:solidFill>
              <a:srgbClr val="486A76"/>
            </a:solidFill>
            <a:prstDash val="solid"/>
            <a:tailEnd type="arrow" w="sm" len="sm"/>
          </a:ln>
        </p:spPr>
      </p:cxnSp>
      <p:cxnSp>
        <p:nvCxnSpPr>
          <p:cNvPr id="66" name=""/>
          <p:cNvCxnSpPr>
            <a:stCxn xmlns:a="http://schemas.openxmlformats.org/drawingml/2006/main" id="15" idx="3"/>
            <a:endCxn xmlns:a="http://schemas.openxmlformats.org/drawingml/2006/main" id="18" idx="1"/>
          </p:cNvCxnSpPr>
          <p:nvPr/>
        </p:nvCxnSpPr>
        <p:spPr>
          <a:xfrm xmlns:a="http://schemas.openxmlformats.org/drawingml/2006/main">
            <a:off x="7458075" y="3933825"/>
            <a:ext cx="847725" cy="161925"/>
          </a:xfrm>
          <a:prstGeom xmlns:a="http://schemas.openxmlformats.org/drawingml/2006/main" prst="bentConnector3">
            <a:avLst>
              <a:gd name="adj1" fmla="val 50000"/>
            </a:avLst>
          </a:prstGeom>
          <a:ln xmlns:a="http://schemas.openxmlformats.org/drawingml/2006/main" w="14288">
            <a:solidFill>
              <a:srgbClr val="486A76"/>
            </a:solidFill>
            <a:prstDash val="solid"/>
            <a:tailEnd type="arrow" w="sm" len="sm"/>
          </a:ln>
        </p:spPr>
      </p:cxnSp>
      <p:cxnSp>
        <p:nvCxnSpPr>
          <p:cNvPr id="67" name=""/>
          <p:cNvCxnSpPr>
            <a:stCxn xmlns:a="http://schemas.openxmlformats.org/drawingml/2006/main" id="18" idx="1"/>
            <a:endCxn xmlns:a="http://schemas.openxmlformats.org/drawingml/2006/main" id="16" idx="3"/>
          </p:cNvCxnSpPr>
          <p:nvPr/>
        </p:nvCxnSpPr>
        <p:spPr>
          <a:xfrm xmlns:a="http://schemas.openxmlformats.org/drawingml/2006/main" flipH="1">
            <a:off x="7458075" y="4095750"/>
            <a:ext cx="847725" cy="1076325"/>
          </a:xfrm>
          <a:prstGeom xmlns:a="http://schemas.openxmlformats.org/drawingml/2006/main" prst="bentConnector3">
            <a:avLst>
              <a:gd name="adj1" fmla="val 50000"/>
            </a:avLst>
          </a:prstGeom>
          <a:ln xmlns:a="http://schemas.openxmlformats.org/drawingml/2006/main" w="14288">
            <a:solidFill>
              <a:srgbClr val="486A76"/>
            </a:solidFill>
            <a:prstDash val="solid"/>
            <a:tailEnd type="arrow" w="sm" len="sm"/>
          </a:ln>
        </p:spPr>
      </p:cxnSp>
      <p:cxnSp>
        <p:nvCxnSpPr>
          <p:cNvPr id="68" name=""/>
          <p:cNvCxnSpPr>
            <a:stCxn xmlns:a="http://schemas.openxmlformats.org/drawingml/2006/main" id="16" idx="1"/>
            <a:endCxn xmlns:a="http://schemas.openxmlformats.org/drawingml/2006/main" id="12" idx="2"/>
          </p:cNvCxnSpPr>
          <p:nvPr/>
        </p:nvCxnSpPr>
        <p:spPr>
          <a:xfrm xmlns:a="http://schemas.openxmlformats.org/drawingml/2006/main" flipH="1" flipV="1">
            <a:off x="3390900" y="3438525"/>
            <a:ext cx="1800225" cy="1733550"/>
          </a:xfrm>
          <a:prstGeom xmlns:a="http://schemas.openxmlformats.org/drawingml/2006/main" prst="bentConnector2">
            <a:avLst/>
          </a:prstGeom>
          <a:ln xmlns:a="http://schemas.openxmlformats.org/drawingml/2006/main" w="14288">
            <a:solidFill>
              <a:srgbClr val="3D8DFF"/>
            </a:solidFill>
            <a:prstDash val="solid"/>
            <a:tailEnd type="arrow" w="sm" len="sm"/>
          </a:ln>
        </p:spPr>
      </p:cxnSp>
      <p:cxnSp>
        <p:nvCxnSpPr>
          <p:cNvPr id="69" name=""/>
          <p:cNvCxnSpPr>
            <a:stCxn xmlns:a="http://schemas.openxmlformats.org/drawingml/2006/main" id="15" idx="3"/>
            <a:endCxn xmlns:a="http://schemas.openxmlformats.org/drawingml/2006/main" id="19" idx="1"/>
          </p:cNvCxnSpPr>
          <p:nvPr/>
        </p:nvCxnSpPr>
        <p:spPr>
          <a:xfrm xmlns:a="http://schemas.openxmlformats.org/drawingml/2006/main">
            <a:off x="7458075" y="3933825"/>
            <a:ext cx="847725" cy="1238250"/>
          </a:xfrm>
          <a:prstGeom xmlns:a="http://schemas.openxmlformats.org/drawingml/2006/main" prst="bentConnector3">
            <a:avLst>
              <a:gd name="adj1" fmla="val 50000"/>
            </a:avLst>
          </a:prstGeom>
          <a:ln xmlns:a="http://schemas.openxmlformats.org/drawingml/2006/main" w="14288">
            <a:solidFill>
              <a:srgbClr val="A63E3A"/>
            </a:solidFill>
            <a:prstDash val="solid"/>
            <a:tailEnd type="arrow" w="sm" len="sm"/>
          </a:ln>
        </p:spPr>
      </p:cxnSp>
      <p:cxnSp>
        <p:nvCxnSpPr>
          <p:cNvPr id="70" name=""/>
          <p:cNvCxnSpPr>
            <a:stCxn xmlns:a="http://schemas.openxmlformats.org/drawingml/2006/main" id="19" idx="1"/>
            <a:endCxn xmlns:a="http://schemas.openxmlformats.org/drawingml/2006/main" id="13" idx="2"/>
          </p:cNvCxnSpPr>
          <p:nvPr/>
        </p:nvCxnSpPr>
        <p:spPr>
          <a:xfrm xmlns:a="http://schemas.openxmlformats.org/drawingml/2006/main" flipH="1" flipV="1">
            <a:off x="3390900" y="4724400"/>
            <a:ext cx="4914900" cy="447675"/>
          </a:xfrm>
          <a:prstGeom xmlns:a="http://schemas.openxmlformats.org/drawingml/2006/main" prst="bentConnector4">
            <a:avLst/>
          </a:prstGeom>
          <a:ln xmlns:a="http://schemas.openxmlformats.org/drawingml/2006/main" w="14288">
            <a:solidFill>
              <a:srgbClr val="A63E3A"/>
            </a:solidFill>
            <a:prstDash val="solid"/>
            <a:tailEnd type="arrow" w="sm" len="sm"/>
          </a:ln>
        </p:spPr>
      </p:cxnSp>
      <p:cxnSp>
        <p:nvCxnSpPr>
          <p:cNvPr id="71" name=""/>
          <p:cNvCxnSpPr>
            <a:stCxn xmlns:a="http://schemas.openxmlformats.org/drawingml/2006/main" id="13" idx="1"/>
            <a:endCxn xmlns:a="http://schemas.openxmlformats.org/drawingml/2006/main" id="11" idx="3"/>
          </p:cNvCxnSpPr>
          <p:nvPr/>
        </p:nvCxnSpPr>
        <p:spPr>
          <a:xfrm xmlns:a="http://schemas.openxmlformats.org/drawingml/2006/main" flipH="1">
            <a:off x="2000250" y="4362450"/>
            <a:ext cx="514350" cy="1114425"/>
          </a:xfrm>
          <a:prstGeom xmlns:a="http://schemas.openxmlformats.org/drawingml/2006/main" prst="bentConnector3">
            <a:avLst>
              <a:gd name="adj1" fmla="val 50000"/>
            </a:avLst>
          </a:prstGeom>
          <a:ln xmlns:a="http://schemas.openxmlformats.org/drawingml/2006/main" w="14288">
            <a:solidFill>
              <a:srgbClr val="A63E3A"/>
            </a:solidFill>
            <a:prstDash val="solid"/>
            <a:tailEnd type="arrow" w="sm" len="sm"/>
          </a:ln>
        </p:spPr>
      </p:cxnSp>
      <p:cxnSp>
        <p:nvCxnSpPr>
          <p:cNvPr id="72" name=""/>
          <p:cNvCxnSpPr>
            <a:stCxn xmlns:a="http://schemas.openxmlformats.org/drawingml/2006/main" id="20" idx="0"/>
            <a:endCxn xmlns:a="http://schemas.openxmlformats.org/drawingml/2006/main" id="14" idx="3"/>
          </p:cNvCxnSpPr>
          <p:nvPr/>
        </p:nvCxnSpPr>
        <p:spPr>
          <a:xfrm xmlns:a="http://schemas.openxmlformats.org/drawingml/2006/main" flipH="1" flipV="1">
            <a:off x="7458075" y="2762250"/>
            <a:ext cx="3443288" cy="2962275"/>
          </a:xfrm>
          <a:prstGeom xmlns:a="http://schemas.openxmlformats.org/drawingml/2006/main" prst="bentConnector3">
            <a:avLst>
              <a:gd name="adj1" fmla="val 0"/>
            </a:avLst>
          </a:prstGeom>
          <a:ln xmlns:a="http://schemas.openxmlformats.org/drawingml/2006/main" w="14288">
            <a:solidFill>
              <a:srgbClr val="486A76"/>
            </a:solidFill>
            <a:prstDash val="dash"/>
            <a:tailEnd type="arrow" w="sm" len="sm"/>
          </a:ln>
        </p:spPr>
      </p:cxnSp>
      <p:cxnSp>
        <p:nvCxnSpPr>
          <p:cNvPr id="73" name=""/>
          <p:cNvCxnSpPr>
            <a:stCxn xmlns:a="http://schemas.openxmlformats.org/drawingml/2006/main" id="19" idx="2"/>
            <a:endCxn xmlns:a="http://schemas.openxmlformats.org/drawingml/2006/main" id="20" idx="0"/>
          </p:cNvCxnSpPr>
          <p:nvPr/>
        </p:nvCxnSpPr>
        <p:spPr>
          <a:xfrm xmlns:a="http://schemas.openxmlformats.org/drawingml/2006/main">
            <a:off x="9591675" y="5505450"/>
            <a:ext cx="1309688" cy="219075"/>
          </a:xfrm>
          <a:prstGeom xmlns:a="http://schemas.openxmlformats.org/drawingml/2006/main" prst="bentConnector4">
            <a:avLst>
              <a:gd name="adj1" fmla="val 0"/>
              <a:gd name="adj2" fmla="val 47826"/>
            </a:avLst>
          </a:prstGeom>
          <a:ln xmlns:a="http://schemas.openxmlformats.org/drawingml/2006/main" w="14288">
            <a:solidFill>
              <a:srgbClr val="A63E3A"/>
            </a:solidFill>
            <a:prstDash val="dash"/>
            <a:tailEnd type="arrow" w="sm" len="sm"/>
          </a:ln>
        </p:spPr>
      </p:cxnSp>
      <p:sp>
        <p:nvSpPr>
          <p:cNvPr id="35" name="label-sip">
            <a:extLst xmlns:a="http://schemas.openxmlformats.org/drawingml/2006/main">
              <a:ext uri="{FF2B5EF4-FFF2-40B4-BE49-F238E27FC236}">
                <a16:creationId xmlns:a16="http://schemas.microsoft.com/office/drawing/2014/main" id="{086E5EAC-61C2-457F-B718-0A294E9CCFA9}"/>
              </a:ext>
            </a:extLst>
          </p:cNvPr>
          <p:cNvSpPr>
            <a:spLocks xmlns:a="http://schemas.openxmlformats.org/drawingml/2006/main" noGrp="1"/>
          </p:cNvSpPr>
          <p:nvPr/>
        </p:nvSpPr>
        <p:spPr>
          <a:xfrm xmlns:a="http://schemas.openxmlformats.org/drawingml/2006/main">
            <a:off x="3048000" y="3648075"/>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ctr">
              <a:defRPr sz="825" b="1">
                <a:solidFill>
                  <a:srgbClr val="3D8DFF"/>
                </a:solidFill>
                <a:latin typeface="Helvetica Neue"/>
                <a:ea typeface="Helvetica Neue"/>
                <a:cs typeface="Helvetica Neue"/>
              </a:defRPr>
            </a:pPr>
            <a:r>
              <a:rPr sz="825" b="1">
                <a:solidFill>
                  <a:srgbClr val="3D8DFF"/>
                </a:solidFill>
                <a:latin typeface="Helvetica Neue"/>
                <a:ea typeface="Helvetica Neue"/>
                <a:cs typeface="Helvetica Neue"/>
              </a:rPr>
              <a:t>SIP AUDIO</a:t>
            </a:r>
          </a:p>
        </p:txBody>
      </p:sp>
      <p:sp>
        <p:nvSpPr>
          <p:cNvPr id="36" name="label-tools">
            <a:extLst xmlns:a="http://schemas.openxmlformats.org/drawingml/2006/main">
              <a:ext uri="{FF2B5EF4-FFF2-40B4-BE49-F238E27FC236}">
                <a16:creationId xmlns:a16="http://schemas.microsoft.com/office/drawing/2014/main" id="{518815CD-A907-4609-A296-1F79AFA7AE70}"/>
              </a:ext>
            </a:extLst>
          </p:cNvPr>
          <p:cNvSpPr>
            <a:spLocks xmlns:a="http://schemas.openxmlformats.org/drawingml/2006/main" noGrp="1"/>
          </p:cNvSpPr>
          <p:nvPr/>
        </p:nvSpPr>
        <p:spPr>
          <a:xfrm xmlns:a="http://schemas.openxmlformats.org/drawingml/2006/main">
            <a:off x="4381500" y="4038600"/>
            <a:ext cx="89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ctr">
              <a:defRPr sz="825" b="1">
                <a:solidFill>
                  <a:srgbClr val="3D8DFF"/>
                </a:solidFill>
                <a:latin typeface="Helvetica Neue"/>
                <a:ea typeface="Helvetica Neue"/>
                <a:cs typeface="Helvetica Neue"/>
              </a:defRPr>
            </a:pPr>
            <a:r>
              <a:rPr sz="825" b="1">
                <a:solidFill>
                  <a:srgbClr val="3D8DFF"/>
                </a:solidFill>
                <a:latin typeface="Helvetica Neue"/>
                <a:ea typeface="Helvetica Neue"/>
                <a:cs typeface="Helvetica Neue"/>
              </a:rPr>
              <a:t>TOOLS</a:t>
            </a:r>
          </a:p>
        </p:txBody>
      </p:sp>
      <p:sp>
        <p:nvSpPr>
          <p:cNvPr id="37" name="label-transaction">
            <a:extLst xmlns:a="http://schemas.openxmlformats.org/drawingml/2006/main">
              <a:ext uri="{FF2B5EF4-FFF2-40B4-BE49-F238E27FC236}">
                <a16:creationId xmlns:a16="http://schemas.microsoft.com/office/drawing/2014/main" id="{B30595AC-1126-4D6F-B03A-60EC1BF1B37C}"/>
              </a:ext>
            </a:extLst>
          </p:cNvPr>
          <p:cNvSpPr>
            <a:spLocks xmlns:a="http://schemas.openxmlformats.org/drawingml/2006/main" noGrp="1"/>
          </p:cNvSpPr>
          <p:nvPr/>
        </p:nvSpPr>
        <p:spPr>
          <a:xfrm xmlns:a="http://schemas.openxmlformats.org/drawingml/2006/main">
            <a:off x="7467600" y="314325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ctr">
              <a:defRPr sz="825" b="1">
                <a:solidFill>
                  <a:srgbClr val="486A76"/>
                </a:solidFill>
                <a:latin typeface="Helvetica Neue"/>
                <a:ea typeface="Helvetica Neue"/>
                <a:cs typeface="Helvetica Neue"/>
              </a:defRPr>
            </a:pPr>
            <a:r>
              <a:rPr sz="825" b="1">
                <a:solidFill>
                  <a:srgbClr val="486A76"/>
                </a:solidFill>
                <a:latin typeface="Helvetica Neue"/>
                <a:ea typeface="Helvetica Neue"/>
                <a:cs typeface="Helvetica Neue"/>
              </a:rPr>
              <a:t>TRANSACTION</a:t>
            </a:r>
          </a:p>
        </p:txBody>
      </p:sp>
      <p:sp>
        <p:nvSpPr>
          <p:cNvPr id="38" name="label-refer">
            <a:extLst xmlns:a="http://schemas.openxmlformats.org/drawingml/2006/main">
              <a:ext uri="{FF2B5EF4-FFF2-40B4-BE49-F238E27FC236}">
                <a16:creationId xmlns:a16="http://schemas.microsoft.com/office/drawing/2014/main" id="{4E6C4D08-1AA6-48D3-BB29-4FE8F9003B8C}"/>
              </a:ext>
            </a:extLst>
          </p:cNvPr>
          <p:cNvSpPr>
            <a:spLocks xmlns:a="http://schemas.openxmlformats.org/drawingml/2006/main" noGrp="1"/>
          </p:cNvSpPr>
          <p:nvPr/>
        </p:nvSpPr>
        <p:spPr>
          <a:xfrm xmlns:a="http://schemas.openxmlformats.org/drawingml/2006/main">
            <a:off x="4095750" y="50101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ctr">
              <a:defRPr sz="825" b="1">
                <a:solidFill>
                  <a:srgbClr val="A63E3A"/>
                </a:solidFill>
                <a:latin typeface="Helvetica Neue"/>
                <a:ea typeface="Helvetica Neue"/>
                <a:cs typeface="Helvetica Neue"/>
              </a:defRPr>
            </a:pPr>
            <a:r>
              <a:rPr sz="825" b="1">
                <a:solidFill>
                  <a:srgbClr val="A63E3A"/>
                </a:solidFill>
                <a:latin typeface="Helvetica Neue"/>
                <a:ea typeface="Helvetica Neue"/>
                <a:cs typeface="Helvetica Neue"/>
              </a:rPr>
              <a:t>SIP REFER</a:t>
            </a:r>
          </a:p>
        </p:txBody>
      </p:sp>
      <p:sp>
        <p:nvSpPr>
          <p:cNvPr id="39" name="architecture-rule">
            <a:extLst xmlns:a="http://schemas.openxmlformats.org/drawingml/2006/main">
              <a:ext uri="{FF2B5EF4-FFF2-40B4-BE49-F238E27FC236}">
                <a16:creationId xmlns:a16="http://schemas.microsoft.com/office/drawing/2014/main" id="{A40F93CE-69C9-4BC4-9B53-B44D0AB6C626}"/>
              </a:ext>
            </a:extLst>
          </p:cNvPr>
          <p:cNvSpPr>
            <a:spLocks xmlns:a="http://schemas.openxmlformats.org/drawingml/2006/main" noGrp="1"/>
          </p:cNvSpPr>
          <p:nvPr/>
        </p:nvSpPr>
        <p:spPr>
          <a:xfrm xmlns:a="http://schemas.openxmlformats.org/drawingml/2006/main">
            <a:off x="495300" y="6381750"/>
            <a:ext cx="11201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defRPr sz="1125" b="1">
                <a:solidFill>
                  <a:srgbClr val="B76E31"/>
                </a:solidFill>
                <a:latin typeface="Helvetica Neue"/>
                <a:ea typeface="Helvetica Neue"/>
                <a:cs typeface="Helvetica Neue"/>
              </a:defRPr>
            </a:pPr>
            <a:r>
              <a:rPr sz="1125" b="1">
                <a:solidFill>
                  <a:srgbClr val="B76E31"/>
                </a:solidFill>
                <a:latin typeface="Helvetica Neue"/>
                <a:ea typeface="Helvetica Neue"/>
                <a:cs typeface="Helvetica Neue"/>
              </a:rPr>
              <a:t>AUTHORITY RULE  The model never writes the database. Every commitment is validated by the server.</a:t>
            </a:r>
          </a:p>
        </p:txBody>
      </p:sp>
    </p:spTree>
    <p:extLst>
      <p:ext uri="{BB962C8B-B14F-4D97-AF65-F5344CB8AC3E}">
        <p14:creationId xmlns:p14="http://schemas.microsoft.com/office/powerpoint/2010/main" val="4536079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930ED219-6E7B-46AD-8E1A-F87780C223E7}"/>
              </a:ext>
            </a:extLst>
          </p:cNvPr>
          <p:cNvSpPr>
            <a:spLocks xmlns:a="http://schemas.openxmlformats.org/drawingml/2006/main" noGrp="1"/>
          </p:cNvSpPr>
          <p:nvPr/>
        </p:nvSpPr>
        <p:spPr>
          <a:xfrm xmlns:a="http://schemas.openxmlformats.org/drawingml/2006/main">
            <a:off x="495300" y="323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B76E31"/>
                </a:solidFill>
                <a:latin typeface="Helvetica Neue"/>
                <a:ea typeface="Helvetica Neue"/>
                <a:cs typeface="Helvetica Neue"/>
              </a:defRPr>
            </a:pPr>
            <a:r>
              <a:rPr sz="1125" b="1">
                <a:solidFill>
                  <a:srgbClr val="B76E31"/>
                </a:solidFill>
                <a:latin typeface="Helvetica Neue"/>
                <a:ea typeface="Helvetica Neue"/>
                <a:cs typeface="Helvetica Neue"/>
              </a:rPr>
              <a:t>LIVE PROOF</a:t>
            </a:r>
          </a:p>
        </p:txBody>
      </p:sp>
      <p:sp>
        <p:nvSpPr>
          <p:cNvPr id="2" name="slide-number">
            <a:extLst xmlns:a="http://schemas.openxmlformats.org/drawingml/2006/main">
              <a:ext uri="{FF2B5EF4-FFF2-40B4-BE49-F238E27FC236}">
                <a16:creationId xmlns:a16="http://schemas.microsoft.com/office/drawing/2014/main" id="{0D8C74C6-8CA8-4766-802D-C009A276E69F}"/>
              </a:ext>
            </a:extLst>
          </p:cNvPr>
          <p:cNvSpPr>
            <a:spLocks xmlns:a="http://schemas.openxmlformats.org/drawingml/2006/main" noGrp="1"/>
          </p:cNvSpPr>
          <p:nvPr/>
        </p:nvSpPr>
        <p:spPr>
          <a:xfrm xmlns:a="http://schemas.openxmlformats.org/drawingml/2006/main">
            <a:off x="11049000" y="323850"/>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125" b="1">
                <a:solidFill>
                  <a:srgbClr val="486A76"/>
                </a:solidFill>
                <a:latin typeface="Helvetica Neue"/>
                <a:ea typeface="Helvetica Neue"/>
                <a:cs typeface="Helvetica Neue"/>
              </a:defRPr>
            </a:pPr>
            <a:r>
              <a:rPr sz="1125" b="1">
                <a:solidFill>
                  <a:srgbClr val="486A76"/>
                </a:solidFill>
                <a:latin typeface="Helvetica Neue"/>
                <a:ea typeface="Helvetica Neue"/>
                <a:cs typeface="Helvetica Neue"/>
              </a:rPr>
              <a:t>06</a:t>
            </a:r>
          </a:p>
        </p:txBody>
      </p:sp>
      <p:sp>
        <p:nvSpPr>
          <p:cNvPr id="3" name="header-rule">
            <a:extLst xmlns:a="http://schemas.openxmlformats.org/drawingml/2006/main">
              <a:ext uri="{FF2B5EF4-FFF2-40B4-BE49-F238E27FC236}">
                <a16:creationId xmlns:a16="http://schemas.microsoft.com/office/drawing/2014/main" id="{83CF3385-80F7-4821-AD67-AE3173A7721E}"/>
              </a:ext>
            </a:extLst>
          </p:cNvPr>
          <p:cNvSpPr>
            <a:spLocks xmlns:a="http://schemas.openxmlformats.org/drawingml/2006/main" noGrp="1"/>
          </p:cNvSpPr>
          <p:nvPr/>
        </p:nvSpPr>
        <p:spPr>
          <a:xfrm xmlns:a="http://schemas.openxmlformats.org/drawingml/2006/main">
            <a:off x="495300" y="714375"/>
            <a:ext cx="11201400" cy="0"/>
          </a:xfrm>
          <a:prstGeom xmlns:a="http://schemas.openxmlformats.org/drawingml/2006/main" prst="line">
            <a:avLst/>
          </a:prstGeom>
          <a:noFill xmlns:a="http://schemas.openxmlformats.org/drawingml/2006/main"/>
          <a:ln xmlns:a="http://schemas.openxmlformats.org/drawingml/2006/main" w="9525">
            <a:solidFill>
              <a:srgbClr val="C8C9BF"/>
            </a:solidFill>
            <a:prstDash val="solid"/>
          </a:ln>
        </p:spPr>
      </p:sp>
      <p:sp>
        <p:nvSpPr>
          <p:cNvPr id="4" name="headline">
            <a:extLst xmlns:a="http://schemas.openxmlformats.org/drawingml/2006/main">
              <a:ext uri="{FF2B5EF4-FFF2-40B4-BE49-F238E27FC236}">
                <a16:creationId xmlns:a16="http://schemas.microsoft.com/office/drawing/2014/main" id="{CB4B7467-BF5C-4F09-B15A-F439D531BF72}"/>
              </a:ext>
            </a:extLst>
          </p:cNvPr>
          <p:cNvSpPr>
            <a:spLocks xmlns:a="http://schemas.openxmlformats.org/drawingml/2006/main" noGrp="1"/>
          </p:cNvSpPr>
          <p:nvPr/>
        </p:nvSpPr>
        <p:spPr>
          <a:xfrm xmlns:a="http://schemas.openxmlformats.org/drawingml/2006/main">
            <a:off x="495300" y="1028700"/>
            <a:ext cx="1057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15222A"/>
                </a:solidFill>
                <a:latin typeface="Helvetica Neue"/>
                <a:ea typeface="Helvetica Neue"/>
                <a:cs typeface="Helvetica Neue"/>
              </a:defRPr>
            </a:pPr>
            <a:r>
              <a:rPr sz="3600" b="1">
                <a:solidFill>
                  <a:srgbClr val="15222A"/>
                </a:solidFill>
                <a:latin typeface="Helvetica Neue"/>
                <a:ea typeface="Helvetica Neue"/>
                <a:cs typeface="Helvetica Neue"/>
              </a:rPr>
              <a:t>Now we prove the ugly cases live.</a:t>
            </a:r>
          </a:p>
        </p:txBody>
      </p:sp>
      <p:sp>
        <p:nvSpPr>
          <p:cNvPr id="5" name="demo-box-0">
            <a:extLst xmlns:a="http://schemas.openxmlformats.org/drawingml/2006/main">
              <a:ext uri="{FF2B5EF4-FFF2-40B4-BE49-F238E27FC236}">
                <a16:creationId xmlns:a16="http://schemas.microsoft.com/office/drawing/2014/main" id="{BC0A757C-08C3-4434-88D9-BC1F3AE51766}"/>
              </a:ext>
            </a:extLst>
          </p:cNvPr>
          <p:cNvSpPr>
            <a:spLocks xmlns:a="http://schemas.openxmlformats.org/drawingml/2006/main" noGrp="1"/>
          </p:cNvSpPr>
          <p:nvPr/>
        </p:nvSpPr>
        <p:spPr>
          <a:xfrm xmlns:a="http://schemas.openxmlformats.org/drawingml/2006/main">
            <a:off x="495300" y="2809875"/>
            <a:ext cx="3238500" cy="2457450"/>
          </a:xfrm>
          <a:prstGeom xmlns:a="http://schemas.openxmlformats.org/drawingml/2006/main" prst="rect">
            <a:avLst/>
          </a:prstGeom>
          <a:solidFill xmlns:a="http://schemas.openxmlformats.org/drawingml/2006/main">
            <a:srgbClr val="EAF5FB"/>
          </a:solidFill>
          <a:ln xmlns:a="http://schemas.openxmlformats.org/drawingml/2006/main" w="9525">
            <a:solidFill>
              <a:srgbClr val="C8C9BF"/>
            </a:solidFill>
            <a:prstDash val="solid"/>
          </a:ln>
        </p:spPr>
      </p:sp>
      <p:sp>
        <p:nvSpPr>
          <p:cNvPr id="6" name="demo-number-0">
            <a:extLst xmlns:a="http://schemas.openxmlformats.org/drawingml/2006/main">
              <a:ext uri="{FF2B5EF4-FFF2-40B4-BE49-F238E27FC236}">
                <a16:creationId xmlns:a16="http://schemas.microsoft.com/office/drawing/2014/main" id="{D1BBFDC5-02D2-4E53-BBE9-1E469B43C60F}"/>
              </a:ext>
            </a:extLst>
          </p:cNvPr>
          <p:cNvSpPr>
            <a:spLocks xmlns:a="http://schemas.openxmlformats.org/drawingml/2006/main" noGrp="1"/>
          </p:cNvSpPr>
          <p:nvPr/>
        </p:nvSpPr>
        <p:spPr>
          <a:xfrm xmlns:a="http://schemas.openxmlformats.org/drawingml/2006/main">
            <a:off x="723900" y="3086100"/>
            <a:ext cx="76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01</a:t>
            </a:r>
          </a:p>
        </p:txBody>
      </p:sp>
      <p:sp>
        <p:nvSpPr>
          <p:cNvPr id="7" name="demo-heading-0">
            <a:extLst xmlns:a="http://schemas.openxmlformats.org/drawingml/2006/main">
              <a:ext uri="{FF2B5EF4-FFF2-40B4-BE49-F238E27FC236}">
                <a16:creationId xmlns:a16="http://schemas.microsoft.com/office/drawing/2014/main" id="{ED30286E-9E20-4B28-A2DB-8A8934C46573}"/>
              </a:ext>
            </a:extLst>
          </p:cNvPr>
          <p:cNvSpPr>
            <a:spLocks xmlns:a="http://schemas.openxmlformats.org/drawingml/2006/main" noGrp="1"/>
          </p:cNvSpPr>
          <p:nvPr/>
        </p:nvSpPr>
        <p:spPr>
          <a:xfrm xmlns:a="http://schemas.openxmlformats.org/drawingml/2006/main">
            <a:off x="723900" y="360045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15222A"/>
                </a:solidFill>
                <a:latin typeface="Helvetica Neue"/>
                <a:ea typeface="Helvetica Neue"/>
                <a:cs typeface="Helvetica Neue"/>
              </a:defRPr>
            </a:pPr>
            <a:r>
              <a:rPr sz="2175" b="1">
                <a:solidFill>
                  <a:srgbClr val="15222A"/>
                </a:solidFill>
                <a:latin typeface="Helvetica Neue"/>
                <a:ea typeface="Helvetica Neue"/>
                <a:cs typeface="Helvetica Neue"/>
              </a:rPr>
              <a:t>Two carrier calls</a:t>
            </a:r>
          </a:p>
        </p:txBody>
      </p:sp>
      <p:sp>
        <p:nvSpPr>
          <p:cNvPr id="8" name="demo-body-0">
            <a:extLst xmlns:a="http://schemas.openxmlformats.org/drawingml/2006/main">
              <a:ext uri="{FF2B5EF4-FFF2-40B4-BE49-F238E27FC236}">
                <a16:creationId xmlns:a16="http://schemas.microsoft.com/office/drawing/2014/main" id="{02B59D9D-F009-4F84-9B88-2C830AF790EF}"/>
              </a:ext>
            </a:extLst>
          </p:cNvPr>
          <p:cNvSpPr>
            <a:spLocks xmlns:a="http://schemas.openxmlformats.org/drawingml/2006/main" noGrp="1"/>
          </p:cNvSpPr>
          <p:nvPr/>
        </p:nvSpPr>
        <p:spPr>
          <a:xfrm xmlns:a="http://schemas.openxmlformats.org/drawingml/2006/main">
            <a:off x="723900" y="4400550"/>
            <a:ext cx="2705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486A76"/>
                </a:solidFill>
                <a:latin typeface="Helvetica Neue"/>
                <a:ea typeface="Helvetica Neue"/>
                <a:cs typeface="Helvetica Neue"/>
              </a:defRPr>
            </a:pPr>
            <a:r>
              <a:rPr sz="1350" b="0">
                <a:solidFill>
                  <a:srgbClr val="486A76"/>
                </a:solidFill>
                <a:latin typeface="Helvetica Neue"/>
                <a:ea typeface="Helvetica Neue"/>
                <a:cs typeface="Helvetica Neue"/>
              </a:rPr>
              <a:t>Tango requests and compares live quotes under one mandate.</a:t>
            </a:r>
          </a:p>
        </p:txBody>
      </p:sp>
      <p:sp>
        <p:nvSpPr>
          <p:cNvPr id="9" name="demo-box-1">
            <a:extLst xmlns:a="http://schemas.openxmlformats.org/drawingml/2006/main">
              <a:ext uri="{FF2B5EF4-FFF2-40B4-BE49-F238E27FC236}">
                <a16:creationId xmlns:a16="http://schemas.microsoft.com/office/drawing/2014/main" id="{A8A34121-0C67-46DD-8BB3-738A06FDE3D5}"/>
              </a:ext>
            </a:extLst>
          </p:cNvPr>
          <p:cNvSpPr>
            <a:spLocks xmlns:a="http://schemas.openxmlformats.org/drawingml/2006/main" noGrp="1"/>
          </p:cNvSpPr>
          <p:nvPr/>
        </p:nvSpPr>
        <p:spPr>
          <a:xfrm xmlns:a="http://schemas.openxmlformats.org/drawingml/2006/main">
            <a:off x="4229100" y="2809875"/>
            <a:ext cx="3238500" cy="2457450"/>
          </a:xfrm>
          <a:prstGeom xmlns:a="http://schemas.openxmlformats.org/drawingml/2006/main" prst="rect">
            <a:avLst/>
          </a:prstGeom>
          <a:solidFill xmlns:a="http://schemas.openxmlformats.org/drawingml/2006/main">
            <a:srgbClr val="FFF8F0"/>
          </a:solidFill>
          <a:ln xmlns:a="http://schemas.openxmlformats.org/drawingml/2006/main" w="9525">
            <a:solidFill>
              <a:srgbClr val="C8C9BF"/>
            </a:solidFill>
            <a:prstDash val="solid"/>
          </a:ln>
        </p:spPr>
      </p:sp>
      <p:sp>
        <p:nvSpPr>
          <p:cNvPr id="10" name="demo-number-1">
            <a:extLst xmlns:a="http://schemas.openxmlformats.org/drawingml/2006/main">
              <a:ext uri="{FF2B5EF4-FFF2-40B4-BE49-F238E27FC236}">
                <a16:creationId xmlns:a16="http://schemas.microsoft.com/office/drawing/2014/main" id="{9F71D66E-3118-449B-9E95-1F0479F01006}"/>
              </a:ext>
            </a:extLst>
          </p:cNvPr>
          <p:cNvSpPr>
            <a:spLocks xmlns:a="http://schemas.openxmlformats.org/drawingml/2006/main" noGrp="1"/>
          </p:cNvSpPr>
          <p:nvPr/>
        </p:nvSpPr>
        <p:spPr>
          <a:xfrm xmlns:a="http://schemas.openxmlformats.org/drawingml/2006/main">
            <a:off x="4457700" y="3086100"/>
            <a:ext cx="76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B76E31"/>
                </a:solidFill>
                <a:latin typeface="Helvetica Neue"/>
                <a:ea typeface="Helvetica Neue"/>
                <a:cs typeface="Helvetica Neue"/>
              </a:defRPr>
            </a:pPr>
            <a:r>
              <a:rPr sz="1800" b="1">
                <a:solidFill>
                  <a:srgbClr val="B76E31"/>
                </a:solidFill>
                <a:latin typeface="Helvetica Neue"/>
                <a:ea typeface="Helvetica Neue"/>
                <a:cs typeface="Helvetica Neue"/>
              </a:rPr>
              <a:t>02</a:t>
            </a:r>
          </a:p>
        </p:txBody>
      </p:sp>
      <p:sp>
        <p:nvSpPr>
          <p:cNvPr id="11" name="demo-heading-1">
            <a:extLst xmlns:a="http://schemas.openxmlformats.org/drawingml/2006/main">
              <a:ext uri="{FF2B5EF4-FFF2-40B4-BE49-F238E27FC236}">
                <a16:creationId xmlns:a16="http://schemas.microsoft.com/office/drawing/2014/main" id="{028AF04D-26D0-4144-AF71-D51C505EA87E}"/>
              </a:ext>
            </a:extLst>
          </p:cNvPr>
          <p:cNvSpPr>
            <a:spLocks xmlns:a="http://schemas.openxmlformats.org/drawingml/2006/main" noGrp="1"/>
          </p:cNvSpPr>
          <p:nvPr/>
        </p:nvSpPr>
        <p:spPr>
          <a:xfrm xmlns:a="http://schemas.openxmlformats.org/drawingml/2006/main">
            <a:off x="4457700" y="360045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15222A"/>
                </a:solidFill>
                <a:latin typeface="Helvetica Neue"/>
                <a:ea typeface="Helvetica Neue"/>
                <a:cs typeface="Helvetica Neue"/>
              </a:defRPr>
            </a:pPr>
            <a:r>
              <a:rPr sz="2175" b="1">
                <a:solidFill>
                  <a:srgbClr val="15222A"/>
                </a:solidFill>
                <a:latin typeface="Helvetica Neue"/>
                <a:ea typeface="Helvetica Neue"/>
                <a:cs typeface="Helvetica Neue"/>
              </a:rPr>
              <a:t>A change arrives</a:t>
            </a:r>
          </a:p>
        </p:txBody>
      </p:sp>
      <p:sp>
        <p:nvSpPr>
          <p:cNvPr id="12" name="demo-body-1">
            <a:extLst xmlns:a="http://schemas.openxmlformats.org/drawingml/2006/main">
              <a:ext uri="{FF2B5EF4-FFF2-40B4-BE49-F238E27FC236}">
                <a16:creationId xmlns:a16="http://schemas.microsoft.com/office/drawing/2014/main" id="{254A2C6E-E44F-4DD1-8793-E66E9F0EDE39}"/>
              </a:ext>
            </a:extLst>
          </p:cNvPr>
          <p:cNvSpPr>
            <a:spLocks xmlns:a="http://schemas.openxmlformats.org/drawingml/2006/main" noGrp="1"/>
          </p:cNvSpPr>
          <p:nvPr/>
        </p:nvSpPr>
        <p:spPr>
          <a:xfrm xmlns:a="http://schemas.openxmlformats.org/drawingml/2006/main">
            <a:off x="4457700" y="4400550"/>
            <a:ext cx="2705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080"/>
          </a:bodyPr>
          <a:lstStyle xmlns:a="http://schemas.openxmlformats.org/drawingml/2006/main"/>
          <a:p xmlns:a="http://schemas.openxmlformats.org/drawingml/2006/main">
            <a:pPr algn="l">
              <a:defRPr sz="1350" b="0">
                <a:solidFill>
                  <a:srgbClr val="486A76"/>
                </a:solidFill>
                <a:latin typeface="Helvetica Neue"/>
                <a:ea typeface="Helvetica Neue"/>
                <a:cs typeface="Helvetica Neue"/>
              </a:defRPr>
            </a:pPr>
            <a:r>
              <a:rPr sz="1350" b="0">
                <a:solidFill>
                  <a:srgbClr val="486A76"/>
                </a:solidFill>
                <a:latin typeface="Helvetica Neue"/>
                <a:ea typeface="Helvetica Neue"/>
                <a:cs typeface="Helvetica Neue"/>
              </a:rPr>
              <a:t>A carrier calls in with a pickup delay; Tango evaluates the window and updates the operation only when allowed.</a:t>
            </a:r>
          </a:p>
        </p:txBody>
      </p:sp>
      <p:sp>
        <p:nvSpPr>
          <p:cNvPr id="13" name="demo-box-2">
            <a:extLst xmlns:a="http://schemas.openxmlformats.org/drawingml/2006/main">
              <a:ext uri="{FF2B5EF4-FFF2-40B4-BE49-F238E27FC236}">
                <a16:creationId xmlns:a16="http://schemas.microsoft.com/office/drawing/2014/main" id="{A0021F5E-7BA4-4DA3-9CA1-09862ABE5C5C}"/>
              </a:ext>
            </a:extLst>
          </p:cNvPr>
          <p:cNvSpPr>
            <a:spLocks xmlns:a="http://schemas.openxmlformats.org/drawingml/2006/main" noGrp="1"/>
          </p:cNvSpPr>
          <p:nvPr/>
        </p:nvSpPr>
        <p:spPr>
          <a:xfrm xmlns:a="http://schemas.openxmlformats.org/drawingml/2006/main">
            <a:off x="7962900" y="2809875"/>
            <a:ext cx="3238500" cy="2457450"/>
          </a:xfrm>
          <a:prstGeom xmlns:a="http://schemas.openxmlformats.org/drawingml/2006/main" prst="rect">
            <a:avLst/>
          </a:prstGeom>
          <a:solidFill xmlns:a="http://schemas.openxmlformats.org/drawingml/2006/main">
            <a:srgbClr val="F9ECEA"/>
          </a:solidFill>
          <a:ln xmlns:a="http://schemas.openxmlformats.org/drawingml/2006/main" w="9525">
            <a:solidFill>
              <a:srgbClr val="C8C9BF"/>
            </a:solidFill>
            <a:prstDash val="solid"/>
          </a:ln>
        </p:spPr>
      </p:sp>
      <p:sp>
        <p:nvSpPr>
          <p:cNvPr id="14" name="demo-number-2">
            <a:extLst xmlns:a="http://schemas.openxmlformats.org/drawingml/2006/main">
              <a:ext uri="{FF2B5EF4-FFF2-40B4-BE49-F238E27FC236}">
                <a16:creationId xmlns:a16="http://schemas.microsoft.com/office/drawing/2014/main" id="{1083EB65-4014-43DF-B744-FFCE3FD67DF6}"/>
              </a:ext>
            </a:extLst>
          </p:cNvPr>
          <p:cNvSpPr>
            <a:spLocks xmlns:a="http://schemas.openxmlformats.org/drawingml/2006/main" noGrp="1"/>
          </p:cNvSpPr>
          <p:nvPr/>
        </p:nvSpPr>
        <p:spPr>
          <a:xfrm xmlns:a="http://schemas.openxmlformats.org/drawingml/2006/main">
            <a:off x="8191500" y="3086100"/>
            <a:ext cx="76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A63E3A"/>
                </a:solidFill>
                <a:latin typeface="Helvetica Neue"/>
                <a:ea typeface="Helvetica Neue"/>
                <a:cs typeface="Helvetica Neue"/>
              </a:defRPr>
            </a:pPr>
            <a:r>
              <a:rPr sz="1800" b="1">
                <a:solidFill>
                  <a:srgbClr val="A63E3A"/>
                </a:solidFill>
                <a:latin typeface="Helvetica Neue"/>
                <a:ea typeface="Helvetica Neue"/>
                <a:cs typeface="Helvetica Neue"/>
              </a:rPr>
              <a:t>03</a:t>
            </a:r>
          </a:p>
        </p:txBody>
      </p:sp>
      <p:sp>
        <p:nvSpPr>
          <p:cNvPr id="15" name="demo-heading-2">
            <a:extLst xmlns:a="http://schemas.openxmlformats.org/drawingml/2006/main">
              <a:ext uri="{FF2B5EF4-FFF2-40B4-BE49-F238E27FC236}">
                <a16:creationId xmlns:a16="http://schemas.microsoft.com/office/drawing/2014/main" id="{1D2914F9-B9A5-444D-8917-2ECE0647401B}"/>
              </a:ext>
            </a:extLst>
          </p:cNvPr>
          <p:cNvSpPr>
            <a:spLocks xmlns:a="http://schemas.openxmlformats.org/drawingml/2006/main" noGrp="1"/>
          </p:cNvSpPr>
          <p:nvPr/>
        </p:nvSpPr>
        <p:spPr>
          <a:xfrm xmlns:a="http://schemas.openxmlformats.org/drawingml/2006/main">
            <a:off x="8191500" y="360045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287"/>
          </a:bodyPr>
          <a:lstStyle xmlns:a="http://schemas.openxmlformats.org/drawingml/2006/main"/>
          <a:p xmlns:a="http://schemas.openxmlformats.org/drawingml/2006/main">
            <a:pPr algn="l">
              <a:defRPr sz="2175" b="1">
                <a:solidFill>
                  <a:srgbClr val="15222A"/>
                </a:solidFill>
                <a:latin typeface="Helvetica Neue"/>
                <a:ea typeface="Helvetica Neue"/>
                <a:cs typeface="Helvetica Neue"/>
              </a:defRPr>
            </a:pPr>
            <a:r>
              <a:rPr sz="2175" b="1">
                <a:solidFill>
                  <a:srgbClr val="15222A"/>
                </a:solidFill>
                <a:latin typeface="Helvetica Neue"/>
                <a:ea typeface="Helvetica Neue"/>
                <a:cs typeface="Helvetica Neue"/>
              </a:rPr>
              <a:t>The judge pushes outside the mandate</a:t>
            </a:r>
          </a:p>
        </p:txBody>
      </p:sp>
      <p:sp>
        <p:nvSpPr>
          <p:cNvPr id="16" name="demo-body-2">
            <a:extLst xmlns:a="http://schemas.openxmlformats.org/drawingml/2006/main">
              <a:ext uri="{FF2B5EF4-FFF2-40B4-BE49-F238E27FC236}">
                <a16:creationId xmlns:a16="http://schemas.microsoft.com/office/drawing/2014/main" id="{83CAEB68-2365-40B7-AE97-218EEFFC501D}"/>
              </a:ext>
            </a:extLst>
          </p:cNvPr>
          <p:cNvSpPr>
            <a:spLocks xmlns:a="http://schemas.openxmlformats.org/drawingml/2006/main" noGrp="1"/>
          </p:cNvSpPr>
          <p:nvPr/>
        </p:nvSpPr>
        <p:spPr>
          <a:xfrm xmlns:a="http://schemas.openxmlformats.org/drawingml/2006/main">
            <a:off x="8191500" y="4400550"/>
            <a:ext cx="2705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430"/>
          </a:bodyPr>
          <a:lstStyle xmlns:a="http://schemas.openxmlformats.org/drawingml/2006/main"/>
          <a:p xmlns:a="http://schemas.openxmlformats.org/drawingml/2006/main">
            <a:pPr algn="l">
              <a:defRPr sz="1350" b="0">
                <a:solidFill>
                  <a:srgbClr val="486A76"/>
                </a:solidFill>
                <a:latin typeface="Helvetica Neue"/>
                <a:ea typeface="Helvetica Neue"/>
                <a:cs typeface="Helvetica Neue"/>
              </a:defRPr>
            </a:pPr>
            <a:r>
              <a:rPr sz="1350" b="0">
                <a:solidFill>
                  <a:srgbClr val="486A76"/>
                </a:solidFill>
                <a:latin typeface="Helvetica Neue"/>
                <a:ea typeface="Helvetica Neue"/>
                <a:cs typeface="Helvetica Neue"/>
              </a:rPr>
              <a:t>Urgency, sweet talk or a higher price cannot create a commitment. Tango declines or hands the live call to a human.</a:t>
            </a:r>
          </a:p>
        </p:txBody>
      </p:sp>
      <p:sp>
        <p:nvSpPr>
          <p:cNvPr id="17" name="demo-foot">
            <a:extLst xmlns:a="http://schemas.openxmlformats.org/drawingml/2006/main">
              <a:ext uri="{FF2B5EF4-FFF2-40B4-BE49-F238E27FC236}">
                <a16:creationId xmlns:a16="http://schemas.microsoft.com/office/drawing/2014/main" id="{37517F31-5B93-4E19-AE89-FE7125DF60E0}"/>
              </a:ext>
            </a:extLst>
          </p:cNvPr>
          <p:cNvSpPr>
            <a:spLocks xmlns:a="http://schemas.openxmlformats.org/drawingml/2006/main" noGrp="1"/>
          </p:cNvSpPr>
          <p:nvPr/>
        </p:nvSpPr>
        <p:spPr>
          <a:xfrm xmlns:a="http://schemas.openxmlformats.org/drawingml/2006/main">
            <a:off x="495300" y="5695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5222A"/>
                </a:solidFill>
                <a:latin typeface="Helvetica Neue"/>
                <a:ea typeface="Helvetica Neue"/>
                <a:cs typeface="Helvetica Neue"/>
              </a:defRPr>
            </a:pPr>
            <a:r>
              <a:rPr sz="1650" b="1">
                <a:solidFill>
                  <a:srgbClr val="15222A"/>
                </a:solidFill>
                <a:latin typeface="Helvetica Neue"/>
                <a:ea typeface="Helvetica Neue"/>
                <a:cs typeface="Helvetica Neue"/>
              </a:rPr>
              <a:t>Trial by fire: a judge can improvise the other side of the call. The authority boundary remains the same.</a:t>
            </a:r>
          </a:p>
        </p:txBody>
      </p:sp>
    </p:spTree>
    <p:extLst>
      <p:ext uri="{BB962C8B-B14F-4D97-AF65-F5344CB8AC3E}">
        <p14:creationId xmlns:p14="http://schemas.microsoft.com/office/powerpoint/2010/main" val="11893818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lose-label">
            <a:extLst xmlns:a="http://schemas.openxmlformats.org/drawingml/2006/main">
              <a:ext uri="{FF2B5EF4-FFF2-40B4-BE49-F238E27FC236}">
                <a16:creationId xmlns:a16="http://schemas.microsoft.com/office/drawing/2014/main" id="{51A13277-276A-422E-84EC-E8FD848CBA29}"/>
              </a:ext>
            </a:extLst>
          </p:cNvPr>
          <p:cNvSpPr>
            <a:spLocks xmlns:a="http://schemas.openxmlformats.org/drawingml/2006/main" noGrp="1"/>
          </p:cNvSpPr>
          <p:nvPr/>
        </p:nvSpPr>
        <p:spPr>
          <a:xfrm xmlns:a="http://schemas.openxmlformats.org/drawingml/2006/main">
            <a:off x="495300" y="4953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B76E31"/>
                </a:solidFill>
                <a:latin typeface="Helvetica Neue"/>
                <a:ea typeface="Helvetica Neue"/>
                <a:cs typeface="Helvetica Neue"/>
              </a:defRPr>
            </a:pPr>
            <a:r>
              <a:rPr sz="1275" b="1">
                <a:solidFill>
                  <a:srgbClr val="B76E31"/>
                </a:solidFill>
                <a:latin typeface="Helvetica Neue"/>
                <a:ea typeface="Helvetica Neue"/>
                <a:cs typeface="Helvetica Neue"/>
              </a:rPr>
              <a:t>TANGO · THE AGENT ON THE LINE</a:t>
            </a:r>
          </a:p>
        </p:txBody>
      </p:sp>
      <p:sp>
        <p:nvSpPr>
          <p:cNvPr id="2" name="close-title">
            <a:extLst xmlns:a="http://schemas.openxmlformats.org/drawingml/2006/main">
              <a:ext uri="{FF2B5EF4-FFF2-40B4-BE49-F238E27FC236}">
                <a16:creationId xmlns:a16="http://schemas.microsoft.com/office/drawing/2014/main" id="{0F183CB4-BEC3-483B-BCE7-D400DDF67F50}"/>
              </a:ext>
            </a:extLst>
          </p:cNvPr>
          <p:cNvSpPr>
            <a:spLocks xmlns:a="http://schemas.openxmlformats.org/drawingml/2006/main" noGrp="1"/>
          </p:cNvSpPr>
          <p:nvPr/>
        </p:nvSpPr>
        <p:spPr>
          <a:xfrm xmlns:a="http://schemas.openxmlformats.org/drawingml/2006/main">
            <a:off x="495300" y="1619250"/>
            <a:ext cx="1047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85"/>
          </a:bodyPr>
          <a:lstStyle xmlns:a="http://schemas.openxmlformats.org/drawingml/2006/main"/>
          <a:p xmlns:a="http://schemas.openxmlformats.org/drawingml/2006/main">
            <a:pPr algn="l">
              <a:defRPr sz="4800" b="1">
                <a:solidFill>
                  <a:srgbClr val="15222A"/>
                </a:solidFill>
                <a:latin typeface="Helvetica Neue"/>
                <a:ea typeface="Helvetica Neue"/>
                <a:cs typeface="Helvetica Neue"/>
              </a:defRPr>
            </a:pPr>
            <a:r>
              <a:rPr sz="4800" b="1">
                <a:solidFill>
                  <a:srgbClr val="15222A"/>
                </a:solidFill>
                <a:latin typeface="Helvetica Neue"/>
                <a:ea typeface="Helvetica Neue"/>
                <a:cs typeface="Helvetica Neue"/>
              </a:rPr>
              <a:t>The last mile of logistics is a phone call. Now it has an operating system.</a:t>
            </a:r>
          </a:p>
        </p:txBody>
      </p:sp>
      <p:sp>
        <p:nvSpPr>
          <p:cNvPr id="3" name="close-rule">
            <a:extLst xmlns:a="http://schemas.openxmlformats.org/drawingml/2006/main">
              <a:ext uri="{FF2B5EF4-FFF2-40B4-BE49-F238E27FC236}">
                <a16:creationId xmlns:a16="http://schemas.microsoft.com/office/drawing/2014/main" id="{09B9807E-08F6-4F86-9F97-521FF6384A19}"/>
              </a:ext>
            </a:extLst>
          </p:cNvPr>
          <p:cNvSpPr>
            <a:spLocks xmlns:a="http://schemas.openxmlformats.org/drawingml/2006/main" noGrp="1"/>
          </p:cNvSpPr>
          <p:nvPr/>
        </p:nvSpPr>
        <p:spPr>
          <a:xfrm xmlns:a="http://schemas.openxmlformats.org/drawingml/2006/main">
            <a:off x="495300" y="3905250"/>
            <a:ext cx="5238750" cy="0"/>
          </a:xfrm>
          <a:prstGeom xmlns:a="http://schemas.openxmlformats.org/drawingml/2006/main" prst="line">
            <a:avLst/>
          </a:prstGeom>
          <a:noFill xmlns:a="http://schemas.openxmlformats.org/drawingml/2006/main"/>
          <a:ln xmlns:a="http://schemas.openxmlformats.org/drawingml/2006/main" w="38100">
            <a:solidFill>
              <a:srgbClr val="3D8DFF"/>
            </a:solidFill>
            <a:prstDash val="solid"/>
          </a:ln>
        </p:spPr>
      </p:sp>
      <p:sp>
        <p:nvSpPr>
          <p:cNvPr id="4" name="close-verb-0">
            <a:extLst xmlns:a="http://schemas.openxmlformats.org/drawingml/2006/main">
              <a:ext uri="{FF2B5EF4-FFF2-40B4-BE49-F238E27FC236}">
                <a16:creationId xmlns:a16="http://schemas.microsoft.com/office/drawing/2014/main" id="{88C66F39-8B45-481F-BDC7-F3086C62A61C}"/>
              </a:ext>
            </a:extLst>
          </p:cNvPr>
          <p:cNvSpPr>
            <a:spLocks xmlns:a="http://schemas.openxmlformats.org/drawingml/2006/main" noGrp="1"/>
          </p:cNvSpPr>
          <p:nvPr/>
        </p:nvSpPr>
        <p:spPr>
          <a:xfrm xmlns:a="http://schemas.openxmlformats.org/drawingml/2006/main">
            <a:off x="495300" y="44291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B76E31"/>
                </a:solidFill>
                <a:latin typeface="Helvetica Neue"/>
                <a:ea typeface="Helvetica Neue"/>
                <a:cs typeface="Helvetica Neue"/>
              </a:defRPr>
            </a:pPr>
            <a:r>
              <a:rPr sz="1275" b="1">
                <a:solidFill>
                  <a:srgbClr val="B76E31"/>
                </a:solidFill>
                <a:latin typeface="Helvetica Neue"/>
                <a:ea typeface="Helvetica Neue"/>
                <a:cs typeface="Helvetica Neue"/>
              </a:rPr>
              <a:t>ACTS</a:t>
            </a:r>
          </a:p>
        </p:txBody>
      </p:sp>
      <p:sp>
        <p:nvSpPr>
          <p:cNvPr id="5" name="close-body-0">
            <a:extLst xmlns:a="http://schemas.openxmlformats.org/drawingml/2006/main">
              <a:ext uri="{FF2B5EF4-FFF2-40B4-BE49-F238E27FC236}">
                <a16:creationId xmlns:a16="http://schemas.microsoft.com/office/drawing/2014/main" id="{860110FB-B894-4BB1-B6FE-D7340FB4A271}"/>
              </a:ext>
            </a:extLst>
          </p:cNvPr>
          <p:cNvSpPr>
            <a:spLocks xmlns:a="http://schemas.openxmlformats.org/drawingml/2006/main" noGrp="1"/>
          </p:cNvSpPr>
          <p:nvPr/>
        </p:nvSpPr>
        <p:spPr>
          <a:xfrm xmlns:a="http://schemas.openxmlformats.org/drawingml/2006/main">
            <a:off x="495300" y="4857750"/>
            <a:ext cx="320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15222A"/>
                </a:solidFill>
                <a:latin typeface="Helvetica Neue"/>
                <a:ea typeface="Helvetica Neue"/>
                <a:cs typeface="Helvetica Neue"/>
              </a:defRPr>
            </a:pPr>
            <a:r>
              <a:rPr sz="2025" b="1">
                <a:solidFill>
                  <a:srgbClr val="15222A"/>
                </a:solidFill>
                <a:latin typeface="Helvetica Neue"/>
                <a:ea typeface="Helvetica Neue"/>
                <a:cs typeface="Helvetica Neue"/>
              </a:rPr>
              <a:t>inside a human mandate</a:t>
            </a:r>
          </a:p>
        </p:txBody>
      </p:sp>
      <p:sp>
        <p:nvSpPr>
          <p:cNvPr id="6" name="close-verb-1">
            <a:extLst xmlns:a="http://schemas.openxmlformats.org/drawingml/2006/main">
              <a:ext uri="{FF2B5EF4-FFF2-40B4-BE49-F238E27FC236}">
                <a16:creationId xmlns:a16="http://schemas.microsoft.com/office/drawing/2014/main" id="{2BD02177-3406-454E-8295-A4C92C2E85E1}"/>
              </a:ext>
            </a:extLst>
          </p:cNvPr>
          <p:cNvSpPr>
            <a:spLocks xmlns:a="http://schemas.openxmlformats.org/drawingml/2006/main" noGrp="1"/>
          </p:cNvSpPr>
          <p:nvPr/>
        </p:nvSpPr>
        <p:spPr>
          <a:xfrm xmlns:a="http://schemas.openxmlformats.org/drawingml/2006/main">
            <a:off x="4210050" y="44291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B76E31"/>
                </a:solidFill>
                <a:latin typeface="Helvetica Neue"/>
                <a:ea typeface="Helvetica Neue"/>
                <a:cs typeface="Helvetica Neue"/>
              </a:defRPr>
            </a:pPr>
            <a:r>
              <a:rPr sz="1275" b="1">
                <a:solidFill>
                  <a:srgbClr val="B76E31"/>
                </a:solidFill>
                <a:latin typeface="Helvetica Neue"/>
                <a:ea typeface="Helvetica Neue"/>
                <a:cs typeface="Helvetica Neue"/>
              </a:rPr>
              <a:t>RECORDS</a:t>
            </a:r>
          </a:p>
        </p:txBody>
      </p:sp>
      <p:sp>
        <p:nvSpPr>
          <p:cNvPr id="7" name="close-body-1">
            <a:extLst xmlns:a="http://schemas.openxmlformats.org/drawingml/2006/main">
              <a:ext uri="{FF2B5EF4-FFF2-40B4-BE49-F238E27FC236}">
                <a16:creationId xmlns:a16="http://schemas.microsoft.com/office/drawing/2014/main" id="{EC1A821B-ED04-47EC-80C3-25B2DFA0675A}"/>
              </a:ext>
            </a:extLst>
          </p:cNvPr>
          <p:cNvSpPr>
            <a:spLocks xmlns:a="http://schemas.openxmlformats.org/drawingml/2006/main" noGrp="1"/>
          </p:cNvSpPr>
          <p:nvPr/>
        </p:nvSpPr>
        <p:spPr>
          <a:xfrm xmlns:a="http://schemas.openxmlformats.org/drawingml/2006/main">
            <a:off x="4210050" y="4857750"/>
            <a:ext cx="320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31"/>
          </a:bodyPr>
          <a:lstStyle xmlns:a="http://schemas.openxmlformats.org/drawingml/2006/main"/>
          <a:p xmlns:a="http://schemas.openxmlformats.org/drawingml/2006/main">
            <a:pPr algn="l">
              <a:defRPr sz="2025" b="1">
                <a:solidFill>
                  <a:srgbClr val="15222A"/>
                </a:solidFill>
                <a:latin typeface="Helvetica Neue"/>
                <a:ea typeface="Helvetica Neue"/>
                <a:cs typeface="Helvetica Neue"/>
              </a:defRPr>
            </a:pPr>
            <a:r>
              <a:rPr sz="2025" b="1">
                <a:solidFill>
                  <a:srgbClr val="15222A"/>
                </a:solidFill>
                <a:latin typeface="Helvetica Neue"/>
                <a:ea typeface="Helvetica Neue"/>
                <a:cs typeface="Helvetica Neue"/>
              </a:rPr>
              <a:t>what actually became true</a:t>
            </a:r>
          </a:p>
        </p:txBody>
      </p:sp>
      <p:sp>
        <p:nvSpPr>
          <p:cNvPr id="8" name="close-verb-2">
            <a:extLst xmlns:a="http://schemas.openxmlformats.org/drawingml/2006/main">
              <a:ext uri="{FF2B5EF4-FFF2-40B4-BE49-F238E27FC236}">
                <a16:creationId xmlns:a16="http://schemas.microsoft.com/office/drawing/2014/main" id="{B564A6DD-2CCD-41A8-9001-5705B9DDBCEC}"/>
              </a:ext>
            </a:extLst>
          </p:cNvPr>
          <p:cNvSpPr>
            <a:spLocks xmlns:a="http://schemas.openxmlformats.org/drawingml/2006/main" noGrp="1"/>
          </p:cNvSpPr>
          <p:nvPr/>
        </p:nvSpPr>
        <p:spPr>
          <a:xfrm xmlns:a="http://schemas.openxmlformats.org/drawingml/2006/main">
            <a:off x="7924800" y="44291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B76E31"/>
                </a:solidFill>
                <a:latin typeface="Helvetica Neue"/>
                <a:ea typeface="Helvetica Neue"/>
                <a:cs typeface="Helvetica Neue"/>
              </a:defRPr>
            </a:pPr>
            <a:r>
              <a:rPr sz="1275" b="1">
                <a:solidFill>
                  <a:srgbClr val="B76E31"/>
                </a:solidFill>
                <a:latin typeface="Helvetica Neue"/>
                <a:ea typeface="Helvetica Neue"/>
                <a:cs typeface="Helvetica Neue"/>
              </a:rPr>
              <a:t>ESCALATES</a:t>
            </a:r>
          </a:p>
        </p:txBody>
      </p:sp>
      <p:sp>
        <p:nvSpPr>
          <p:cNvPr id="9" name="close-body-2">
            <a:extLst xmlns:a="http://schemas.openxmlformats.org/drawingml/2006/main">
              <a:ext uri="{FF2B5EF4-FFF2-40B4-BE49-F238E27FC236}">
                <a16:creationId xmlns:a16="http://schemas.microsoft.com/office/drawing/2014/main" id="{FE0E9133-9555-4BE5-9EA5-F3F30FB9D635}"/>
              </a:ext>
            </a:extLst>
          </p:cNvPr>
          <p:cNvSpPr>
            <a:spLocks xmlns:a="http://schemas.openxmlformats.org/drawingml/2006/main" noGrp="1"/>
          </p:cNvSpPr>
          <p:nvPr/>
        </p:nvSpPr>
        <p:spPr>
          <a:xfrm xmlns:a="http://schemas.openxmlformats.org/drawingml/2006/main">
            <a:off x="7924800" y="4857750"/>
            <a:ext cx="320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2346"/>
          </a:bodyPr>
          <a:lstStyle xmlns:a="http://schemas.openxmlformats.org/drawingml/2006/main"/>
          <a:p xmlns:a="http://schemas.openxmlformats.org/drawingml/2006/main">
            <a:pPr algn="l">
              <a:defRPr sz="2025" b="1">
                <a:solidFill>
                  <a:srgbClr val="15222A"/>
                </a:solidFill>
                <a:latin typeface="Helvetica Neue"/>
                <a:ea typeface="Helvetica Neue"/>
                <a:cs typeface="Helvetica Neue"/>
              </a:defRPr>
            </a:pPr>
            <a:r>
              <a:rPr sz="2025" b="1">
                <a:solidFill>
                  <a:srgbClr val="15222A"/>
                </a:solidFill>
                <a:latin typeface="Helvetica Neue"/>
                <a:ea typeface="Helvetica Neue"/>
                <a:cs typeface="Helvetica Neue"/>
              </a:rPr>
              <a:t>before an exception becomes a promise</a:t>
            </a:r>
          </a:p>
        </p:txBody>
      </p:sp>
      <p:sp>
        <p:nvSpPr>
          <p:cNvPr id="10" name="close-subtitle">
            <a:extLst xmlns:a="http://schemas.openxmlformats.org/drawingml/2006/main">
              <a:ext uri="{FF2B5EF4-FFF2-40B4-BE49-F238E27FC236}">
                <a16:creationId xmlns:a16="http://schemas.microsoft.com/office/drawing/2014/main" id="{B7210B9E-A096-40AB-AE88-F7270676FFD8}"/>
              </a:ext>
            </a:extLst>
          </p:cNvPr>
          <p:cNvSpPr>
            <a:spLocks xmlns:a="http://schemas.openxmlformats.org/drawingml/2006/main" noGrp="1"/>
          </p:cNvSpPr>
          <p:nvPr/>
        </p:nvSpPr>
        <p:spPr>
          <a:xfrm xmlns:a="http://schemas.openxmlformats.org/drawingml/2006/main">
            <a:off x="495300" y="60674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defRPr sz="1500" b="0">
                <a:solidFill>
                  <a:srgbClr val="486A76"/>
                </a:solidFill>
                <a:latin typeface="Helvetica Neue"/>
                <a:ea typeface="Helvetica Neue"/>
                <a:cs typeface="Helvetica Neue"/>
              </a:defRPr>
            </a:pPr>
            <a:r>
              <a:rPr sz="1500" b="0">
                <a:solidFill>
                  <a:srgbClr val="486A76"/>
                </a:solidFill>
                <a:latin typeface="Helvetica Neue"/>
                <a:ea typeface="Helvetica Neue"/>
                <a:cs typeface="Helvetica Neue"/>
              </a:rPr>
              <a:t>The result is not a transcript. It is a verified operation the team can act on.</a:t>
            </a:r>
          </a:p>
        </p:txBody>
      </p:sp>
    </p:spTree>
    <p:extLst>
      <p:ext uri="{BB962C8B-B14F-4D97-AF65-F5344CB8AC3E}">
        <p14:creationId xmlns:p14="http://schemas.microsoft.com/office/powerpoint/2010/main" val="650714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2026-08-30T08:49:19.2990000Z</dcterms:created>
  <dcterms:modified xsi:type="dcterms:W3CDTF">2026-08-30T08:49:19.2990000Z</dcterms:modified>
</coreProperties>
</file>